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8"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73"/>
    <p:restoredTop sz="94664"/>
  </p:normalViewPr>
  <p:slideViewPr>
    <p:cSldViewPr snapToGrid="0" snapToObjects="1">
      <p:cViewPr varScale="1">
        <p:scale>
          <a:sx n="18" d="100"/>
          <a:sy n="18" d="100"/>
        </p:scale>
        <p:origin x="1507" y="163"/>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1FB4AB-9BC1-CE45-86A6-BBCC9E970F2D}"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504D03-15AE-0741-960A-6ECF5B5D3BCA}" type="slidenum">
              <a:rPr lang="en-US" smtClean="0"/>
              <a:t>‹#›</a:t>
            </a:fld>
            <a:endParaRPr lang="en-US"/>
          </a:p>
        </p:txBody>
      </p:sp>
    </p:spTree>
    <p:extLst>
      <p:ext uri="{BB962C8B-B14F-4D97-AF65-F5344CB8AC3E}">
        <p14:creationId xmlns:p14="http://schemas.microsoft.com/office/powerpoint/2010/main" val="4011886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1FB4AB-9BC1-CE45-86A6-BBCC9E970F2D}"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504D03-15AE-0741-960A-6ECF5B5D3BCA}" type="slidenum">
              <a:rPr lang="en-US" smtClean="0"/>
              <a:t>‹#›</a:t>
            </a:fld>
            <a:endParaRPr lang="en-US"/>
          </a:p>
        </p:txBody>
      </p:sp>
    </p:spTree>
    <p:extLst>
      <p:ext uri="{BB962C8B-B14F-4D97-AF65-F5344CB8AC3E}">
        <p14:creationId xmlns:p14="http://schemas.microsoft.com/office/powerpoint/2010/main" val="462555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1FB4AB-9BC1-CE45-86A6-BBCC9E970F2D}"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504D03-15AE-0741-960A-6ECF5B5D3BCA}" type="slidenum">
              <a:rPr lang="en-US" smtClean="0"/>
              <a:t>‹#›</a:t>
            </a:fld>
            <a:endParaRPr lang="en-US"/>
          </a:p>
        </p:txBody>
      </p:sp>
    </p:spTree>
    <p:extLst>
      <p:ext uri="{BB962C8B-B14F-4D97-AF65-F5344CB8AC3E}">
        <p14:creationId xmlns:p14="http://schemas.microsoft.com/office/powerpoint/2010/main" val="248106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1FB4AB-9BC1-CE45-86A6-BBCC9E970F2D}"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504D03-15AE-0741-960A-6ECF5B5D3BCA}" type="slidenum">
              <a:rPr lang="en-US" smtClean="0"/>
              <a:t>‹#›</a:t>
            </a:fld>
            <a:endParaRPr lang="en-US"/>
          </a:p>
        </p:txBody>
      </p:sp>
    </p:spTree>
    <p:extLst>
      <p:ext uri="{BB962C8B-B14F-4D97-AF65-F5344CB8AC3E}">
        <p14:creationId xmlns:p14="http://schemas.microsoft.com/office/powerpoint/2010/main" val="336881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1FB4AB-9BC1-CE45-86A6-BBCC9E970F2D}"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504D03-15AE-0741-960A-6ECF5B5D3BCA}" type="slidenum">
              <a:rPr lang="en-US" smtClean="0"/>
              <a:t>‹#›</a:t>
            </a:fld>
            <a:endParaRPr lang="en-US"/>
          </a:p>
        </p:txBody>
      </p:sp>
    </p:spTree>
    <p:extLst>
      <p:ext uri="{BB962C8B-B14F-4D97-AF65-F5344CB8AC3E}">
        <p14:creationId xmlns:p14="http://schemas.microsoft.com/office/powerpoint/2010/main" val="432632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1FB4AB-9BC1-CE45-86A6-BBCC9E970F2D}" type="datetimeFigureOut">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504D03-15AE-0741-960A-6ECF5B5D3BCA}" type="slidenum">
              <a:rPr lang="en-US" smtClean="0"/>
              <a:t>‹#›</a:t>
            </a:fld>
            <a:endParaRPr lang="en-US"/>
          </a:p>
        </p:txBody>
      </p:sp>
    </p:spTree>
    <p:extLst>
      <p:ext uri="{BB962C8B-B14F-4D97-AF65-F5344CB8AC3E}">
        <p14:creationId xmlns:p14="http://schemas.microsoft.com/office/powerpoint/2010/main" val="220493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1FB4AB-9BC1-CE45-86A6-BBCC9E970F2D}"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504D03-15AE-0741-960A-6ECF5B5D3BCA}" type="slidenum">
              <a:rPr lang="en-US" smtClean="0"/>
              <a:t>‹#›</a:t>
            </a:fld>
            <a:endParaRPr lang="en-US"/>
          </a:p>
        </p:txBody>
      </p:sp>
    </p:spTree>
    <p:extLst>
      <p:ext uri="{BB962C8B-B14F-4D97-AF65-F5344CB8AC3E}">
        <p14:creationId xmlns:p14="http://schemas.microsoft.com/office/powerpoint/2010/main" val="582015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FC1FB4AB-9BC1-CE45-86A6-BBCC9E970F2D}"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504D03-15AE-0741-960A-6ECF5B5D3BCA}" type="slidenum">
              <a:rPr lang="en-US" smtClean="0"/>
              <a:t>‹#›</a:t>
            </a:fld>
            <a:endParaRPr lang="en-US"/>
          </a:p>
        </p:txBody>
      </p:sp>
    </p:spTree>
    <p:extLst>
      <p:ext uri="{BB962C8B-B14F-4D97-AF65-F5344CB8AC3E}">
        <p14:creationId xmlns:p14="http://schemas.microsoft.com/office/powerpoint/2010/main" val="90504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FC1FB4AB-9BC1-CE45-86A6-BBCC9E970F2D}"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504D03-15AE-0741-960A-6ECF5B5D3BCA}" type="slidenum">
              <a:rPr lang="en-US" smtClean="0"/>
              <a:t>‹#›</a:t>
            </a:fld>
            <a:endParaRPr lang="en-US"/>
          </a:p>
        </p:txBody>
      </p:sp>
    </p:spTree>
    <p:extLst>
      <p:ext uri="{BB962C8B-B14F-4D97-AF65-F5344CB8AC3E}">
        <p14:creationId xmlns:p14="http://schemas.microsoft.com/office/powerpoint/2010/main" val="2218432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1FB4AB-9BC1-CE45-86A6-BBCC9E970F2D}"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504D03-15AE-0741-960A-6ECF5B5D3BCA}" type="slidenum">
              <a:rPr lang="en-US" smtClean="0"/>
              <a:t>‹#›</a:t>
            </a:fld>
            <a:endParaRPr lang="en-US"/>
          </a:p>
        </p:txBody>
      </p:sp>
    </p:spTree>
    <p:extLst>
      <p:ext uri="{BB962C8B-B14F-4D97-AF65-F5344CB8AC3E}">
        <p14:creationId xmlns:p14="http://schemas.microsoft.com/office/powerpoint/2010/main" val="3374014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1FB4AB-9BC1-CE45-86A6-BBCC9E970F2D}"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504D03-15AE-0741-960A-6ECF5B5D3BCA}" type="slidenum">
              <a:rPr lang="en-US" smtClean="0"/>
              <a:t>‹#›</a:t>
            </a:fld>
            <a:endParaRPr lang="en-US"/>
          </a:p>
        </p:txBody>
      </p:sp>
    </p:spTree>
    <p:extLst>
      <p:ext uri="{BB962C8B-B14F-4D97-AF65-F5344CB8AC3E}">
        <p14:creationId xmlns:p14="http://schemas.microsoft.com/office/powerpoint/2010/main" val="2563408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FC1FB4AB-9BC1-CE45-86A6-BBCC9E970F2D}" type="datetimeFigureOut">
              <a:rPr lang="en-US" smtClean="0"/>
              <a:t>4/10/2026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F3504D03-15AE-0741-960A-6ECF5B5D3BCA}" type="slidenum">
              <a:rPr lang="en-US" smtClean="0"/>
              <a:t>‹#›</a:t>
            </a:fld>
            <a:endParaRPr lang="en-US"/>
          </a:p>
        </p:txBody>
      </p:sp>
    </p:spTree>
    <p:extLst>
      <p:ext uri="{BB962C8B-B14F-4D97-AF65-F5344CB8AC3E}">
        <p14:creationId xmlns:p14="http://schemas.microsoft.com/office/powerpoint/2010/main" val="19581410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xgboost.readthedocs.io/" TargetMode="Externa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p:cNvSpPr txBox="1"/>
          <p:nvPr/>
        </p:nvSpPr>
        <p:spPr>
          <a:xfrm>
            <a:off x="29324604" y="3998131"/>
            <a:ext cx="14101483" cy="27710150"/>
          </a:xfrm>
          <a:prstGeom prst="rect">
            <a:avLst/>
          </a:prstGeom>
          <a:no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miter lim="800000"/>
          </a:ln>
        </p:spPr>
        <p:txBody>
          <a:bodyPr wrap="square" rtlCol="0">
            <a:spAutoFit/>
          </a:bodyPr>
          <a:lstStyle/>
          <a:p>
            <a:pPr marR="120589">
              <a:lnSpc>
                <a:spcPts val="4000"/>
              </a:lnSpc>
            </a:pPr>
            <a:endParaRPr lang="en-US" sz="4000" b="1" cap="all" spc="25" dirty="0">
              <a:solidFill>
                <a:srgbClr val="0070C0"/>
              </a:solidFill>
              <a:latin typeface="Arial"/>
              <a:cs typeface="Arial"/>
            </a:endParaRPr>
          </a:p>
          <a:p>
            <a:pPr marR="120589">
              <a:lnSpc>
                <a:spcPts val="4000"/>
              </a:lnSpc>
            </a:pPr>
            <a:r>
              <a:rPr lang="en-US" sz="4000" b="1" cap="all" spc="25" dirty="0">
                <a:solidFill>
                  <a:srgbClr val="0070C0"/>
                </a:solidFill>
                <a:latin typeface="Arial"/>
                <a:cs typeface="Arial"/>
              </a:rPr>
              <a:t>Results and discussion</a:t>
            </a:r>
            <a:endParaRPr lang="en-US" sz="4000" b="1" cap="all" dirty="0">
              <a:solidFill>
                <a:srgbClr val="0070C0"/>
              </a:solidFill>
              <a:latin typeface="Arial"/>
              <a:cs typeface="Arial"/>
            </a:endParaRPr>
          </a:p>
          <a:p>
            <a:r>
              <a:rPr lang="en-US" sz="3600" dirty="0"/>
              <a:t>The system was trained using multiple machine learning models and evaluated using performance metrics. Ensemble-based models demonstrated improved prediction accuracy. The dashboard provides a clear visualization of predicted risk levels for decision-making.</a:t>
            </a:r>
          </a:p>
          <a:p>
            <a:r>
              <a:rPr lang="en-US" sz="3600" dirty="0"/>
              <a:t>• Multiple model performance comparison</a:t>
            </a:r>
            <a:br>
              <a:rPr lang="en-US" sz="3600" dirty="0"/>
            </a:br>
            <a:r>
              <a:rPr lang="en-US" sz="3600" dirty="0"/>
              <a:t>• Improved prediction accuracy</a:t>
            </a:r>
            <a:br>
              <a:rPr lang="en-US" sz="3600" dirty="0"/>
            </a:br>
            <a:r>
              <a:rPr lang="en-US" sz="3600" dirty="0"/>
              <a:t>• Effective risk classification</a:t>
            </a:r>
            <a:br>
              <a:rPr lang="en-US" sz="3600" dirty="0"/>
            </a:br>
            <a:r>
              <a:rPr lang="en-US" sz="3600" dirty="0"/>
              <a:t>• Visual representation of prediction results</a:t>
            </a: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endParaRPr lang="en-US" sz="3600" b="1" cap="all" spc="25" dirty="0">
              <a:solidFill>
                <a:srgbClr val="0070C0"/>
              </a:solidFill>
              <a:latin typeface="Arial"/>
              <a:cs typeface="Arial"/>
            </a:endParaRPr>
          </a:p>
          <a:p>
            <a:r>
              <a:rPr lang="en-US" sz="3600" b="1" cap="all" spc="25" dirty="0">
                <a:solidFill>
                  <a:srgbClr val="0070C0"/>
                </a:solidFill>
                <a:latin typeface="Arial"/>
                <a:cs typeface="Arial"/>
              </a:rPr>
              <a:t>Conclusion</a:t>
            </a:r>
          </a:p>
          <a:p>
            <a:endParaRPr lang="en-US" sz="3600" b="1" cap="all" spc="25" dirty="0">
              <a:solidFill>
                <a:srgbClr val="0070C0"/>
              </a:solidFill>
              <a:latin typeface="Arial"/>
              <a:cs typeface="Arial"/>
            </a:endParaRPr>
          </a:p>
          <a:p>
            <a:r>
              <a:rPr lang="en-US" sz="3600" dirty="0"/>
              <a:t>Accident Zero AI provides a data-driven approach for predicting accident risks in construction environments. The use of machine learning models enables proactive identification of hazardous conditions. The system enhances safety planning and supports data-driven decision-making.</a:t>
            </a:r>
          </a:p>
          <a:p>
            <a:r>
              <a:rPr lang="en-US" sz="3600" dirty="0"/>
              <a:t>• Predicts accident risks using structured data</a:t>
            </a:r>
            <a:br>
              <a:rPr lang="en-US" sz="3600" dirty="0"/>
            </a:br>
            <a:r>
              <a:rPr lang="en-US" sz="3600" dirty="0"/>
              <a:t>• Enhances proactive safety management</a:t>
            </a:r>
            <a:br>
              <a:rPr lang="en-US" sz="3600" dirty="0"/>
            </a:br>
            <a:r>
              <a:rPr lang="en-US" sz="3600" dirty="0"/>
              <a:t>• Reduces manual monitoring effort</a:t>
            </a:r>
            <a:br>
              <a:rPr lang="en-US" sz="3600" dirty="0"/>
            </a:br>
            <a:r>
              <a:rPr lang="en-US" sz="3600" dirty="0"/>
              <a:t>• Supports zero-accident objective</a:t>
            </a:r>
          </a:p>
          <a:p>
            <a:endParaRPr lang="en-US" sz="3600" b="1" cap="all" spc="25" dirty="0">
              <a:solidFill>
                <a:srgbClr val="0070C0"/>
              </a:solidFill>
              <a:latin typeface="Arial"/>
              <a:cs typeface="Arial"/>
            </a:endParaRPr>
          </a:p>
          <a:p>
            <a:r>
              <a:rPr lang="en-US" sz="3600" b="1" cap="all" spc="25" dirty="0">
                <a:solidFill>
                  <a:srgbClr val="0070C0"/>
                </a:solidFill>
                <a:latin typeface="Arial"/>
                <a:cs typeface="Arial"/>
              </a:rPr>
              <a:t>References </a:t>
            </a:r>
          </a:p>
          <a:p>
            <a:r>
              <a:rPr lang="en-IN" sz="3600" dirty="0"/>
              <a:t>Hands-On Machine Learning with Scikit-Learn, </a:t>
            </a:r>
            <a:r>
              <a:rPr lang="en-IN" sz="3600" dirty="0" err="1"/>
              <a:t>Keras</a:t>
            </a:r>
            <a:r>
              <a:rPr lang="en-IN" sz="3600" dirty="0"/>
              <a:t>, and TensorFlow — O’Reilly Media, 2019.</a:t>
            </a:r>
            <a:br>
              <a:rPr lang="en-IN" sz="3600" dirty="0"/>
            </a:br>
            <a:r>
              <a:rPr lang="en-IN" sz="3600" dirty="0"/>
              <a:t>• Pattern Recognition and Machine Learning — Springer, 2006.</a:t>
            </a:r>
            <a:br>
              <a:rPr lang="en-IN" sz="3600" dirty="0"/>
            </a:br>
            <a:r>
              <a:rPr lang="en-IN" sz="3600" dirty="0"/>
              <a:t>• </a:t>
            </a:r>
            <a:r>
              <a:rPr lang="en-IN" sz="3600" dirty="0" err="1"/>
              <a:t>XGBoost</a:t>
            </a:r>
            <a:r>
              <a:rPr lang="en-IN" sz="3600" dirty="0"/>
              <a:t> Documentation — </a:t>
            </a:r>
            <a:r>
              <a:rPr lang="en-IN" sz="3600" dirty="0">
                <a:hlinkClick r:id="rId2"/>
              </a:rPr>
              <a:t>https://xgboost.readthedocs.io</a:t>
            </a:r>
            <a:endParaRPr lang="en-US" sz="3600" b="1" cap="all" spc="25" dirty="0">
              <a:solidFill>
                <a:srgbClr val="0070C0"/>
              </a:solidFill>
              <a:latin typeface="Arial"/>
              <a:cs typeface="Arial"/>
            </a:endParaRPr>
          </a:p>
        </p:txBody>
      </p:sp>
      <p:sp>
        <p:nvSpPr>
          <p:cNvPr id="6" name="object 3">
            <a:extLst>
              <a:ext uri="{FF2B5EF4-FFF2-40B4-BE49-F238E27FC236}">
                <a16:creationId xmlns:a16="http://schemas.microsoft.com/office/drawing/2014/main" id="{E3E3A997-AC34-4F4F-AB70-E535DDD5B7DE}"/>
              </a:ext>
            </a:extLst>
          </p:cNvPr>
          <p:cNvSpPr/>
          <p:nvPr/>
        </p:nvSpPr>
        <p:spPr>
          <a:xfrm>
            <a:off x="0" y="-349622"/>
            <a:ext cx="43891200" cy="3657253"/>
          </a:xfrm>
          <a:custGeom>
            <a:avLst/>
            <a:gdLst/>
            <a:ahLst/>
            <a:cxnLst/>
            <a:rect l="l" t="t" r="r" b="b"/>
            <a:pathLst>
              <a:path w="20104100" h="2233930">
                <a:moveTo>
                  <a:pt x="0" y="2233788"/>
                </a:moveTo>
                <a:lnTo>
                  <a:pt x="20104099" y="2233788"/>
                </a:lnTo>
                <a:lnTo>
                  <a:pt x="20104099" y="0"/>
                </a:lnTo>
                <a:lnTo>
                  <a:pt x="0" y="0"/>
                </a:lnTo>
                <a:lnTo>
                  <a:pt x="0" y="2233788"/>
                </a:lnTo>
                <a:close/>
              </a:path>
            </a:pathLst>
          </a:custGeom>
          <a:solidFill>
            <a:schemeClr val="accent1"/>
          </a:solidFill>
        </p:spPr>
        <p:txBody>
          <a:bodyPr wrap="square" lIns="0" tIns="0" rIns="0" bIns="0" rtlCol="0"/>
          <a:lstStyle/>
          <a:p>
            <a:endParaRPr sz="4825" dirty="0"/>
          </a:p>
        </p:txBody>
      </p:sp>
      <p:sp>
        <p:nvSpPr>
          <p:cNvPr id="7" name="object 4">
            <a:extLst>
              <a:ext uri="{FF2B5EF4-FFF2-40B4-BE49-F238E27FC236}">
                <a16:creationId xmlns:a16="http://schemas.microsoft.com/office/drawing/2014/main" id="{1E7FBB64-4D0D-0A4B-90FA-4E80427AEDDE}"/>
              </a:ext>
            </a:extLst>
          </p:cNvPr>
          <p:cNvSpPr txBox="1">
            <a:spLocks/>
          </p:cNvSpPr>
          <p:nvPr/>
        </p:nvSpPr>
        <p:spPr>
          <a:xfrm>
            <a:off x="9429485" y="126527"/>
            <a:ext cx="32848068" cy="1017141"/>
          </a:xfrm>
          <a:prstGeom prst="rect">
            <a:avLst/>
          </a:prstGeom>
        </p:spPr>
        <p:txBody>
          <a:bodyPr vert="horz" wrap="square" lIns="0" tIns="19752" rIns="0" bIns="0" rtlCol="0" anchor="b">
            <a:spAutoFit/>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pPr marL="20791">
              <a:spcBef>
                <a:spcPts val="156"/>
              </a:spcBef>
              <a:tabLst>
                <a:tab pos="4592769" algn="l"/>
              </a:tabLst>
            </a:pPr>
            <a:r>
              <a:rPr lang="en-US" sz="7200" b="1" cap="all" spc="-8" dirty="0">
                <a:solidFill>
                  <a:schemeClr val="bg1"/>
                </a:solidFill>
                <a:latin typeface="Arial" panose="020B0604020202020204" pitchFamily="34" charset="0"/>
              </a:rPr>
              <a:t>Accident zero AI - </a:t>
            </a:r>
            <a:r>
              <a:rPr lang="sv-SE" sz="7200" b="1" cap="all" spc="-8" dirty="0">
                <a:solidFill>
                  <a:schemeClr val="bg1"/>
                </a:solidFill>
                <a:latin typeface="Arial" panose="020B0604020202020204" pitchFamily="34" charset="0"/>
              </a:rPr>
              <a:t>Intelligent Safety Risk Monitoring System </a:t>
            </a:r>
            <a:endParaRPr lang="en-US" sz="7200" b="1" cap="all" spc="-16" dirty="0">
              <a:solidFill>
                <a:schemeClr val="bg1"/>
              </a:solidFill>
              <a:latin typeface="Arial" panose="020B0604020202020204" pitchFamily="34" charset="0"/>
            </a:endParaRPr>
          </a:p>
        </p:txBody>
      </p:sp>
      <p:sp>
        <p:nvSpPr>
          <p:cNvPr id="9" name="object 6">
            <a:extLst>
              <a:ext uri="{FF2B5EF4-FFF2-40B4-BE49-F238E27FC236}">
                <a16:creationId xmlns:a16="http://schemas.microsoft.com/office/drawing/2014/main" id="{0E51A11A-3A38-D04C-9B83-12833A3C48F8}"/>
              </a:ext>
            </a:extLst>
          </p:cNvPr>
          <p:cNvSpPr txBox="1"/>
          <p:nvPr/>
        </p:nvSpPr>
        <p:spPr>
          <a:xfrm>
            <a:off x="8916948" y="1239476"/>
            <a:ext cx="34824786" cy="2566450"/>
          </a:xfrm>
          <a:prstGeom prst="rect">
            <a:avLst/>
          </a:prstGeom>
        </p:spPr>
        <p:txBody>
          <a:bodyPr vert="horz" wrap="square" lIns="0" tIns="27029" rIns="0" bIns="0" rtlCol="0">
            <a:spAutoFit/>
          </a:bodyPr>
          <a:lstStyle/>
          <a:p>
            <a:pPr marL="20791" algn="ctr">
              <a:spcBef>
                <a:spcPts val="213"/>
              </a:spcBef>
            </a:pPr>
            <a:r>
              <a:rPr lang="en-IN" sz="4000" spc="16" dirty="0">
                <a:solidFill>
                  <a:srgbClr val="FFFFFF"/>
                </a:solidFill>
                <a:latin typeface="Arial"/>
                <a:cs typeface="Arial"/>
              </a:rPr>
              <a:t>Ayush (24BCE1548)  Aarsh Choudary (24BCE1635) Dhruv Mayur Vira (24BCE1664) Nikhil Anand(24BCE1674) Pushkar Santosh Regode (24BCE1691)</a:t>
            </a:r>
          </a:p>
          <a:p>
            <a:pPr marL="20791" algn="ctr">
              <a:spcBef>
                <a:spcPts val="213"/>
              </a:spcBef>
            </a:pPr>
            <a:endParaRPr lang="en-IN" sz="4000" spc="16" dirty="0">
              <a:solidFill>
                <a:srgbClr val="FFFFFF"/>
              </a:solidFill>
              <a:latin typeface="Arial"/>
              <a:cs typeface="Arial"/>
            </a:endParaRPr>
          </a:p>
          <a:p>
            <a:pPr marL="20791" algn="ctr">
              <a:spcBef>
                <a:spcPts val="213"/>
              </a:spcBef>
            </a:pPr>
            <a:endParaRPr lang="en-IN" sz="4000" spc="16" dirty="0">
              <a:solidFill>
                <a:srgbClr val="FFFFFF"/>
              </a:solidFill>
              <a:latin typeface="Arial"/>
              <a:cs typeface="Arial"/>
            </a:endParaRPr>
          </a:p>
          <a:p>
            <a:pPr marL="20791" algn="ctr">
              <a:spcBef>
                <a:spcPts val="213"/>
              </a:spcBef>
            </a:pPr>
            <a:endParaRPr lang="en-IN" sz="4000" spc="16" dirty="0">
              <a:solidFill>
                <a:srgbClr val="FFFFFF"/>
              </a:solidFill>
              <a:latin typeface="Arial"/>
              <a:cs typeface="Arial"/>
            </a:endParaRPr>
          </a:p>
        </p:txBody>
      </p:sp>
      <p:pic>
        <p:nvPicPr>
          <p:cNvPr id="29" name="Picture 28" descr="See the source image"/>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2202"/>
            <a:ext cx="8767482" cy="2963662"/>
          </a:xfrm>
          <a:prstGeom prst="rect">
            <a:avLst/>
          </a:prstGeom>
          <a:noFill/>
          <a:ln>
            <a:noFill/>
          </a:ln>
        </p:spPr>
      </p:pic>
      <p:sp>
        <p:nvSpPr>
          <p:cNvPr id="32" name="object 6">
            <a:extLst>
              <a:ext uri="{FF2B5EF4-FFF2-40B4-BE49-F238E27FC236}">
                <a16:creationId xmlns:a16="http://schemas.microsoft.com/office/drawing/2014/main" id="{0E51A11A-3A38-D04C-9B83-12833A3C48F8}"/>
              </a:ext>
            </a:extLst>
          </p:cNvPr>
          <p:cNvSpPr txBox="1"/>
          <p:nvPr/>
        </p:nvSpPr>
        <p:spPr>
          <a:xfrm>
            <a:off x="14828033" y="1849074"/>
            <a:ext cx="17800475" cy="642846"/>
          </a:xfrm>
          <a:prstGeom prst="rect">
            <a:avLst/>
          </a:prstGeom>
        </p:spPr>
        <p:txBody>
          <a:bodyPr vert="horz" wrap="square" lIns="0" tIns="27029" rIns="0" bIns="0" rtlCol="0">
            <a:spAutoFit/>
          </a:bodyPr>
          <a:lstStyle/>
          <a:p>
            <a:pPr marL="20791" algn="ctr">
              <a:spcBef>
                <a:spcPts val="213"/>
              </a:spcBef>
            </a:pPr>
            <a:r>
              <a:rPr lang="en-US" sz="4000" spc="16" dirty="0">
                <a:solidFill>
                  <a:srgbClr val="FFFFFF"/>
                </a:solidFill>
                <a:latin typeface="Arial"/>
                <a:cs typeface="Arial"/>
              </a:rPr>
              <a:t>Prof. Pattabiraman V</a:t>
            </a:r>
            <a:endParaRPr sz="4000" dirty="0">
              <a:latin typeface="Arial"/>
              <a:cs typeface="Arial"/>
            </a:endParaRPr>
          </a:p>
        </p:txBody>
      </p:sp>
      <p:sp>
        <p:nvSpPr>
          <p:cNvPr id="33" name="object 6">
            <a:extLst>
              <a:ext uri="{FF2B5EF4-FFF2-40B4-BE49-F238E27FC236}">
                <a16:creationId xmlns:a16="http://schemas.microsoft.com/office/drawing/2014/main" id="{0E51A11A-3A38-D04C-9B83-12833A3C48F8}"/>
              </a:ext>
            </a:extLst>
          </p:cNvPr>
          <p:cNvSpPr txBox="1"/>
          <p:nvPr/>
        </p:nvSpPr>
        <p:spPr>
          <a:xfrm>
            <a:off x="14946264" y="2450951"/>
            <a:ext cx="17800475" cy="642846"/>
          </a:xfrm>
          <a:prstGeom prst="rect">
            <a:avLst/>
          </a:prstGeom>
        </p:spPr>
        <p:txBody>
          <a:bodyPr vert="horz" wrap="square" lIns="0" tIns="27029" rIns="0" bIns="0" rtlCol="0">
            <a:spAutoFit/>
          </a:bodyPr>
          <a:lstStyle/>
          <a:p>
            <a:pPr marL="20791" algn="ctr">
              <a:spcBef>
                <a:spcPts val="213"/>
              </a:spcBef>
            </a:pPr>
            <a:r>
              <a:rPr lang="en-US" sz="4000" spc="16" dirty="0">
                <a:solidFill>
                  <a:srgbClr val="FFFFFF"/>
                </a:solidFill>
                <a:latin typeface="Arial"/>
                <a:cs typeface="Arial"/>
              </a:rPr>
              <a:t>School of Computer Science and Engineering</a:t>
            </a:r>
            <a:endParaRPr sz="4000" dirty="0">
              <a:latin typeface="Arial"/>
              <a:cs typeface="Arial"/>
            </a:endParaRPr>
          </a:p>
        </p:txBody>
      </p:sp>
      <p:sp>
        <p:nvSpPr>
          <p:cNvPr id="31" name="TextBox 30"/>
          <p:cNvSpPr txBox="1"/>
          <p:nvPr/>
        </p:nvSpPr>
        <p:spPr>
          <a:xfrm>
            <a:off x="569661" y="3543973"/>
            <a:ext cx="13996934" cy="28761656"/>
          </a:xfrm>
          <a:prstGeom prst="rect">
            <a:avLst/>
          </a:prstGeom>
          <a:no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miter lim="800000"/>
          </a:ln>
        </p:spPr>
        <p:txBody>
          <a:bodyPr wrap="square" rtlCol="0">
            <a:spAutoFit/>
          </a:bodyPr>
          <a:lstStyle/>
          <a:p>
            <a:pPr marR="120589">
              <a:lnSpc>
                <a:spcPts val="4000"/>
              </a:lnSpc>
            </a:pPr>
            <a:endParaRPr lang="en-US" sz="4000" b="1" cap="all" spc="25" dirty="0">
              <a:solidFill>
                <a:srgbClr val="0070C0"/>
              </a:solidFill>
              <a:latin typeface="Arial"/>
              <a:cs typeface="Arial"/>
            </a:endParaRPr>
          </a:p>
          <a:p>
            <a:pPr marR="120589">
              <a:lnSpc>
                <a:spcPts val="4000"/>
              </a:lnSpc>
            </a:pPr>
            <a:r>
              <a:rPr lang="en-US" sz="4000" b="1" cap="all" spc="25" dirty="0">
                <a:solidFill>
                  <a:srgbClr val="0070C0"/>
                </a:solidFill>
                <a:latin typeface="Arial"/>
                <a:cs typeface="Arial"/>
              </a:rPr>
              <a:t>INTRODUCTION</a:t>
            </a:r>
            <a:endParaRPr lang="en-US" sz="4000" b="1" cap="all" dirty="0">
              <a:solidFill>
                <a:srgbClr val="0070C0"/>
              </a:solidFill>
              <a:latin typeface="Arial"/>
              <a:cs typeface="Arial"/>
            </a:endParaRPr>
          </a:p>
          <a:p>
            <a:pPr marR="493790" algn="just">
              <a:lnSpc>
                <a:spcPct val="150000"/>
              </a:lnSpc>
              <a:spcBef>
                <a:spcPts val="1800"/>
              </a:spcBef>
            </a:pPr>
            <a:r>
              <a:rPr lang="en-US" sz="3600" spc="8" dirty="0">
                <a:solidFill>
                  <a:srgbClr val="231F20"/>
                </a:solidFill>
                <a:latin typeface="Arial" panose="020B0604020202020204" pitchFamily="34" charset="0"/>
                <a:cs typeface="Arial" panose="020B0604020202020204" pitchFamily="34" charset="0"/>
              </a:rPr>
              <a:t>Accident prevention in construction environments requires proactive identification of potential risks using historical safety data. Traditional monitoring approaches rely on manual inspections and reactive decision-making, which may not effectively analyze large datasets. A predictive, data-driven approach enables early identification of hidden risk patterns and improves safety compliance. Accident Zero AI is a machine learning–based accident risk prediction system that analyzes structured safety datasets to estimate risk levels and support decision-making.</a:t>
            </a:r>
          </a:p>
          <a:p>
            <a:pPr marR="493790" algn="just">
              <a:lnSpc>
                <a:spcPct val="150000"/>
              </a:lnSpc>
              <a:spcBef>
                <a:spcPts val="1800"/>
              </a:spcBef>
            </a:pPr>
            <a:r>
              <a:rPr lang="en-US" sz="3600" spc="8" dirty="0">
                <a:solidFill>
                  <a:srgbClr val="231F20"/>
                </a:solidFill>
                <a:latin typeface="Arial" panose="020B0604020202020204" pitchFamily="34" charset="0"/>
                <a:cs typeface="Arial" panose="020B0604020202020204" pitchFamily="34" charset="0"/>
              </a:rPr>
              <a:t>• Predicts accident risk using structured safety data</a:t>
            </a:r>
          </a:p>
          <a:p>
            <a:pPr marR="493790" algn="just">
              <a:lnSpc>
                <a:spcPct val="150000"/>
              </a:lnSpc>
              <a:spcBef>
                <a:spcPts val="1800"/>
              </a:spcBef>
            </a:pPr>
            <a:r>
              <a:rPr lang="en-US" sz="3600" spc="8" dirty="0">
                <a:solidFill>
                  <a:srgbClr val="231F20"/>
                </a:solidFill>
                <a:latin typeface="Arial" panose="020B0604020202020204" pitchFamily="34" charset="0"/>
                <a:cs typeface="Arial" panose="020B0604020202020204" pitchFamily="34" charset="0"/>
              </a:rPr>
              <a:t>•Applies machine learning for proactive safety monitoring</a:t>
            </a:r>
          </a:p>
          <a:p>
            <a:pPr marR="493790" algn="just">
              <a:lnSpc>
                <a:spcPct val="150000"/>
              </a:lnSpc>
              <a:spcBef>
                <a:spcPts val="1800"/>
              </a:spcBef>
            </a:pPr>
            <a:r>
              <a:rPr lang="en-US" sz="3600" spc="8" dirty="0">
                <a:solidFill>
                  <a:srgbClr val="231F20"/>
                </a:solidFill>
                <a:latin typeface="Arial" panose="020B0604020202020204" pitchFamily="34" charset="0"/>
                <a:cs typeface="Arial" panose="020B0604020202020204" pitchFamily="34" charset="0"/>
              </a:rPr>
              <a:t>•Reduces dependency on manual safety inspections</a:t>
            </a:r>
          </a:p>
          <a:p>
            <a:pPr marR="493790">
              <a:lnSpc>
                <a:spcPct val="150000"/>
              </a:lnSpc>
              <a:spcBef>
                <a:spcPts val="1800"/>
              </a:spcBef>
            </a:pPr>
            <a:r>
              <a:rPr lang="en-US" sz="3600" spc="8" dirty="0">
                <a:solidFill>
                  <a:srgbClr val="231F20"/>
                </a:solidFill>
                <a:latin typeface="Arial" panose="020B0604020202020204" pitchFamily="34" charset="0"/>
                <a:cs typeface="Arial" panose="020B0604020202020204" pitchFamily="34" charset="0"/>
              </a:rPr>
              <a:t>•Supports data-driven decision-making in construction environments</a:t>
            </a:r>
            <a:br>
              <a:rPr lang="en-US" sz="3600" spc="8" dirty="0">
                <a:solidFill>
                  <a:srgbClr val="231F20"/>
                </a:solidFill>
                <a:latin typeface="Arial" panose="020B0604020202020204" pitchFamily="34" charset="0"/>
                <a:cs typeface="Arial" panose="020B0604020202020204" pitchFamily="34" charset="0"/>
              </a:rPr>
            </a:br>
            <a:endParaRPr lang="en-US" sz="3600" spc="8" dirty="0">
              <a:solidFill>
                <a:srgbClr val="231F20"/>
              </a:solidFill>
              <a:latin typeface="Arial" panose="020B0604020202020204" pitchFamily="34" charset="0"/>
              <a:cs typeface="Arial" panose="020B0604020202020204" pitchFamily="34" charset="0"/>
            </a:endParaRPr>
          </a:p>
          <a:p>
            <a:r>
              <a:rPr lang="en-US" sz="3600" b="1" cap="all" spc="25" dirty="0">
                <a:solidFill>
                  <a:srgbClr val="0070C0"/>
                </a:solidFill>
                <a:latin typeface="Arial"/>
                <a:cs typeface="Arial"/>
              </a:rPr>
              <a:t>Objectives</a:t>
            </a:r>
          </a:p>
          <a:p>
            <a:r>
              <a:rPr lang="en-US" sz="3600" spc="8" dirty="0">
                <a:solidFill>
                  <a:srgbClr val="231F20"/>
                </a:solidFill>
                <a:latin typeface="Arial" panose="020B0604020202020204" pitchFamily="34" charset="0"/>
                <a:cs typeface="Arial" panose="020B0604020202020204" pitchFamily="34" charset="0"/>
              </a:rPr>
              <a:t>The objective of this project is to develop a data-driven system that predicts accident risks using structured datasets and machine learning techniques.</a:t>
            </a:r>
          </a:p>
          <a:p>
            <a:r>
              <a:rPr lang="en-US" sz="3600" spc="8" dirty="0">
                <a:solidFill>
                  <a:srgbClr val="231F20"/>
                </a:solidFill>
                <a:latin typeface="Arial" panose="020B0604020202020204" pitchFamily="34" charset="0"/>
                <a:cs typeface="Arial" panose="020B0604020202020204" pitchFamily="34" charset="0"/>
              </a:rPr>
              <a:t>• Develop a machine learning–based accident risk prediction system</a:t>
            </a:r>
          </a:p>
          <a:p>
            <a:r>
              <a:rPr lang="en-US" sz="3600" spc="8" dirty="0">
                <a:solidFill>
                  <a:srgbClr val="231F20"/>
                </a:solidFill>
                <a:latin typeface="Arial" panose="020B0604020202020204" pitchFamily="34" charset="0"/>
                <a:cs typeface="Arial" panose="020B0604020202020204" pitchFamily="34" charset="0"/>
              </a:rPr>
              <a:t>• Ingest structured datasets from CSV and Excel formats</a:t>
            </a:r>
          </a:p>
          <a:p>
            <a:r>
              <a:rPr lang="en-US" sz="3600" spc="8" dirty="0">
                <a:solidFill>
                  <a:srgbClr val="231F20"/>
                </a:solidFill>
                <a:latin typeface="Arial" panose="020B0604020202020204" pitchFamily="34" charset="0"/>
                <a:cs typeface="Arial" panose="020B0604020202020204" pitchFamily="34" charset="0"/>
              </a:rPr>
              <a:t>• Perform preprocessing and feature engineering</a:t>
            </a:r>
          </a:p>
          <a:p>
            <a:r>
              <a:rPr lang="en-US" sz="3600" spc="8" dirty="0">
                <a:solidFill>
                  <a:srgbClr val="231F20"/>
                </a:solidFill>
                <a:latin typeface="Arial" panose="020B0604020202020204" pitchFamily="34" charset="0"/>
                <a:cs typeface="Arial" panose="020B0604020202020204" pitchFamily="34" charset="0"/>
              </a:rPr>
              <a:t>• Train and evaluate multiple machine learning models</a:t>
            </a:r>
          </a:p>
          <a:p>
            <a:r>
              <a:rPr lang="en-US" sz="3600" spc="8" dirty="0">
                <a:solidFill>
                  <a:srgbClr val="231F20"/>
                </a:solidFill>
                <a:latin typeface="Arial" panose="020B0604020202020204" pitchFamily="34" charset="0"/>
                <a:cs typeface="Arial" panose="020B0604020202020204" pitchFamily="34" charset="0"/>
              </a:rPr>
              <a:t>• Compare model performance using standard evaluation metrics</a:t>
            </a:r>
          </a:p>
          <a:p>
            <a:endParaRPr lang="en-US" sz="3600" spc="8" dirty="0">
              <a:solidFill>
                <a:srgbClr val="231F20"/>
              </a:solidFill>
              <a:latin typeface="Arial" panose="020B0604020202020204" pitchFamily="34" charset="0"/>
              <a:cs typeface="Arial" panose="020B0604020202020204" pitchFamily="34" charset="0"/>
            </a:endParaRPr>
          </a:p>
          <a:p>
            <a:r>
              <a:rPr lang="en-US" sz="3600" b="1" cap="all" spc="25" dirty="0">
                <a:solidFill>
                  <a:srgbClr val="0070C0"/>
                </a:solidFill>
                <a:latin typeface="Arial"/>
                <a:cs typeface="Arial"/>
              </a:rPr>
              <a:t>SCOPE of the project</a:t>
            </a:r>
          </a:p>
          <a:p>
            <a:pPr algn="just">
              <a:lnSpc>
                <a:spcPct val="150000"/>
              </a:lnSpc>
            </a:pPr>
            <a:r>
              <a:rPr lang="en-US" sz="3600" spc="8" dirty="0">
                <a:solidFill>
                  <a:srgbClr val="231F20"/>
                </a:solidFill>
                <a:latin typeface="Arial" panose="020B0604020202020204" pitchFamily="34" charset="0"/>
                <a:cs typeface="Arial" panose="020B0604020202020204" pitchFamily="34" charset="0"/>
              </a:rPr>
              <a:t>The project focuses on predicting accident risks using structured safety datasets collected from construction environments. The system assists safety managers in identifying high-risk conditions and improving preventive measures</a:t>
            </a:r>
          </a:p>
          <a:p>
            <a:pPr algn="just">
              <a:lnSpc>
                <a:spcPct val="150000"/>
              </a:lnSpc>
            </a:pPr>
            <a:r>
              <a:rPr lang="en-US" sz="3600" spc="8" dirty="0">
                <a:solidFill>
                  <a:srgbClr val="231F20"/>
                </a:solidFill>
                <a:latin typeface="Arial" panose="020B0604020202020204" pitchFamily="34" charset="0"/>
                <a:cs typeface="Arial" panose="020B0604020202020204" pitchFamily="34" charset="0"/>
              </a:rPr>
              <a:t>.• Supports structured dataset analysis</a:t>
            </a:r>
          </a:p>
          <a:p>
            <a:pPr algn="just">
              <a:lnSpc>
                <a:spcPct val="150000"/>
              </a:lnSpc>
            </a:pPr>
            <a:r>
              <a:rPr lang="en-US" sz="3600" spc="8" dirty="0">
                <a:solidFill>
                  <a:srgbClr val="231F20"/>
                </a:solidFill>
                <a:latin typeface="Arial" panose="020B0604020202020204" pitchFamily="34" charset="0"/>
                <a:cs typeface="Arial" panose="020B0604020202020204" pitchFamily="34" charset="0"/>
              </a:rPr>
              <a:t>• Provides accident risk prediction outputs</a:t>
            </a:r>
          </a:p>
          <a:p>
            <a:pPr algn="just">
              <a:lnSpc>
                <a:spcPct val="150000"/>
              </a:lnSpc>
            </a:pPr>
            <a:r>
              <a:rPr lang="en-US" sz="3600" spc="8" dirty="0">
                <a:solidFill>
                  <a:srgbClr val="231F20"/>
                </a:solidFill>
                <a:latin typeface="Arial" panose="020B0604020202020204" pitchFamily="34" charset="0"/>
                <a:cs typeface="Arial" panose="020B0604020202020204" pitchFamily="34" charset="0"/>
              </a:rPr>
              <a:t>• Enhances proactive safety management</a:t>
            </a:r>
          </a:p>
          <a:p>
            <a:pPr algn="just">
              <a:lnSpc>
                <a:spcPct val="150000"/>
              </a:lnSpc>
            </a:pPr>
            <a:r>
              <a:rPr lang="en-US" sz="3600" spc="8" dirty="0">
                <a:solidFill>
                  <a:srgbClr val="231F20"/>
                </a:solidFill>
                <a:latin typeface="Arial" panose="020B0604020202020204" pitchFamily="34" charset="0"/>
                <a:cs typeface="Arial" panose="020B0604020202020204" pitchFamily="34" charset="0"/>
              </a:rPr>
              <a:t>• Reduces manual data analysis effort</a:t>
            </a:r>
            <a:endParaRPr lang="en-US" sz="3600" b="1" cap="all" spc="25" dirty="0">
              <a:solidFill>
                <a:srgbClr val="0070C0"/>
              </a:solidFill>
              <a:latin typeface="Arial"/>
              <a:cs typeface="Arial"/>
            </a:endParaRPr>
          </a:p>
        </p:txBody>
      </p:sp>
      <p:sp>
        <p:nvSpPr>
          <p:cNvPr id="39" name="TextBox 38"/>
          <p:cNvSpPr txBox="1"/>
          <p:nvPr/>
        </p:nvSpPr>
        <p:spPr>
          <a:xfrm>
            <a:off x="14894858" y="4008987"/>
            <a:ext cx="14101483" cy="27289458"/>
          </a:xfrm>
          <a:prstGeom prst="rect">
            <a:avLst/>
          </a:prstGeom>
          <a:no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miter lim="800000"/>
          </a:ln>
        </p:spPr>
        <p:txBody>
          <a:bodyPr wrap="square" rtlCol="0">
            <a:spAutoFit/>
          </a:bodyPr>
          <a:lstStyle/>
          <a:p>
            <a:pPr marR="120589" algn="just">
              <a:lnSpc>
                <a:spcPts val="4000"/>
              </a:lnSpc>
            </a:pPr>
            <a:endParaRPr lang="en-US" sz="4000" b="1" cap="all" spc="25" dirty="0">
              <a:solidFill>
                <a:srgbClr val="0070C0"/>
              </a:solidFill>
              <a:latin typeface="Arial"/>
              <a:cs typeface="Arial"/>
            </a:endParaRPr>
          </a:p>
          <a:p>
            <a:pPr marR="120589" algn="just">
              <a:lnSpc>
                <a:spcPts val="4000"/>
              </a:lnSpc>
            </a:pPr>
            <a:r>
              <a:rPr lang="en-US" sz="4000" b="1" cap="all" spc="25" dirty="0">
                <a:solidFill>
                  <a:srgbClr val="0070C0"/>
                </a:solidFill>
                <a:latin typeface="Arial"/>
                <a:cs typeface="Arial"/>
              </a:rPr>
              <a:t>Methodology</a:t>
            </a:r>
          </a:p>
          <a:p>
            <a:pPr marR="120589" algn="just">
              <a:lnSpc>
                <a:spcPts val="4000"/>
              </a:lnSpc>
            </a:pPr>
            <a:endParaRPr lang="en-US" sz="4000" b="1" cap="all" spc="25" dirty="0">
              <a:solidFill>
                <a:srgbClr val="0070C0"/>
              </a:solidFill>
              <a:latin typeface="Arial"/>
              <a:cs typeface="Arial"/>
            </a:endParaRPr>
          </a:p>
          <a:p>
            <a:pPr>
              <a:buNone/>
            </a:pPr>
            <a:r>
              <a:rPr lang="en-US" sz="3600" b="1" dirty="0"/>
              <a:t>Preprocessing</a:t>
            </a:r>
          </a:p>
          <a:p>
            <a:pPr>
              <a:buNone/>
            </a:pPr>
            <a:r>
              <a:rPr lang="en-US" sz="3600" dirty="0"/>
              <a:t>The dataset is loaded from CSV and Excel files. Data cleaning is performed to handle missing values and inconsistencies. Numerical values are normalized and categorical variables are encoded to prepare the dataset for model training.</a:t>
            </a:r>
          </a:p>
          <a:p>
            <a:pPr>
              <a:buNone/>
            </a:pPr>
            <a:r>
              <a:rPr lang="en-US" sz="3600" dirty="0"/>
              <a:t>• Data cleaning and validation</a:t>
            </a:r>
            <a:br>
              <a:rPr lang="en-US" sz="3600" dirty="0"/>
            </a:br>
            <a:r>
              <a:rPr lang="en-US" sz="3600" dirty="0"/>
              <a:t>• Handling missing values</a:t>
            </a:r>
            <a:br>
              <a:rPr lang="en-US" sz="3600" dirty="0"/>
            </a:br>
            <a:r>
              <a:rPr lang="en-US" sz="3600" dirty="0"/>
              <a:t>• Feature normalization</a:t>
            </a:r>
            <a:br>
              <a:rPr lang="en-US" sz="3600" dirty="0"/>
            </a:br>
            <a:r>
              <a:rPr lang="en-US" sz="3600" dirty="0"/>
              <a:t>• Encoding categorical variables</a:t>
            </a:r>
          </a:p>
          <a:p>
            <a:pPr>
              <a:buNone/>
            </a:pPr>
            <a:r>
              <a:rPr lang="en-US" sz="3600" b="1" dirty="0"/>
              <a:t>Feature Engineering</a:t>
            </a:r>
          </a:p>
          <a:p>
            <a:pPr>
              <a:buNone/>
            </a:pPr>
            <a:r>
              <a:rPr lang="en-US" sz="3600" dirty="0"/>
              <a:t>Relevant safety-related features are extracted and transformed to improve model performance. These features represent operational and safety indicators used for prediction.</a:t>
            </a:r>
          </a:p>
          <a:p>
            <a:pPr>
              <a:buNone/>
            </a:pPr>
            <a:r>
              <a:rPr lang="en-US" sz="3600" dirty="0"/>
              <a:t>• Feature selection</a:t>
            </a:r>
            <a:br>
              <a:rPr lang="en-US" sz="3600" dirty="0"/>
            </a:br>
            <a:r>
              <a:rPr lang="en-US" sz="3600" dirty="0"/>
              <a:t>• Derived safety indicators</a:t>
            </a:r>
            <a:br>
              <a:rPr lang="en-US" sz="3600" dirty="0"/>
            </a:br>
            <a:r>
              <a:rPr lang="en-US" sz="3600" dirty="0"/>
              <a:t>• Statistical transformations</a:t>
            </a:r>
            <a:br>
              <a:rPr lang="en-US" sz="3600" dirty="0"/>
            </a:br>
            <a:r>
              <a:rPr lang="en-US" sz="3600" dirty="0"/>
              <a:t>• Model input preparation</a:t>
            </a:r>
          </a:p>
          <a:p>
            <a:pPr algn="just"/>
            <a:endParaRPr lang="en-US" sz="3600" b="1" cap="all" spc="25" dirty="0">
              <a:solidFill>
                <a:srgbClr val="0070C0"/>
              </a:solidFill>
              <a:latin typeface="Arial"/>
              <a:cs typeface="Arial"/>
            </a:endParaRPr>
          </a:p>
          <a:p>
            <a:pPr algn="just"/>
            <a:r>
              <a:rPr lang="en-US" sz="3600" b="1" cap="all" spc="25" dirty="0">
                <a:solidFill>
                  <a:srgbClr val="0070C0"/>
                </a:solidFill>
                <a:latin typeface="Arial"/>
                <a:cs typeface="Arial"/>
              </a:rPr>
              <a:t>Architecture </a:t>
            </a:r>
          </a:p>
          <a:p>
            <a:pPr algn="just"/>
            <a:endParaRPr lang="en-US" sz="3600" b="1" cap="all" spc="25" dirty="0">
              <a:solidFill>
                <a:srgbClr val="0070C0"/>
              </a:solidFill>
              <a:latin typeface="Arial"/>
              <a:cs typeface="Arial"/>
            </a:endParaRPr>
          </a:p>
          <a:p>
            <a:pPr algn="just"/>
            <a:endParaRPr lang="en-US" sz="3600" b="1" cap="all" spc="25" dirty="0">
              <a:solidFill>
                <a:srgbClr val="0070C0"/>
              </a:solidFill>
              <a:latin typeface="Arial"/>
              <a:cs typeface="Arial"/>
            </a:endParaRPr>
          </a:p>
          <a:p>
            <a:pPr algn="just"/>
            <a:endParaRPr lang="en-US" sz="3600" spc="8" dirty="0">
              <a:solidFill>
                <a:srgbClr val="231F20"/>
              </a:solidFill>
              <a:latin typeface="Arial" panose="020B0604020202020204" pitchFamily="34" charset="0"/>
              <a:cs typeface="Arial" panose="020B0604020202020204" pitchFamily="34" charset="0"/>
            </a:endParaRPr>
          </a:p>
          <a:p>
            <a:pPr algn="just"/>
            <a:endParaRPr lang="en-US" sz="3600" spc="8" dirty="0">
              <a:solidFill>
                <a:srgbClr val="231F20"/>
              </a:solidFill>
              <a:latin typeface="Arial" panose="020B0604020202020204" pitchFamily="34" charset="0"/>
              <a:cs typeface="Arial" panose="020B0604020202020204" pitchFamily="34" charset="0"/>
            </a:endParaRPr>
          </a:p>
          <a:p>
            <a:pPr algn="just"/>
            <a:endParaRPr lang="en-US" sz="3600" spc="8" dirty="0">
              <a:solidFill>
                <a:srgbClr val="231F20"/>
              </a:solidFill>
              <a:latin typeface="Arial" panose="020B0604020202020204" pitchFamily="34" charset="0"/>
              <a:cs typeface="Arial" panose="020B0604020202020204" pitchFamily="34" charset="0"/>
            </a:endParaRPr>
          </a:p>
          <a:p>
            <a:pPr algn="just"/>
            <a:endParaRPr lang="en-US" sz="3600" spc="8" dirty="0">
              <a:solidFill>
                <a:srgbClr val="231F20"/>
              </a:solidFill>
              <a:latin typeface="Arial" panose="020B0604020202020204" pitchFamily="34" charset="0"/>
              <a:cs typeface="Arial" panose="020B0604020202020204" pitchFamily="34" charset="0"/>
            </a:endParaRPr>
          </a:p>
          <a:p>
            <a:pPr algn="just"/>
            <a:endParaRPr lang="en-US" sz="3600" spc="8" dirty="0">
              <a:solidFill>
                <a:srgbClr val="231F20"/>
              </a:solidFill>
              <a:latin typeface="Arial" panose="020B0604020202020204" pitchFamily="34" charset="0"/>
              <a:cs typeface="Arial" panose="020B0604020202020204" pitchFamily="34" charset="0"/>
            </a:endParaRPr>
          </a:p>
          <a:p>
            <a:pPr algn="just"/>
            <a:endParaRPr lang="en-US" sz="3600" spc="8" dirty="0">
              <a:solidFill>
                <a:srgbClr val="231F20"/>
              </a:solidFill>
              <a:latin typeface="Arial" panose="020B0604020202020204" pitchFamily="34" charset="0"/>
              <a:cs typeface="Arial" panose="020B0604020202020204" pitchFamily="34" charset="0"/>
            </a:endParaRPr>
          </a:p>
          <a:p>
            <a:pPr algn="just"/>
            <a:endParaRPr lang="en-US" sz="3600" spc="8" dirty="0">
              <a:solidFill>
                <a:srgbClr val="231F20"/>
              </a:solidFill>
              <a:latin typeface="Arial" panose="020B0604020202020204" pitchFamily="34" charset="0"/>
              <a:cs typeface="Arial" panose="020B0604020202020204" pitchFamily="34" charset="0"/>
            </a:endParaRPr>
          </a:p>
          <a:p>
            <a:pPr algn="just"/>
            <a:endParaRPr lang="en-US" sz="3600" b="1" cap="all" spc="25" dirty="0">
              <a:solidFill>
                <a:srgbClr val="0070C0"/>
              </a:solidFill>
              <a:latin typeface="Arial"/>
              <a:cs typeface="Arial"/>
            </a:endParaRPr>
          </a:p>
          <a:p>
            <a:pPr algn="just"/>
            <a:endParaRPr lang="en-US" sz="3600" b="1" cap="all" spc="25" dirty="0">
              <a:solidFill>
                <a:srgbClr val="0070C0"/>
              </a:solidFill>
              <a:latin typeface="Arial"/>
              <a:cs typeface="Arial"/>
            </a:endParaRPr>
          </a:p>
          <a:p>
            <a:pPr algn="just">
              <a:lnSpc>
                <a:spcPct val="150000"/>
              </a:lnSpc>
            </a:pPr>
            <a:endParaRPr lang="en-IN" sz="3600" spc="8" dirty="0">
              <a:solidFill>
                <a:srgbClr val="231F20"/>
              </a:solidFill>
              <a:latin typeface="Arial" panose="020B0604020202020204" pitchFamily="34" charset="0"/>
              <a:cs typeface="Arial" panose="020B0604020202020204" pitchFamily="34" charset="0"/>
            </a:endParaRPr>
          </a:p>
          <a:p>
            <a:pPr algn="just">
              <a:lnSpc>
                <a:spcPct val="150000"/>
              </a:lnSpc>
            </a:pPr>
            <a:endParaRPr lang="en-IN" sz="3600" spc="8" dirty="0">
              <a:solidFill>
                <a:srgbClr val="231F20"/>
              </a:solidFill>
              <a:latin typeface="Arial" panose="020B0604020202020204" pitchFamily="34" charset="0"/>
              <a:cs typeface="Arial" panose="020B0604020202020204" pitchFamily="34" charset="0"/>
            </a:endParaRPr>
          </a:p>
          <a:p>
            <a:pPr algn="just">
              <a:lnSpc>
                <a:spcPct val="150000"/>
              </a:lnSpc>
            </a:pPr>
            <a:endParaRPr lang="en-IN" sz="3600" spc="8" dirty="0">
              <a:solidFill>
                <a:srgbClr val="231F20"/>
              </a:solidFill>
              <a:latin typeface="Arial" panose="020B0604020202020204" pitchFamily="34" charset="0"/>
              <a:cs typeface="Arial" panose="020B0604020202020204" pitchFamily="34" charset="0"/>
            </a:endParaRPr>
          </a:p>
          <a:p>
            <a:pPr algn="just">
              <a:lnSpc>
                <a:spcPct val="150000"/>
              </a:lnSpc>
            </a:pPr>
            <a:r>
              <a:rPr lang="en-US" sz="3600" spc="8" dirty="0">
                <a:solidFill>
                  <a:srgbClr val="231F20"/>
                </a:solidFill>
                <a:latin typeface="Arial" panose="020B0604020202020204" pitchFamily="34" charset="0"/>
                <a:cs typeface="Arial" panose="020B0604020202020204" pitchFamily="34" charset="0"/>
              </a:rPr>
              <a:t>The system follows a modular pipeline for accident risk prediction. Data is ingested, preprocessed, and passed to multiple machine learning models. The predicted results are displayed through a dashboard for monitoring and analysis.</a:t>
            </a:r>
            <a:br>
              <a:rPr lang="en-US" sz="3600" spc="8" dirty="0">
                <a:solidFill>
                  <a:srgbClr val="231F20"/>
                </a:solidFill>
                <a:latin typeface="Arial" panose="020B0604020202020204" pitchFamily="34" charset="0"/>
                <a:cs typeface="Arial" panose="020B0604020202020204" pitchFamily="34" charset="0"/>
              </a:rPr>
            </a:br>
            <a:r>
              <a:rPr lang="en-US" sz="3600" spc="8" dirty="0">
                <a:solidFill>
                  <a:srgbClr val="231F20"/>
                </a:solidFill>
                <a:latin typeface="Arial" panose="020B0604020202020204" pitchFamily="34" charset="0"/>
                <a:cs typeface="Arial" panose="020B0604020202020204" pitchFamily="34" charset="0"/>
              </a:rPr>
              <a:t>• Data ingestion from CSV and Excel files</a:t>
            </a:r>
          </a:p>
          <a:p>
            <a:pPr algn="just">
              <a:lnSpc>
                <a:spcPct val="150000"/>
              </a:lnSpc>
            </a:pPr>
            <a:r>
              <a:rPr lang="en-US" sz="3600" spc="8" dirty="0">
                <a:solidFill>
                  <a:srgbClr val="231F20"/>
                </a:solidFill>
                <a:latin typeface="Arial" panose="020B0604020202020204" pitchFamily="34" charset="0"/>
                <a:cs typeface="Arial" panose="020B0604020202020204" pitchFamily="34" charset="0"/>
              </a:rPr>
              <a:t>• Preprocessing and feature engineering</a:t>
            </a:r>
          </a:p>
          <a:p>
            <a:pPr algn="just">
              <a:lnSpc>
                <a:spcPct val="150000"/>
              </a:lnSpc>
            </a:pPr>
            <a:r>
              <a:rPr lang="en-US" sz="3600" spc="8" dirty="0">
                <a:solidFill>
                  <a:srgbClr val="231F20"/>
                </a:solidFill>
                <a:latin typeface="Arial" panose="020B0604020202020204" pitchFamily="34" charset="0"/>
                <a:cs typeface="Arial" panose="020B0604020202020204" pitchFamily="34" charset="0"/>
              </a:rPr>
              <a:t>• Multi-model machine learning training</a:t>
            </a:r>
          </a:p>
          <a:p>
            <a:pPr algn="just">
              <a:lnSpc>
                <a:spcPct val="150000"/>
              </a:lnSpc>
            </a:pPr>
            <a:r>
              <a:rPr lang="en-US" sz="3600" spc="8" dirty="0">
                <a:solidFill>
                  <a:srgbClr val="231F20"/>
                </a:solidFill>
                <a:latin typeface="Arial" panose="020B0604020202020204" pitchFamily="34" charset="0"/>
                <a:cs typeface="Arial" panose="020B0604020202020204" pitchFamily="34" charset="0"/>
              </a:rPr>
              <a:t>• Risk prediction generation• Dashboard visualization</a:t>
            </a:r>
            <a:endParaRPr lang="en-US" sz="3600" b="1" cap="all" spc="25" dirty="0">
              <a:solidFill>
                <a:srgbClr val="0070C0"/>
              </a:solidFill>
              <a:latin typeface="Arial"/>
              <a:cs typeface="Arial"/>
            </a:endParaRPr>
          </a:p>
        </p:txBody>
      </p:sp>
      <p:pic>
        <p:nvPicPr>
          <p:cNvPr id="19" name="Picture 18">
            <a:extLst>
              <a:ext uri="{FF2B5EF4-FFF2-40B4-BE49-F238E27FC236}">
                <a16:creationId xmlns:a16="http://schemas.microsoft.com/office/drawing/2014/main" id="{667B718F-5ACB-C686-71C4-C3352313F151}"/>
              </a:ext>
            </a:extLst>
          </p:cNvPr>
          <p:cNvPicPr>
            <a:picLocks noChangeAspect="1"/>
          </p:cNvPicPr>
          <p:nvPr/>
        </p:nvPicPr>
        <p:blipFill>
          <a:blip r:embed="rId4"/>
          <a:stretch>
            <a:fillRect/>
          </a:stretch>
        </p:blipFill>
        <p:spPr>
          <a:xfrm>
            <a:off x="15516519" y="16885779"/>
            <a:ext cx="12858161" cy="7019250"/>
          </a:xfrm>
          <a:prstGeom prst="rect">
            <a:avLst/>
          </a:prstGeom>
        </p:spPr>
      </p:pic>
      <p:pic>
        <p:nvPicPr>
          <p:cNvPr id="22" name="Picture 21">
            <a:extLst>
              <a:ext uri="{FF2B5EF4-FFF2-40B4-BE49-F238E27FC236}">
                <a16:creationId xmlns:a16="http://schemas.microsoft.com/office/drawing/2014/main" id="{B3D95EF6-076E-D188-83C2-EAB7C0BFF8EF}"/>
              </a:ext>
            </a:extLst>
          </p:cNvPr>
          <p:cNvPicPr>
            <a:picLocks noChangeAspect="1"/>
          </p:cNvPicPr>
          <p:nvPr/>
        </p:nvPicPr>
        <p:blipFill>
          <a:blip r:embed="rId5"/>
          <a:stretch>
            <a:fillRect/>
          </a:stretch>
        </p:blipFill>
        <p:spPr>
          <a:xfrm>
            <a:off x="30794788" y="9922105"/>
            <a:ext cx="10002719" cy="5383928"/>
          </a:xfrm>
          <a:prstGeom prst="rect">
            <a:avLst/>
          </a:prstGeom>
        </p:spPr>
      </p:pic>
      <p:pic>
        <p:nvPicPr>
          <p:cNvPr id="25" name="Picture 24">
            <a:extLst>
              <a:ext uri="{FF2B5EF4-FFF2-40B4-BE49-F238E27FC236}">
                <a16:creationId xmlns:a16="http://schemas.microsoft.com/office/drawing/2014/main" id="{95048B15-537D-4803-1472-763F7CC6C1A8}"/>
              </a:ext>
            </a:extLst>
          </p:cNvPr>
          <p:cNvPicPr>
            <a:picLocks noChangeAspect="1"/>
          </p:cNvPicPr>
          <p:nvPr/>
        </p:nvPicPr>
        <p:blipFill>
          <a:blip r:embed="rId6"/>
          <a:stretch>
            <a:fillRect/>
          </a:stretch>
        </p:blipFill>
        <p:spPr>
          <a:xfrm>
            <a:off x="30794788" y="15421805"/>
            <a:ext cx="10002719" cy="6617004"/>
          </a:xfrm>
          <a:prstGeom prst="rect">
            <a:avLst/>
          </a:prstGeom>
        </p:spPr>
      </p:pic>
    </p:spTree>
    <p:extLst>
      <p:ext uri="{BB962C8B-B14F-4D97-AF65-F5344CB8AC3E}">
        <p14:creationId xmlns:p14="http://schemas.microsoft.com/office/powerpoint/2010/main" val="241417131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377</TotalTime>
  <Words>606</Words>
  <Application>Microsoft Office PowerPoint</Application>
  <PresentationFormat>Custom</PresentationFormat>
  <Paragraphs>90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Swanger, Scott A</dc:creator>
  <cp:lastModifiedBy>Ayush .</cp:lastModifiedBy>
  <cp:revision>35</cp:revision>
  <dcterms:created xsi:type="dcterms:W3CDTF">2019-03-04T22:30:53Z</dcterms:created>
  <dcterms:modified xsi:type="dcterms:W3CDTF">2026-04-10T17:32:34Z</dcterms:modified>
</cp:coreProperties>
</file>