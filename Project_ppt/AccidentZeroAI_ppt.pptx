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4630400" cy="8229600"/>
  <p:notesSz cx="8229600" cy="14630400"/>
  <p:embeddedFontLst>
    <p:embeddedFont>
      <p:font typeface="Barlow Light" panose="00000400000000000000" pitchFamily="2" charset="0"/>
      <p:regular r:id="rId31"/>
    </p:embeddedFont>
    <p:embeddedFont>
      <p:font typeface="Consolas" panose="020B0609020204030204" pitchFamily="49" charset="0"/>
      <p:regular r:id="rId32"/>
      <p:bold r:id="rId33"/>
      <p:italic r:id="rId34"/>
      <p:boldItalic r:id="rId35"/>
    </p:embeddedFont>
    <p:embeddedFont>
      <p:font typeface="Montserrat" panose="00000500000000000000" pitchFamily="2"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shkar.regode@outlook.com" userId="1d41bae28dbd6138" providerId="LiveId" clId="{F72BC49A-6BCE-450C-BCD7-152F6F79AF42}"/>
    <pc:docChg chg="custSel modMainMaster">
      <pc:chgData name="pushkar.regode@outlook.com" userId="1d41bae28dbd6138" providerId="LiveId" clId="{F72BC49A-6BCE-450C-BCD7-152F6F79AF42}" dt="2026-04-08T16:36:26.350" v="14" actId="478"/>
      <pc:docMkLst>
        <pc:docMk/>
      </pc:docMkLst>
      <pc:sldMasterChg chg="modSldLayout">
        <pc:chgData name="pushkar.regode@outlook.com" userId="1d41bae28dbd6138" providerId="LiveId" clId="{F72BC49A-6BCE-450C-BCD7-152F6F79AF42}" dt="2026-04-08T16:36:26.350" v="14" actId="478"/>
        <pc:sldMasterMkLst>
          <pc:docMk/>
          <pc:sldMasterMk cId="0" sldId="2147483648"/>
        </pc:sldMasterMkLst>
        <pc:sldLayoutChg chg="delSp mod">
          <pc:chgData name="pushkar.regode@outlook.com" userId="1d41bae28dbd6138" providerId="LiveId" clId="{F72BC49A-6BCE-450C-BCD7-152F6F79AF42}" dt="2026-04-08T16:35:21.098" v="0" actId="21"/>
          <pc:sldLayoutMkLst>
            <pc:docMk/>
            <pc:sldMasterMk cId="0" sldId="2147483648"/>
            <pc:sldLayoutMk cId="0" sldId="2147483650"/>
          </pc:sldLayoutMkLst>
          <pc:picChg chg="del">
            <ac:chgData name="pushkar.regode@outlook.com" userId="1d41bae28dbd6138" providerId="LiveId" clId="{F72BC49A-6BCE-450C-BCD7-152F6F79AF42}" dt="2026-04-08T16:35:21.098" v="0" actId="21"/>
            <ac:picMkLst>
              <pc:docMk/>
              <pc:sldMasterMk cId="0" sldId="2147483648"/>
              <pc:sldLayoutMk cId="0" sldId="2147483650"/>
              <ac:picMk id="4" creationId="{00000000-0000-0000-0000-000000000000}"/>
            </ac:picMkLst>
          </pc:picChg>
        </pc:sldLayoutChg>
        <pc:sldLayoutChg chg="delSp mod">
          <pc:chgData name="pushkar.regode@outlook.com" userId="1d41bae28dbd6138" providerId="LiveId" clId="{F72BC49A-6BCE-450C-BCD7-152F6F79AF42}" dt="2026-04-08T16:35:26.785" v="1" actId="478"/>
          <pc:sldLayoutMkLst>
            <pc:docMk/>
            <pc:sldMasterMk cId="0" sldId="2147483648"/>
            <pc:sldLayoutMk cId="0" sldId="2147483651"/>
          </pc:sldLayoutMkLst>
          <pc:picChg chg="del">
            <ac:chgData name="pushkar.regode@outlook.com" userId="1d41bae28dbd6138" providerId="LiveId" clId="{F72BC49A-6BCE-450C-BCD7-152F6F79AF42}" dt="2026-04-08T16:35:26.785" v="1" actId="478"/>
            <ac:picMkLst>
              <pc:docMk/>
              <pc:sldMasterMk cId="0" sldId="2147483648"/>
              <pc:sldLayoutMk cId="0" sldId="2147483651"/>
              <ac:picMk id="4" creationId="{00000000-0000-0000-0000-000000000000}"/>
            </ac:picMkLst>
          </pc:picChg>
        </pc:sldLayoutChg>
        <pc:sldLayoutChg chg="delSp mod">
          <pc:chgData name="pushkar.regode@outlook.com" userId="1d41bae28dbd6138" providerId="LiveId" clId="{F72BC49A-6BCE-450C-BCD7-152F6F79AF42}" dt="2026-04-08T16:35:32.265" v="2" actId="478"/>
          <pc:sldLayoutMkLst>
            <pc:docMk/>
            <pc:sldMasterMk cId="0" sldId="2147483648"/>
            <pc:sldLayoutMk cId="0" sldId="2147483652"/>
          </pc:sldLayoutMkLst>
          <pc:picChg chg="del">
            <ac:chgData name="pushkar.regode@outlook.com" userId="1d41bae28dbd6138" providerId="LiveId" clId="{F72BC49A-6BCE-450C-BCD7-152F6F79AF42}" dt="2026-04-08T16:35:32.265" v="2" actId="478"/>
            <ac:picMkLst>
              <pc:docMk/>
              <pc:sldMasterMk cId="0" sldId="2147483648"/>
              <pc:sldLayoutMk cId="0" sldId="2147483652"/>
              <ac:picMk id="4" creationId="{00000000-0000-0000-0000-000000000000}"/>
            </ac:picMkLst>
          </pc:picChg>
        </pc:sldLayoutChg>
        <pc:sldLayoutChg chg="delSp mod">
          <pc:chgData name="pushkar.regode@outlook.com" userId="1d41bae28dbd6138" providerId="LiveId" clId="{F72BC49A-6BCE-450C-BCD7-152F6F79AF42}" dt="2026-04-08T16:35:37.895" v="3" actId="478"/>
          <pc:sldLayoutMkLst>
            <pc:docMk/>
            <pc:sldMasterMk cId="0" sldId="2147483648"/>
            <pc:sldLayoutMk cId="0" sldId="2147483653"/>
          </pc:sldLayoutMkLst>
          <pc:picChg chg="del">
            <ac:chgData name="pushkar.regode@outlook.com" userId="1d41bae28dbd6138" providerId="LiveId" clId="{F72BC49A-6BCE-450C-BCD7-152F6F79AF42}" dt="2026-04-08T16:35:37.895" v="3" actId="478"/>
            <ac:picMkLst>
              <pc:docMk/>
              <pc:sldMasterMk cId="0" sldId="2147483648"/>
              <pc:sldLayoutMk cId="0" sldId="2147483653"/>
              <ac:picMk id="4" creationId="{00000000-0000-0000-0000-000000000000}"/>
            </ac:picMkLst>
          </pc:picChg>
        </pc:sldLayoutChg>
        <pc:sldLayoutChg chg="delSp mod">
          <pc:chgData name="pushkar.regode@outlook.com" userId="1d41bae28dbd6138" providerId="LiveId" clId="{F72BC49A-6BCE-450C-BCD7-152F6F79AF42}" dt="2026-04-08T16:35:47.608" v="4" actId="478"/>
          <pc:sldLayoutMkLst>
            <pc:docMk/>
            <pc:sldMasterMk cId="0" sldId="2147483648"/>
            <pc:sldLayoutMk cId="0" sldId="2147483654"/>
          </pc:sldLayoutMkLst>
          <pc:picChg chg="del">
            <ac:chgData name="pushkar.regode@outlook.com" userId="1d41bae28dbd6138" providerId="LiveId" clId="{F72BC49A-6BCE-450C-BCD7-152F6F79AF42}" dt="2026-04-08T16:35:47.608" v="4" actId="478"/>
            <ac:picMkLst>
              <pc:docMk/>
              <pc:sldMasterMk cId="0" sldId="2147483648"/>
              <pc:sldLayoutMk cId="0" sldId="2147483654"/>
              <ac:picMk id="4" creationId="{00000000-0000-0000-0000-000000000000}"/>
            </ac:picMkLst>
          </pc:picChg>
        </pc:sldLayoutChg>
        <pc:sldLayoutChg chg="delSp mod">
          <pc:chgData name="pushkar.regode@outlook.com" userId="1d41bae28dbd6138" providerId="LiveId" clId="{F72BC49A-6BCE-450C-BCD7-152F6F79AF42}" dt="2026-04-08T16:35:51.337" v="5" actId="478"/>
          <pc:sldLayoutMkLst>
            <pc:docMk/>
            <pc:sldMasterMk cId="0" sldId="2147483648"/>
            <pc:sldLayoutMk cId="0" sldId="2147483655"/>
          </pc:sldLayoutMkLst>
          <pc:picChg chg="del">
            <ac:chgData name="pushkar.regode@outlook.com" userId="1d41bae28dbd6138" providerId="LiveId" clId="{F72BC49A-6BCE-450C-BCD7-152F6F79AF42}" dt="2026-04-08T16:35:51.337" v="5" actId="478"/>
            <ac:picMkLst>
              <pc:docMk/>
              <pc:sldMasterMk cId="0" sldId="2147483648"/>
              <pc:sldLayoutMk cId="0" sldId="2147483655"/>
              <ac:picMk id="4" creationId="{00000000-0000-0000-0000-000000000000}"/>
            </ac:picMkLst>
          </pc:picChg>
        </pc:sldLayoutChg>
        <pc:sldLayoutChg chg="delSp mod">
          <pc:chgData name="pushkar.regode@outlook.com" userId="1d41bae28dbd6138" providerId="LiveId" clId="{F72BC49A-6BCE-450C-BCD7-152F6F79AF42}" dt="2026-04-08T16:36:06.367" v="6" actId="478"/>
          <pc:sldLayoutMkLst>
            <pc:docMk/>
            <pc:sldMasterMk cId="0" sldId="2147483648"/>
            <pc:sldLayoutMk cId="0" sldId="2147483656"/>
          </pc:sldLayoutMkLst>
          <pc:picChg chg="del">
            <ac:chgData name="pushkar.regode@outlook.com" userId="1d41bae28dbd6138" providerId="LiveId" clId="{F72BC49A-6BCE-450C-BCD7-152F6F79AF42}" dt="2026-04-08T16:36:06.367" v="6" actId="478"/>
            <ac:picMkLst>
              <pc:docMk/>
              <pc:sldMasterMk cId="0" sldId="2147483648"/>
              <pc:sldLayoutMk cId="0" sldId="2147483656"/>
              <ac:picMk id="4" creationId="{00000000-0000-0000-0000-000000000000}"/>
            </ac:picMkLst>
          </pc:picChg>
        </pc:sldLayoutChg>
        <pc:sldLayoutChg chg="delSp mod">
          <pc:chgData name="pushkar.regode@outlook.com" userId="1d41bae28dbd6138" providerId="LiveId" clId="{F72BC49A-6BCE-450C-BCD7-152F6F79AF42}" dt="2026-04-08T16:36:11.210" v="7" actId="478"/>
          <pc:sldLayoutMkLst>
            <pc:docMk/>
            <pc:sldMasterMk cId="0" sldId="2147483648"/>
            <pc:sldLayoutMk cId="0" sldId="2147483657"/>
          </pc:sldLayoutMkLst>
          <pc:picChg chg="del">
            <ac:chgData name="pushkar.regode@outlook.com" userId="1d41bae28dbd6138" providerId="LiveId" clId="{F72BC49A-6BCE-450C-BCD7-152F6F79AF42}" dt="2026-04-08T16:36:11.210" v="7" actId="478"/>
            <ac:picMkLst>
              <pc:docMk/>
              <pc:sldMasterMk cId="0" sldId="2147483648"/>
              <pc:sldLayoutMk cId="0" sldId="2147483657"/>
              <ac:picMk id="4" creationId="{00000000-0000-0000-0000-000000000000}"/>
            </ac:picMkLst>
          </pc:picChg>
        </pc:sldLayoutChg>
        <pc:sldLayoutChg chg="delSp mod">
          <pc:chgData name="pushkar.regode@outlook.com" userId="1d41bae28dbd6138" providerId="LiveId" clId="{F72BC49A-6BCE-450C-BCD7-152F6F79AF42}" dt="2026-04-08T16:36:12.979" v="8" actId="478"/>
          <pc:sldLayoutMkLst>
            <pc:docMk/>
            <pc:sldMasterMk cId="0" sldId="2147483648"/>
            <pc:sldLayoutMk cId="0" sldId="2147483658"/>
          </pc:sldLayoutMkLst>
          <pc:picChg chg="del">
            <ac:chgData name="pushkar.regode@outlook.com" userId="1d41bae28dbd6138" providerId="LiveId" clId="{F72BC49A-6BCE-450C-BCD7-152F6F79AF42}" dt="2026-04-08T16:36:12.979" v="8" actId="478"/>
            <ac:picMkLst>
              <pc:docMk/>
              <pc:sldMasterMk cId="0" sldId="2147483648"/>
              <pc:sldLayoutMk cId="0" sldId="2147483658"/>
              <ac:picMk id="4" creationId="{00000000-0000-0000-0000-000000000000}"/>
            </ac:picMkLst>
          </pc:picChg>
        </pc:sldLayoutChg>
        <pc:sldLayoutChg chg="delSp modSp mod">
          <pc:chgData name="pushkar.regode@outlook.com" userId="1d41bae28dbd6138" providerId="LiveId" clId="{F72BC49A-6BCE-450C-BCD7-152F6F79AF42}" dt="2026-04-08T16:36:16.682" v="10" actId="1036"/>
          <pc:sldLayoutMkLst>
            <pc:docMk/>
            <pc:sldMasterMk cId="0" sldId="2147483648"/>
            <pc:sldLayoutMk cId="0" sldId="2147483659"/>
          </pc:sldLayoutMkLst>
          <pc:spChg chg="mod">
            <ac:chgData name="pushkar.regode@outlook.com" userId="1d41bae28dbd6138" providerId="LiveId" clId="{F72BC49A-6BCE-450C-BCD7-152F6F79AF42}" dt="2026-04-08T16:36:16.682" v="10" actId="1036"/>
            <ac:spMkLst>
              <pc:docMk/>
              <pc:sldMasterMk cId="0" sldId="2147483648"/>
              <pc:sldLayoutMk cId="0" sldId="2147483659"/>
              <ac:spMk id="3" creationId="{00000000-0000-0000-0000-000000000000}"/>
            </ac:spMkLst>
          </pc:spChg>
          <pc:picChg chg="del">
            <ac:chgData name="pushkar.regode@outlook.com" userId="1d41bae28dbd6138" providerId="LiveId" clId="{F72BC49A-6BCE-450C-BCD7-152F6F79AF42}" dt="2026-04-08T16:36:14.887" v="9" actId="478"/>
            <ac:picMkLst>
              <pc:docMk/>
              <pc:sldMasterMk cId="0" sldId="2147483648"/>
              <pc:sldLayoutMk cId="0" sldId="2147483659"/>
              <ac:picMk id="4" creationId="{00000000-0000-0000-0000-000000000000}"/>
            </ac:picMkLst>
          </pc:picChg>
        </pc:sldLayoutChg>
        <pc:sldLayoutChg chg="delSp mod">
          <pc:chgData name="pushkar.regode@outlook.com" userId="1d41bae28dbd6138" providerId="LiveId" clId="{F72BC49A-6BCE-450C-BCD7-152F6F79AF42}" dt="2026-04-08T16:36:21.523" v="11" actId="478"/>
          <pc:sldLayoutMkLst>
            <pc:docMk/>
            <pc:sldMasterMk cId="0" sldId="2147483648"/>
            <pc:sldLayoutMk cId="0" sldId="2147483660"/>
          </pc:sldLayoutMkLst>
          <pc:picChg chg="del">
            <ac:chgData name="pushkar.regode@outlook.com" userId="1d41bae28dbd6138" providerId="LiveId" clId="{F72BC49A-6BCE-450C-BCD7-152F6F79AF42}" dt="2026-04-08T16:36:21.523" v="11" actId="478"/>
            <ac:picMkLst>
              <pc:docMk/>
              <pc:sldMasterMk cId="0" sldId="2147483648"/>
              <pc:sldLayoutMk cId="0" sldId="2147483660"/>
              <ac:picMk id="4" creationId="{00000000-0000-0000-0000-000000000000}"/>
            </ac:picMkLst>
          </pc:picChg>
        </pc:sldLayoutChg>
        <pc:sldLayoutChg chg="delSp mod">
          <pc:chgData name="pushkar.regode@outlook.com" userId="1d41bae28dbd6138" providerId="LiveId" clId="{F72BC49A-6BCE-450C-BCD7-152F6F79AF42}" dt="2026-04-08T16:36:23.492" v="12" actId="478"/>
          <pc:sldLayoutMkLst>
            <pc:docMk/>
            <pc:sldMasterMk cId="0" sldId="2147483648"/>
            <pc:sldLayoutMk cId="0" sldId="2147483661"/>
          </pc:sldLayoutMkLst>
          <pc:picChg chg="del">
            <ac:chgData name="pushkar.regode@outlook.com" userId="1d41bae28dbd6138" providerId="LiveId" clId="{F72BC49A-6BCE-450C-BCD7-152F6F79AF42}" dt="2026-04-08T16:36:23.492" v="12" actId="478"/>
            <ac:picMkLst>
              <pc:docMk/>
              <pc:sldMasterMk cId="0" sldId="2147483648"/>
              <pc:sldLayoutMk cId="0" sldId="2147483661"/>
              <ac:picMk id="4" creationId="{00000000-0000-0000-0000-000000000000}"/>
            </ac:picMkLst>
          </pc:picChg>
        </pc:sldLayoutChg>
        <pc:sldLayoutChg chg="delSp mod">
          <pc:chgData name="pushkar.regode@outlook.com" userId="1d41bae28dbd6138" providerId="LiveId" clId="{F72BC49A-6BCE-450C-BCD7-152F6F79AF42}" dt="2026-04-08T16:36:24.866" v="13" actId="478"/>
          <pc:sldLayoutMkLst>
            <pc:docMk/>
            <pc:sldMasterMk cId="0" sldId="2147483648"/>
            <pc:sldLayoutMk cId="0" sldId="2147483662"/>
          </pc:sldLayoutMkLst>
          <pc:picChg chg="del">
            <ac:chgData name="pushkar.regode@outlook.com" userId="1d41bae28dbd6138" providerId="LiveId" clId="{F72BC49A-6BCE-450C-BCD7-152F6F79AF42}" dt="2026-04-08T16:36:24.866" v="13" actId="478"/>
            <ac:picMkLst>
              <pc:docMk/>
              <pc:sldMasterMk cId="0" sldId="2147483648"/>
              <pc:sldLayoutMk cId="0" sldId="2147483662"/>
              <ac:picMk id="4" creationId="{00000000-0000-0000-0000-000000000000}"/>
            </ac:picMkLst>
          </pc:picChg>
        </pc:sldLayoutChg>
        <pc:sldLayoutChg chg="delSp mod">
          <pc:chgData name="pushkar.regode@outlook.com" userId="1d41bae28dbd6138" providerId="LiveId" clId="{F72BC49A-6BCE-450C-BCD7-152F6F79AF42}" dt="2026-04-08T16:36:26.350" v="14" actId="478"/>
          <pc:sldLayoutMkLst>
            <pc:docMk/>
            <pc:sldMasterMk cId="0" sldId="2147483648"/>
            <pc:sldLayoutMk cId="0" sldId="2147483663"/>
          </pc:sldLayoutMkLst>
          <pc:picChg chg="del">
            <ac:chgData name="pushkar.regode@outlook.com" userId="1d41bae28dbd6138" providerId="LiveId" clId="{F72BC49A-6BCE-450C-BCD7-152F6F79AF42}" dt="2026-04-08T16:36:26.350" v="14" actId="478"/>
            <ac:picMkLst>
              <pc:docMk/>
              <pc:sldMasterMk cId="0" sldId="2147483648"/>
              <pc:sldLayoutMk cId="0" sldId="2147483663"/>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3602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24939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63285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58338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81474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589849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684491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10959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45283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1897188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0081347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507601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16893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394658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4639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11151"/>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9.svg"/><Relationship Id="rId4" Type="http://schemas.openxmlformats.org/officeDocument/2006/relationships/image" Target="../media/image18.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1708071"/>
            <a:ext cx="4988838"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Calibri Light" panose="020F0302020204030204" pitchFamily="34" charset="0"/>
                <a:ea typeface="Barlow Bold" pitchFamily="34" charset="-122"/>
                <a:cs typeface="Barlow Bold" pitchFamily="34" charset="-120"/>
              </a:rPr>
              <a:t>AccidentZero AI</a:t>
            </a:r>
            <a:endParaRPr lang="en-US" sz="3900" dirty="0"/>
          </a:p>
        </p:txBody>
      </p:sp>
      <p:sp>
        <p:nvSpPr>
          <p:cNvPr id="3" name="Text 1"/>
          <p:cNvSpPr/>
          <p:nvPr/>
        </p:nvSpPr>
        <p:spPr>
          <a:xfrm>
            <a:off x="758309" y="2407325"/>
            <a:ext cx="7320558"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Calibri Light" panose="020F0302020204030204" pitchFamily="34" charset="0"/>
                <a:ea typeface="Barlow Bold" pitchFamily="34" charset="-122"/>
                <a:cs typeface="Barlow Bold" pitchFamily="34" charset="-120"/>
              </a:rPr>
              <a:t>Intelligent Safety Risk Monitoring System </a:t>
            </a:r>
            <a:endParaRPr lang="en-US" sz="3100" dirty="0"/>
          </a:p>
        </p:txBody>
      </p:sp>
      <p:sp>
        <p:nvSpPr>
          <p:cNvPr id="4" name="Text 2"/>
          <p:cNvSpPr/>
          <p:nvPr/>
        </p:nvSpPr>
        <p:spPr>
          <a:xfrm>
            <a:off x="758309" y="3190518"/>
            <a:ext cx="13113782" cy="303252"/>
          </a:xfrm>
          <a:prstGeom prst="rect">
            <a:avLst/>
          </a:prstGeom>
          <a:noFill/>
          <a:ln/>
        </p:spPr>
        <p:txBody>
          <a:bodyPr wrap="none" lIns="0" tIns="0" rIns="0" bIns="0" rtlCol="0" anchor="t"/>
          <a:lstStyle/>
          <a:p>
            <a:pPr marL="0" indent="0" algn="l">
              <a:lnSpc>
                <a:spcPts val="2350"/>
              </a:lnSpc>
              <a:buNone/>
            </a:pPr>
            <a:r>
              <a:rPr lang="en-US" sz="1450" b="1" dirty="0">
                <a:solidFill>
                  <a:srgbClr val="384653"/>
                </a:solidFill>
                <a:latin typeface="Montserrat" pitchFamily="34" charset="0"/>
                <a:ea typeface="Montserrat" pitchFamily="34" charset="-122"/>
                <a:cs typeface="Montserrat" pitchFamily="34" charset="-120"/>
              </a:rPr>
              <a:t>Submited by-</a:t>
            </a:r>
            <a:endParaRPr lang="en-US" sz="1450" dirty="0"/>
          </a:p>
        </p:txBody>
      </p:sp>
      <p:sp>
        <p:nvSpPr>
          <p:cNvPr id="5" name="Text 3"/>
          <p:cNvSpPr/>
          <p:nvPr/>
        </p:nvSpPr>
        <p:spPr>
          <a:xfrm>
            <a:off x="758309" y="3707011"/>
            <a:ext cx="13113782" cy="1781532"/>
          </a:xfrm>
          <a:prstGeom prst="rect">
            <a:avLst/>
          </a:prstGeom>
          <a:noFill/>
          <a:ln/>
        </p:spPr>
        <p:txBody>
          <a:bodyPr wrap="square" lIns="0" tIns="0" rIns="0" bIns="0" rtlCol="0" anchor="t"/>
          <a:lstStyle/>
          <a:p>
            <a:pPr marL="342900" indent="-342900" algn="l">
              <a:lnSpc>
                <a:spcPts val="2350"/>
              </a:lnSpc>
              <a:buSzPct val="100000"/>
              <a:buChar char="•"/>
            </a:pPr>
            <a:r>
              <a:rPr lang="en-US" sz="1450" dirty="0">
                <a:solidFill>
                  <a:srgbClr val="384653"/>
                </a:solidFill>
                <a:latin typeface="Montserrat" pitchFamily="34" charset="0"/>
                <a:ea typeface="Montserrat" pitchFamily="34" charset="-122"/>
                <a:cs typeface="Montserrat" pitchFamily="34" charset="-120"/>
              </a:rPr>
              <a:t>Ayush - 24BCE1548</a:t>
            </a:r>
            <a:endParaRPr lang="en-US" sz="1450" dirty="0"/>
          </a:p>
          <a:p>
            <a:pPr marL="342900" indent="-342900" algn="l">
              <a:lnSpc>
                <a:spcPts val="2350"/>
              </a:lnSpc>
              <a:buSzPct val="100000"/>
              <a:buChar char="•"/>
            </a:pPr>
            <a:r>
              <a:rPr lang="en-US" sz="1450" dirty="0">
                <a:solidFill>
                  <a:srgbClr val="384653"/>
                </a:solidFill>
                <a:latin typeface="Montserrat" pitchFamily="34" charset="0"/>
                <a:ea typeface="Montserrat" pitchFamily="34" charset="-122"/>
                <a:cs typeface="Montserrat" pitchFamily="34" charset="-120"/>
              </a:rPr>
              <a:t>Aarsh Choudary - 24BCE1635</a:t>
            </a:r>
            <a:endParaRPr lang="en-US" sz="1450" dirty="0"/>
          </a:p>
          <a:p>
            <a:pPr marL="342900" indent="-342900" algn="l">
              <a:lnSpc>
                <a:spcPts val="2350"/>
              </a:lnSpc>
              <a:buSzPct val="100000"/>
              <a:buChar char="•"/>
            </a:pPr>
            <a:r>
              <a:rPr lang="en-US" sz="1450" dirty="0">
                <a:solidFill>
                  <a:srgbClr val="384653"/>
                </a:solidFill>
                <a:latin typeface="Montserrat" pitchFamily="34" charset="0"/>
                <a:ea typeface="Montserrat" pitchFamily="34" charset="-122"/>
                <a:cs typeface="Montserrat" pitchFamily="34" charset="-120"/>
              </a:rPr>
              <a:t>Dhruv Mayur Vira - 24BCE1664</a:t>
            </a:r>
            <a:endParaRPr lang="en-US" sz="1450" dirty="0"/>
          </a:p>
          <a:p>
            <a:pPr marL="342900" indent="-342900" algn="l">
              <a:lnSpc>
                <a:spcPts val="2350"/>
              </a:lnSpc>
              <a:buSzPct val="100000"/>
              <a:buChar char="•"/>
            </a:pPr>
            <a:r>
              <a:rPr lang="en-US" sz="1450" dirty="0">
                <a:solidFill>
                  <a:srgbClr val="384653"/>
                </a:solidFill>
                <a:latin typeface="Montserrat" pitchFamily="34" charset="0"/>
                <a:ea typeface="Montserrat" pitchFamily="34" charset="-122"/>
                <a:cs typeface="Montserrat" pitchFamily="34" charset="-120"/>
              </a:rPr>
              <a:t>Nikhil Anand - 24BCE1674</a:t>
            </a:r>
            <a:endParaRPr lang="en-US" sz="1450" dirty="0"/>
          </a:p>
          <a:p>
            <a:pPr marL="342900" indent="-342900" algn="l">
              <a:lnSpc>
                <a:spcPts val="2350"/>
              </a:lnSpc>
              <a:buSzPct val="100000"/>
              <a:buChar char="•"/>
            </a:pPr>
            <a:r>
              <a:rPr lang="en-US" sz="1450" dirty="0">
                <a:solidFill>
                  <a:srgbClr val="384653"/>
                </a:solidFill>
                <a:latin typeface="Montserrat" pitchFamily="34" charset="0"/>
                <a:ea typeface="Montserrat" pitchFamily="34" charset="-122"/>
                <a:cs typeface="Montserrat" pitchFamily="34" charset="-120"/>
              </a:rPr>
              <a:t>Pushkar Santosh Regode - 24BCE1691</a:t>
            </a:r>
            <a:endParaRPr lang="en-US" sz="1450" dirty="0"/>
          </a:p>
        </p:txBody>
      </p:sp>
      <p:sp>
        <p:nvSpPr>
          <p:cNvPr id="6" name="Text 4"/>
          <p:cNvSpPr/>
          <p:nvPr/>
        </p:nvSpPr>
        <p:spPr>
          <a:xfrm>
            <a:off x="758309" y="5701784"/>
            <a:ext cx="13113782" cy="303252"/>
          </a:xfrm>
          <a:prstGeom prst="rect">
            <a:avLst/>
          </a:prstGeom>
          <a:noFill/>
          <a:ln/>
        </p:spPr>
        <p:txBody>
          <a:bodyPr wrap="none" lIns="0" tIns="0" rIns="0" bIns="0" rtlCol="0" anchor="t"/>
          <a:lstStyle/>
          <a:p>
            <a:pPr marL="0" indent="0" algn="l">
              <a:lnSpc>
                <a:spcPts val="2350"/>
              </a:lnSpc>
              <a:buNone/>
            </a:pPr>
            <a:endParaRPr lang="en-US" sz="1450" dirty="0"/>
          </a:p>
        </p:txBody>
      </p:sp>
      <p:sp>
        <p:nvSpPr>
          <p:cNvPr id="7" name="Text 5"/>
          <p:cNvSpPr/>
          <p:nvPr/>
        </p:nvSpPr>
        <p:spPr>
          <a:xfrm>
            <a:off x="758309" y="6218277"/>
            <a:ext cx="13113782" cy="303252"/>
          </a:xfrm>
          <a:prstGeom prst="rect">
            <a:avLst/>
          </a:prstGeom>
          <a:noFill/>
          <a:ln/>
        </p:spPr>
        <p:txBody>
          <a:bodyPr wrap="none" lIns="0" tIns="0" rIns="0" bIns="0" rtlCol="0" anchor="t"/>
          <a:lstStyle/>
          <a:p>
            <a:pPr marL="0" indent="0" algn="l">
              <a:lnSpc>
                <a:spcPts val="2350"/>
              </a:lnSpc>
              <a:buNone/>
            </a:pP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856417"/>
            <a:ext cx="4739402" cy="592455"/>
          </a:xfrm>
          <a:prstGeom prst="rect">
            <a:avLst/>
          </a:prstGeom>
          <a:noFill/>
          <a:ln/>
        </p:spPr>
        <p:txBody>
          <a:bodyPr wrap="none" lIns="0" tIns="0" rIns="0" bIns="0" rtlCol="0" anchor="t"/>
          <a:lstStyle/>
          <a:p>
            <a:pPr marL="0" indent="0" algn="l">
              <a:lnSpc>
                <a:spcPts val="4650"/>
              </a:lnSpc>
              <a:buNone/>
            </a:pPr>
            <a:r>
              <a:rPr lang="en-US" sz="3700" b="1" dirty="0">
                <a:solidFill>
                  <a:srgbClr val="2E3C4E"/>
                </a:solidFill>
                <a:latin typeface="Calibri Light" panose="020F0302020204030204" pitchFamily="34" charset="0"/>
                <a:ea typeface="Barlow Bold" pitchFamily="34" charset="-122"/>
                <a:cs typeface="Barlow Bold" pitchFamily="34" charset="-120"/>
              </a:rPr>
              <a:t>Abstract</a:t>
            </a:r>
            <a:endParaRPr lang="en-US" sz="3700" dirty="0"/>
          </a:p>
        </p:txBody>
      </p:sp>
      <p:sp>
        <p:nvSpPr>
          <p:cNvPr id="3" name="Text 1"/>
          <p:cNvSpPr/>
          <p:nvPr/>
        </p:nvSpPr>
        <p:spPr>
          <a:xfrm>
            <a:off x="758309" y="1791057"/>
            <a:ext cx="13113782" cy="842963"/>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Industrial workplace safety remains a critical concern across manufacturing and construction sectors worldwide. AccidentZero AI presents an end-to-end intelligent safety risk monitoring system that leverages machine learning to predict and prevent workplace accidents before they occur.</a:t>
            </a:r>
            <a:endParaRPr lang="en-US" sz="1400" dirty="0"/>
          </a:p>
        </p:txBody>
      </p:sp>
      <p:sp>
        <p:nvSpPr>
          <p:cNvPr id="4" name="Shape 2"/>
          <p:cNvSpPr/>
          <p:nvPr/>
        </p:nvSpPr>
        <p:spPr>
          <a:xfrm>
            <a:off x="758309" y="2826425"/>
            <a:ext cx="6471285" cy="2328267"/>
          </a:xfrm>
          <a:prstGeom prst="roundRect">
            <a:avLst>
              <a:gd name="adj" fmla="val 11603"/>
            </a:avLst>
          </a:prstGeom>
          <a:solidFill>
            <a:srgbClr val="D4E9F7"/>
          </a:solidFill>
          <a:ln w="7620">
            <a:solidFill>
              <a:srgbClr val="BACFDD"/>
            </a:solidFill>
            <a:prstDash val="solid"/>
          </a:ln>
        </p:spPr>
      </p:sp>
      <p:pic>
        <p:nvPicPr>
          <p:cNvPr id="5" name="Image 0" descr="preencoded.png"/>
          <p:cNvPicPr>
            <a:picLocks noChangeAspect="1"/>
          </p:cNvPicPr>
          <p:nvPr/>
        </p:nvPicPr>
        <p:blipFill>
          <a:blip r:embed="rId3"/>
          <a:stretch>
            <a:fillRect/>
          </a:stretch>
        </p:blipFill>
        <p:spPr>
          <a:xfrm>
            <a:off x="945952" y="3014067"/>
            <a:ext cx="540187" cy="540187"/>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4423" y="3162538"/>
            <a:ext cx="243126" cy="243126"/>
          </a:xfrm>
          <a:prstGeom prst="rect">
            <a:avLst/>
          </a:prstGeom>
        </p:spPr>
      </p:pic>
      <p:sp>
        <p:nvSpPr>
          <p:cNvPr id="7" name="Text 3"/>
          <p:cNvSpPr/>
          <p:nvPr/>
        </p:nvSpPr>
        <p:spPr>
          <a:xfrm>
            <a:off x="945952" y="3725347"/>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Multi-Model Ensemble</a:t>
            </a:r>
            <a:endParaRPr lang="en-US" sz="1850" dirty="0"/>
          </a:p>
        </p:txBody>
      </p:sp>
      <p:sp>
        <p:nvSpPr>
          <p:cNvPr id="8" name="Text 4"/>
          <p:cNvSpPr/>
          <p:nvPr/>
        </p:nvSpPr>
        <p:spPr>
          <a:xfrm>
            <a:off x="945952" y="4124087"/>
            <a:ext cx="6096000" cy="842963"/>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8 complementary ML models working in harmony: XGBoost, LightGBM, CatBoost, HistGBM, ExtraTrees, LSTM, Isolation Forest, and Stacking classifier</a:t>
            </a:r>
            <a:endParaRPr lang="en-US" sz="1400" dirty="0"/>
          </a:p>
        </p:txBody>
      </p:sp>
      <p:sp>
        <p:nvSpPr>
          <p:cNvPr id="9" name="Shape 5"/>
          <p:cNvSpPr/>
          <p:nvPr/>
        </p:nvSpPr>
        <p:spPr>
          <a:xfrm>
            <a:off x="7400687" y="2826425"/>
            <a:ext cx="6471404" cy="2328267"/>
          </a:xfrm>
          <a:prstGeom prst="roundRect">
            <a:avLst>
              <a:gd name="adj" fmla="val 11603"/>
            </a:avLst>
          </a:prstGeom>
          <a:solidFill>
            <a:srgbClr val="D4E9F7"/>
          </a:solidFill>
          <a:ln w="7620">
            <a:solidFill>
              <a:srgbClr val="BACFDD"/>
            </a:solidFill>
            <a:prstDash val="solid"/>
          </a:ln>
        </p:spPr>
      </p:sp>
      <p:pic>
        <p:nvPicPr>
          <p:cNvPr id="10" name="Image 2" descr="preencoded.png"/>
          <p:cNvPicPr>
            <a:picLocks noChangeAspect="1"/>
          </p:cNvPicPr>
          <p:nvPr/>
        </p:nvPicPr>
        <p:blipFill>
          <a:blip r:embed="rId5"/>
          <a:stretch>
            <a:fillRect/>
          </a:stretch>
        </p:blipFill>
        <p:spPr>
          <a:xfrm>
            <a:off x="7588329" y="3014067"/>
            <a:ext cx="540187" cy="540187"/>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36800" y="3162538"/>
            <a:ext cx="243126" cy="243126"/>
          </a:xfrm>
          <a:prstGeom prst="rect">
            <a:avLst/>
          </a:prstGeom>
        </p:spPr>
      </p:pic>
      <p:sp>
        <p:nvSpPr>
          <p:cNvPr id="12" name="Text 6"/>
          <p:cNvSpPr/>
          <p:nvPr/>
        </p:nvSpPr>
        <p:spPr>
          <a:xfrm>
            <a:off x="7588329" y="3725347"/>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High Accuracy</a:t>
            </a:r>
            <a:endParaRPr lang="en-US" sz="1850" dirty="0"/>
          </a:p>
        </p:txBody>
      </p:sp>
      <p:sp>
        <p:nvSpPr>
          <p:cNvPr id="13" name="Text 7"/>
          <p:cNvSpPr/>
          <p:nvPr/>
        </p:nvSpPr>
        <p:spPr>
          <a:xfrm>
            <a:off x="7588329" y="4124087"/>
            <a:ext cx="6096119"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Weighted ensemble approach achieves 84% prediction accuracy with explainable predictions for safety professionals</a:t>
            </a:r>
            <a:endParaRPr lang="en-US" sz="1400" dirty="0"/>
          </a:p>
        </p:txBody>
      </p:sp>
      <p:sp>
        <p:nvSpPr>
          <p:cNvPr id="14" name="Shape 8"/>
          <p:cNvSpPr/>
          <p:nvPr/>
        </p:nvSpPr>
        <p:spPr>
          <a:xfrm>
            <a:off x="758309" y="5325785"/>
            <a:ext cx="6471285" cy="2047280"/>
          </a:xfrm>
          <a:prstGeom prst="roundRect">
            <a:avLst>
              <a:gd name="adj" fmla="val 13196"/>
            </a:avLst>
          </a:prstGeom>
          <a:solidFill>
            <a:srgbClr val="D4E9F7"/>
          </a:solidFill>
          <a:ln w="7620">
            <a:solidFill>
              <a:srgbClr val="BACFDD"/>
            </a:solidFill>
            <a:prstDash val="solid"/>
          </a:ln>
        </p:spPr>
      </p:sp>
      <p:pic>
        <p:nvPicPr>
          <p:cNvPr id="15" name="Image 4" descr="preencoded.png"/>
          <p:cNvPicPr>
            <a:picLocks noChangeAspect="1"/>
          </p:cNvPicPr>
          <p:nvPr/>
        </p:nvPicPr>
        <p:blipFill>
          <a:blip r:embed="rId7"/>
          <a:stretch>
            <a:fillRect/>
          </a:stretch>
        </p:blipFill>
        <p:spPr>
          <a:xfrm>
            <a:off x="945952" y="5513427"/>
            <a:ext cx="540187" cy="540187"/>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94423" y="5661898"/>
            <a:ext cx="243126" cy="243126"/>
          </a:xfrm>
          <a:prstGeom prst="rect">
            <a:avLst/>
          </a:prstGeom>
        </p:spPr>
      </p:pic>
      <p:sp>
        <p:nvSpPr>
          <p:cNvPr id="17" name="Text 9"/>
          <p:cNvSpPr/>
          <p:nvPr/>
        </p:nvSpPr>
        <p:spPr>
          <a:xfrm>
            <a:off x="945952" y="6224707"/>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Real-Time System</a:t>
            </a:r>
            <a:endParaRPr lang="en-US" sz="1850" dirty="0"/>
          </a:p>
        </p:txBody>
      </p:sp>
      <p:sp>
        <p:nvSpPr>
          <p:cNvPr id="18" name="Text 10"/>
          <p:cNvSpPr/>
          <p:nvPr/>
        </p:nvSpPr>
        <p:spPr>
          <a:xfrm>
            <a:off x="945952" y="6623447"/>
            <a:ext cx="6096000"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FastAPI backend with interactive web dashboard for continuous risk monitoring and immediate alerts</a:t>
            </a:r>
            <a:endParaRPr lang="en-US" sz="1400" dirty="0"/>
          </a:p>
        </p:txBody>
      </p:sp>
      <p:sp>
        <p:nvSpPr>
          <p:cNvPr id="19" name="Shape 11"/>
          <p:cNvSpPr/>
          <p:nvPr/>
        </p:nvSpPr>
        <p:spPr>
          <a:xfrm>
            <a:off x="7400687" y="5325785"/>
            <a:ext cx="6471404" cy="2047280"/>
          </a:xfrm>
          <a:prstGeom prst="roundRect">
            <a:avLst>
              <a:gd name="adj" fmla="val 13196"/>
            </a:avLst>
          </a:prstGeom>
          <a:solidFill>
            <a:srgbClr val="D4E9F7"/>
          </a:solidFill>
          <a:ln w="7620">
            <a:solidFill>
              <a:srgbClr val="BACFDD"/>
            </a:solidFill>
            <a:prstDash val="solid"/>
          </a:ln>
        </p:spPr>
      </p:sp>
      <p:pic>
        <p:nvPicPr>
          <p:cNvPr id="20" name="Image 6" descr="preencoded.png"/>
          <p:cNvPicPr>
            <a:picLocks noChangeAspect="1"/>
          </p:cNvPicPr>
          <p:nvPr/>
        </p:nvPicPr>
        <p:blipFill>
          <a:blip r:embed="rId9"/>
          <a:stretch>
            <a:fillRect/>
          </a:stretch>
        </p:blipFill>
        <p:spPr>
          <a:xfrm>
            <a:off x="7588329" y="5513427"/>
            <a:ext cx="540187" cy="540187"/>
          </a:xfrm>
          <a:prstGeom prst="rect">
            <a:avLst/>
          </a:prstGeom>
        </p:spPr>
      </p:pic>
      <p:pic>
        <p:nvPicPr>
          <p:cNvPr id="2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36800" y="5661898"/>
            <a:ext cx="243126" cy="243126"/>
          </a:xfrm>
          <a:prstGeom prst="rect">
            <a:avLst/>
          </a:prstGeom>
        </p:spPr>
      </p:pic>
      <p:sp>
        <p:nvSpPr>
          <p:cNvPr id="22" name="Text 12"/>
          <p:cNvSpPr/>
          <p:nvPr/>
        </p:nvSpPr>
        <p:spPr>
          <a:xfrm>
            <a:off x="7588329" y="6224707"/>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Multi-Modal Input</a:t>
            </a:r>
            <a:endParaRPr lang="en-US" sz="1850" dirty="0"/>
          </a:p>
        </p:txBody>
      </p:sp>
      <p:sp>
        <p:nvSpPr>
          <p:cNvPr id="23" name="Text 13"/>
          <p:cNvSpPr/>
          <p:nvPr/>
        </p:nvSpPr>
        <p:spPr>
          <a:xfrm>
            <a:off x="7588329" y="6623447"/>
            <a:ext cx="6096119"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Combines structured safety data with image analysis via Gemini AI for comprehensive risk assessment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711637"/>
            <a:ext cx="4739402" cy="592455"/>
          </a:xfrm>
          <a:prstGeom prst="rect">
            <a:avLst/>
          </a:prstGeom>
          <a:noFill/>
          <a:ln/>
        </p:spPr>
        <p:txBody>
          <a:bodyPr wrap="none" lIns="0" tIns="0" rIns="0" bIns="0" rtlCol="0" anchor="t"/>
          <a:lstStyle/>
          <a:p>
            <a:pPr marL="0" indent="0" algn="l">
              <a:lnSpc>
                <a:spcPts val="4650"/>
              </a:lnSpc>
              <a:buNone/>
            </a:pPr>
            <a:r>
              <a:rPr lang="en-US" sz="3700" b="1" dirty="0">
                <a:solidFill>
                  <a:srgbClr val="2E3C4E"/>
                </a:solidFill>
                <a:latin typeface="Calibri Light" panose="020F0302020204030204" pitchFamily="34" charset="0"/>
                <a:ea typeface="Barlow Bold" pitchFamily="34" charset="-122"/>
                <a:cs typeface="Barlow Bold" pitchFamily="34" charset="-120"/>
              </a:rPr>
              <a:t>Introduction</a:t>
            </a:r>
            <a:endParaRPr lang="en-US" sz="3700" dirty="0"/>
          </a:p>
        </p:txBody>
      </p:sp>
      <p:sp>
        <p:nvSpPr>
          <p:cNvPr id="3" name="Text 1"/>
          <p:cNvSpPr/>
          <p:nvPr/>
        </p:nvSpPr>
        <p:spPr>
          <a:xfrm>
            <a:off x="758309" y="1372433"/>
            <a:ext cx="2843689" cy="355402"/>
          </a:xfrm>
          <a:prstGeom prst="rect">
            <a:avLst/>
          </a:prstGeom>
          <a:noFill/>
          <a:ln/>
        </p:spPr>
        <p:txBody>
          <a:bodyPr wrap="none" lIns="0" tIns="0" rIns="0" bIns="0" rtlCol="0" anchor="t"/>
          <a:lstStyle/>
          <a:p>
            <a:pPr marL="0" indent="0" algn="l">
              <a:lnSpc>
                <a:spcPts val="2750"/>
              </a:lnSpc>
              <a:buNone/>
            </a:pPr>
            <a:r>
              <a:rPr lang="en-US" sz="2200" b="1" dirty="0">
                <a:solidFill>
                  <a:srgbClr val="2E3C4E"/>
                </a:solidFill>
                <a:latin typeface="Calibri Light" panose="020F0302020204030204" pitchFamily="34" charset="0"/>
                <a:ea typeface="Barlow Bold" pitchFamily="34" charset="-122"/>
                <a:cs typeface="Barlow Bold" pitchFamily="34" charset="-120"/>
              </a:rPr>
              <a:t>The Safety Challenge</a:t>
            </a:r>
            <a:endParaRPr lang="en-US" sz="2200" dirty="0"/>
          </a:p>
        </p:txBody>
      </p:sp>
      <p:sp>
        <p:nvSpPr>
          <p:cNvPr id="4" name="Text 2"/>
          <p:cNvSpPr/>
          <p:nvPr/>
        </p:nvSpPr>
        <p:spPr>
          <a:xfrm>
            <a:off x="758309" y="1984415"/>
            <a:ext cx="13113782"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According to the International Labour Organization (ILO), approximately 2.78 million workers die annually from occupational accidents and work-related diseases. The economic impact exceeds $3 trillion globally in lost productivity and healthcare costs.</a:t>
            </a:r>
            <a:endParaRPr lang="en-US" sz="1400" dirty="0"/>
          </a:p>
        </p:txBody>
      </p:sp>
      <p:sp>
        <p:nvSpPr>
          <p:cNvPr id="5" name="Text 3"/>
          <p:cNvSpPr/>
          <p:nvPr/>
        </p:nvSpPr>
        <p:spPr>
          <a:xfrm>
            <a:off x="758309" y="2738795"/>
            <a:ext cx="13113782" cy="842963"/>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Traditional safety systems remain predominantly reactive rather than predictive, responding to incidents after they occur. Organizations collect vast amounts of safety data during routine operations, but this data often goes underutilized, stored in databases without meaningful analysis or actionable insights.</a:t>
            </a:r>
            <a:endParaRPr lang="en-US" sz="1400" dirty="0"/>
          </a:p>
        </p:txBody>
      </p:sp>
      <p:pic>
        <p:nvPicPr>
          <p:cNvPr id="6" name="Image 0" descr="preencoded.png"/>
          <p:cNvPicPr>
            <a:picLocks noChangeAspect="1"/>
          </p:cNvPicPr>
          <p:nvPr/>
        </p:nvPicPr>
        <p:blipFill>
          <a:blip r:embed="rId3"/>
          <a:stretch>
            <a:fillRect/>
          </a:stretch>
        </p:blipFill>
        <p:spPr>
          <a:xfrm>
            <a:off x="758309" y="3774162"/>
            <a:ext cx="4371261" cy="720328"/>
          </a:xfrm>
          <a:prstGeom prst="rect">
            <a:avLst/>
          </a:prstGeom>
        </p:spPr>
      </p:pic>
      <p:sp>
        <p:nvSpPr>
          <p:cNvPr id="7" name="Text 4"/>
          <p:cNvSpPr/>
          <p:nvPr/>
        </p:nvSpPr>
        <p:spPr>
          <a:xfrm>
            <a:off x="938332" y="4665583"/>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Problem</a:t>
            </a:r>
            <a:endParaRPr lang="en-US" sz="1850" dirty="0"/>
          </a:p>
        </p:txBody>
      </p:sp>
      <p:sp>
        <p:nvSpPr>
          <p:cNvPr id="8" name="Text 5"/>
          <p:cNvSpPr/>
          <p:nvPr/>
        </p:nvSpPr>
        <p:spPr>
          <a:xfrm>
            <a:off x="938332" y="5064323"/>
            <a:ext cx="4011216"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Reactive systems fail to prevent accidents before they occur</a:t>
            </a:r>
            <a:endParaRPr lang="en-US" sz="1400" dirty="0"/>
          </a:p>
        </p:txBody>
      </p:sp>
      <p:pic>
        <p:nvPicPr>
          <p:cNvPr id="9" name="Image 1" descr="preencoded.png"/>
          <p:cNvPicPr>
            <a:picLocks noChangeAspect="1"/>
          </p:cNvPicPr>
          <p:nvPr/>
        </p:nvPicPr>
        <p:blipFill>
          <a:blip r:embed="rId4"/>
          <a:stretch>
            <a:fillRect/>
          </a:stretch>
        </p:blipFill>
        <p:spPr>
          <a:xfrm>
            <a:off x="5129570" y="3774162"/>
            <a:ext cx="4371261" cy="720328"/>
          </a:xfrm>
          <a:prstGeom prst="rect">
            <a:avLst/>
          </a:prstGeom>
        </p:spPr>
      </p:pic>
      <p:sp>
        <p:nvSpPr>
          <p:cNvPr id="10" name="Text 6"/>
          <p:cNvSpPr/>
          <p:nvPr/>
        </p:nvSpPr>
        <p:spPr>
          <a:xfrm>
            <a:off x="5309592" y="4665583"/>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Solution</a:t>
            </a:r>
            <a:endParaRPr lang="en-US" sz="1850" dirty="0"/>
          </a:p>
        </p:txBody>
      </p:sp>
      <p:sp>
        <p:nvSpPr>
          <p:cNvPr id="11" name="Text 7"/>
          <p:cNvSpPr/>
          <p:nvPr/>
        </p:nvSpPr>
        <p:spPr>
          <a:xfrm>
            <a:off x="5309592" y="5064323"/>
            <a:ext cx="4011216"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ML-based predictive analytics for proactive risk mitigation</a:t>
            </a:r>
            <a:endParaRPr lang="en-US" sz="1400" dirty="0"/>
          </a:p>
        </p:txBody>
      </p:sp>
      <p:pic>
        <p:nvPicPr>
          <p:cNvPr id="12" name="Image 2" descr="preencoded.png"/>
          <p:cNvPicPr>
            <a:picLocks noChangeAspect="1"/>
          </p:cNvPicPr>
          <p:nvPr/>
        </p:nvPicPr>
        <p:blipFill>
          <a:blip r:embed="rId5"/>
          <a:stretch>
            <a:fillRect/>
          </a:stretch>
        </p:blipFill>
        <p:spPr>
          <a:xfrm>
            <a:off x="9500830" y="3774162"/>
            <a:ext cx="4371261" cy="720328"/>
          </a:xfrm>
          <a:prstGeom prst="rect">
            <a:avLst/>
          </a:prstGeom>
        </p:spPr>
      </p:pic>
      <p:sp>
        <p:nvSpPr>
          <p:cNvPr id="13" name="Text 8"/>
          <p:cNvSpPr/>
          <p:nvPr/>
        </p:nvSpPr>
        <p:spPr>
          <a:xfrm>
            <a:off x="9680853" y="4665583"/>
            <a:ext cx="2369701" cy="296108"/>
          </a:xfrm>
          <a:prstGeom prst="rect">
            <a:avLst/>
          </a:prstGeom>
          <a:noFill/>
          <a:ln/>
        </p:spPr>
        <p:txBody>
          <a:bodyPr wrap="none" lIns="0" tIns="0" rIns="0" bIns="0" rtlCol="0" anchor="t"/>
          <a:lstStyle/>
          <a:p>
            <a:pPr marL="0" indent="0" algn="l">
              <a:lnSpc>
                <a:spcPts val="2300"/>
              </a:lnSpc>
              <a:buNone/>
            </a:pPr>
            <a:r>
              <a:rPr lang="en-US" sz="1850" b="1" dirty="0">
                <a:solidFill>
                  <a:srgbClr val="384653"/>
                </a:solidFill>
                <a:latin typeface="Calibri Light" panose="020F0302020204030204" pitchFamily="34" charset="0"/>
                <a:ea typeface="Barlow Bold" pitchFamily="34" charset="-122"/>
                <a:cs typeface="Barlow Bold" pitchFamily="34" charset="-120"/>
              </a:rPr>
              <a:t>Outcome</a:t>
            </a:r>
            <a:endParaRPr lang="en-US" sz="1850" dirty="0"/>
          </a:p>
        </p:txBody>
      </p:sp>
      <p:sp>
        <p:nvSpPr>
          <p:cNvPr id="14" name="Text 9"/>
          <p:cNvSpPr/>
          <p:nvPr/>
        </p:nvSpPr>
        <p:spPr>
          <a:xfrm>
            <a:off x="9680853" y="5064323"/>
            <a:ext cx="4011216" cy="561975"/>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84% accuracy with real-time risk classification</a:t>
            </a:r>
            <a:endParaRPr lang="en-US" sz="1400" dirty="0"/>
          </a:p>
        </p:txBody>
      </p:sp>
      <p:sp>
        <p:nvSpPr>
          <p:cNvPr id="15" name="Text 10"/>
          <p:cNvSpPr/>
          <p:nvPr/>
        </p:nvSpPr>
        <p:spPr>
          <a:xfrm>
            <a:off x="758309" y="6062901"/>
            <a:ext cx="2843689" cy="355402"/>
          </a:xfrm>
          <a:prstGeom prst="rect">
            <a:avLst/>
          </a:prstGeom>
          <a:noFill/>
          <a:ln/>
        </p:spPr>
        <p:txBody>
          <a:bodyPr wrap="none" lIns="0" tIns="0" rIns="0" bIns="0" rtlCol="0" anchor="t"/>
          <a:lstStyle/>
          <a:p>
            <a:pPr marL="0" indent="0" algn="l">
              <a:lnSpc>
                <a:spcPts val="2750"/>
              </a:lnSpc>
              <a:buNone/>
            </a:pPr>
            <a:r>
              <a:rPr lang="en-US" sz="2200" b="1" dirty="0">
                <a:solidFill>
                  <a:srgbClr val="2E3C4E"/>
                </a:solidFill>
                <a:latin typeface="Calibri Light" panose="020F0302020204030204" pitchFamily="34" charset="0"/>
                <a:ea typeface="Barlow Bold" pitchFamily="34" charset="-122"/>
                <a:cs typeface="Barlow Bold" pitchFamily="34" charset="-120"/>
              </a:rPr>
              <a:t>Project Objective</a:t>
            </a:r>
            <a:endParaRPr lang="en-US" sz="2200" dirty="0"/>
          </a:p>
        </p:txBody>
      </p:sp>
      <p:sp>
        <p:nvSpPr>
          <p:cNvPr id="16" name="Text 11"/>
          <p:cNvSpPr/>
          <p:nvPr/>
        </p:nvSpPr>
        <p:spPr>
          <a:xfrm>
            <a:off x="758309" y="6674882"/>
            <a:ext cx="13113782" cy="842963"/>
          </a:xfrm>
          <a:prstGeom prst="rect">
            <a:avLst/>
          </a:prstGeom>
          <a:noFill/>
          <a:ln/>
        </p:spPr>
        <p:txBody>
          <a:bodyPr wrap="square" lIns="0" tIns="0" rIns="0" bIns="0" rtlCol="0" anchor="t"/>
          <a:lstStyle/>
          <a:p>
            <a:pPr marL="0" indent="0" algn="l">
              <a:lnSpc>
                <a:spcPts val="2200"/>
              </a:lnSpc>
              <a:buNone/>
            </a:pPr>
            <a:r>
              <a:rPr lang="en-US" sz="1400" dirty="0">
                <a:solidFill>
                  <a:srgbClr val="384653"/>
                </a:solidFill>
                <a:latin typeface="Montserrat" pitchFamily="34" charset="0"/>
                <a:ea typeface="Montserrat" pitchFamily="34" charset="-122"/>
                <a:cs typeface="Montserrat" pitchFamily="34" charset="-120"/>
              </a:rPr>
              <a:t>This research develops a machine learning-based predictive safety system that analyzes historical and real-time workplace conditions to classify risk levels as LOW, MODERATE, HIGH, or CRITICAL. The system enables safety managers to intervene before hazardous conditions lead to accidents.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960715"/>
            <a:ext cx="4240530" cy="530066"/>
          </a:xfrm>
          <a:prstGeom prst="rect">
            <a:avLst/>
          </a:prstGeom>
          <a:noFill/>
          <a:ln/>
        </p:spPr>
        <p:txBody>
          <a:bodyPr wrap="none" lIns="0" tIns="0" rIns="0" bIns="0" rtlCol="0" anchor="t"/>
          <a:lstStyle/>
          <a:p>
            <a:pPr marL="0" indent="0" algn="l">
              <a:lnSpc>
                <a:spcPts val="4150"/>
              </a:lnSpc>
              <a:buNone/>
            </a:pPr>
            <a:r>
              <a:rPr lang="en-US" sz="3300" b="1" dirty="0">
                <a:solidFill>
                  <a:srgbClr val="2E3C4E"/>
                </a:solidFill>
                <a:latin typeface="Calibri Light" panose="020F0302020204030204" pitchFamily="34" charset="0"/>
                <a:ea typeface="Barlow Bold" pitchFamily="34" charset="-122"/>
                <a:cs typeface="Barlow Bold" pitchFamily="34" charset="-120"/>
              </a:rPr>
              <a:t>Dataset Details</a:t>
            </a:r>
            <a:endParaRPr lang="en-US" sz="3300" dirty="0"/>
          </a:p>
        </p:txBody>
      </p:sp>
      <p:sp>
        <p:nvSpPr>
          <p:cNvPr id="3" name="Text 1"/>
          <p:cNvSpPr/>
          <p:nvPr/>
        </p:nvSpPr>
        <p:spPr>
          <a:xfrm>
            <a:off x="758309" y="1764625"/>
            <a:ext cx="13113782" cy="476726"/>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The dataset represents 500 work scenarios from industrial environments, capturing critical safety parameters that influence accident probability. Each scenario includes eight input features and one binary target variable.</a:t>
            </a:r>
            <a:endParaRPr lang="en-US" sz="1250" dirty="0"/>
          </a:p>
        </p:txBody>
      </p:sp>
      <p:sp>
        <p:nvSpPr>
          <p:cNvPr id="4" name="Text 2"/>
          <p:cNvSpPr/>
          <p:nvPr/>
        </p:nvSpPr>
        <p:spPr>
          <a:xfrm>
            <a:off x="1243608" y="2475905"/>
            <a:ext cx="5500568" cy="531733"/>
          </a:xfrm>
          <a:prstGeom prst="rect">
            <a:avLst/>
          </a:prstGeom>
          <a:noFill/>
          <a:ln/>
        </p:spPr>
        <p:txBody>
          <a:bodyPr wrap="none" lIns="0" tIns="0" rIns="0" bIns="0" rtlCol="0" anchor="t"/>
          <a:lstStyle/>
          <a:p>
            <a:pPr marL="0" indent="0" algn="ctr">
              <a:lnSpc>
                <a:spcPts val="4150"/>
              </a:lnSpc>
              <a:buNone/>
            </a:pPr>
            <a:r>
              <a:rPr lang="en-US" sz="4150" b="1" dirty="0">
                <a:solidFill>
                  <a:srgbClr val="384653"/>
                </a:solidFill>
                <a:latin typeface="Calibri Light" panose="020F0302020204030204" pitchFamily="34" charset="0"/>
                <a:ea typeface="Barlow Bold" pitchFamily="34" charset="-122"/>
                <a:cs typeface="Barlow Bold" pitchFamily="34" charset="-120"/>
              </a:rPr>
              <a:t>500</a:t>
            </a:r>
            <a:endParaRPr lang="en-US" sz="4150" dirty="0"/>
          </a:p>
        </p:txBody>
      </p:sp>
      <p:sp>
        <p:nvSpPr>
          <p:cNvPr id="5" name="Text 3"/>
          <p:cNvSpPr/>
          <p:nvPr/>
        </p:nvSpPr>
        <p:spPr>
          <a:xfrm>
            <a:off x="2933819" y="3190756"/>
            <a:ext cx="2120265" cy="265033"/>
          </a:xfrm>
          <a:prstGeom prst="rect">
            <a:avLst/>
          </a:prstGeom>
          <a:noFill/>
          <a:ln/>
        </p:spPr>
        <p:txBody>
          <a:bodyPr wrap="none" lIns="0" tIns="0" rIns="0" bIns="0" rtlCol="0" anchor="t"/>
          <a:lstStyle/>
          <a:p>
            <a:pPr marL="0" indent="0" algn="ctr">
              <a:lnSpc>
                <a:spcPts val="205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Work Scenarios</a:t>
            </a:r>
            <a:endParaRPr lang="en-US" sz="1650" dirty="0"/>
          </a:p>
        </p:txBody>
      </p:sp>
      <p:sp>
        <p:nvSpPr>
          <p:cNvPr id="6" name="Text 4"/>
          <p:cNvSpPr/>
          <p:nvPr/>
        </p:nvSpPr>
        <p:spPr>
          <a:xfrm>
            <a:off x="758309" y="3537942"/>
            <a:ext cx="6471285" cy="238363"/>
          </a:xfrm>
          <a:prstGeom prst="rect">
            <a:avLst/>
          </a:prstGeom>
          <a:noFill/>
          <a:ln/>
        </p:spPr>
        <p:txBody>
          <a:bodyPr wrap="none" lIns="0" tIns="0" rIns="0" bIns="0" rtlCol="0" anchor="t"/>
          <a:lstStyle/>
          <a:p>
            <a:pPr marL="0" indent="0" algn="ctr">
              <a:lnSpc>
                <a:spcPts val="1850"/>
              </a:lnSpc>
              <a:buNone/>
            </a:pPr>
            <a:r>
              <a:rPr lang="en-US" sz="1250" dirty="0">
                <a:solidFill>
                  <a:srgbClr val="384653"/>
                </a:solidFill>
                <a:latin typeface="Montserrat" pitchFamily="34" charset="0"/>
                <a:ea typeface="Montserrat" pitchFamily="34" charset="-122"/>
                <a:cs typeface="Montserrat" pitchFamily="34" charset="-120"/>
              </a:rPr>
              <a:t>Total records in the dataset</a:t>
            </a:r>
            <a:endParaRPr lang="en-US" sz="1250" dirty="0"/>
          </a:p>
        </p:txBody>
      </p:sp>
      <p:sp>
        <p:nvSpPr>
          <p:cNvPr id="7" name="Text 5"/>
          <p:cNvSpPr/>
          <p:nvPr/>
        </p:nvSpPr>
        <p:spPr>
          <a:xfrm>
            <a:off x="7886105" y="2475905"/>
            <a:ext cx="5500568" cy="531733"/>
          </a:xfrm>
          <a:prstGeom prst="rect">
            <a:avLst/>
          </a:prstGeom>
          <a:noFill/>
          <a:ln/>
        </p:spPr>
        <p:txBody>
          <a:bodyPr wrap="none" lIns="0" tIns="0" rIns="0" bIns="0" rtlCol="0" anchor="t"/>
          <a:lstStyle/>
          <a:p>
            <a:pPr marL="0" indent="0" algn="ctr">
              <a:lnSpc>
                <a:spcPts val="4150"/>
              </a:lnSpc>
              <a:buNone/>
            </a:pPr>
            <a:r>
              <a:rPr lang="en-US" sz="4150" b="1" dirty="0">
                <a:solidFill>
                  <a:srgbClr val="384653"/>
                </a:solidFill>
                <a:latin typeface="Calibri Light" panose="020F0302020204030204" pitchFamily="34" charset="0"/>
                <a:ea typeface="Barlow Bold" pitchFamily="34" charset="-122"/>
                <a:cs typeface="Barlow Bold" pitchFamily="34" charset="-120"/>
              </a:rPr>
              <a:t>8</a:t>
            </a:r>
            <a:endParaRPr lang="en-US" sz="4150" dirty="0"/>
          </a:p>
        </p:txBody>
      </p:sp>
      <p:sp>
        <p:nvSpPr>
          <p:cNvPr id="8" name="Text 6"/>
          <p:cNvSpPr/>
          <p:nvPr/>
        </p:nvSpPr>
        <p:spPr>
          <a:xfrm>
            <a:off x="9576316" y="3190756"/>
            <a:ext cx="2120265" cy="265033"/>
          </a:xfrm>
          <a:prstGeom prst="rect">
            <a:avLst/>
          </a:prstGeom>
          <a:noFill/>
          <a:ln/>
        </p:spPr>
        <p:txBody>
          <a:bodyPr wrap="none" lIns="0" tIns="0" rIns="0" bIns="0" rtlCol="0" anchor="t"/>
          <a:lstStyle/>
          <a:p>
            <a:pPr marL="0" indent="0" algn="ctr">
              <a:lnSpc>
                <a:spcPts val="205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Input Features</a:t>
            </a:r>
            <a:endParaRPr lang="en-US" sz="1650" dirty="0"/>
          </a:p>
        </p:txBody>
      </p:sp>
      <p:sp>
        <p:nvSpPr>
          <p:cNvPr id="9" name="Text 7"/>
          <p:cNvSpPr/>
          <p:nvPr/>
        </p:nvSpPr>
        <p:spPr>
          <a:xfrm>
            <a:off x="7400806" y="3537942"/>
            <a:ext cx="6471285" cy="238363"/>
          </a:xfrm>
          <a:prstGeom prst="rect">
            <a:avLst/>
          </a:prstGeom>
          <a:noFill/>
          <a:ln/>
        </p:spPr>
        <p:txBody>
          <a:bodyPr wrap="none" lIns="0" tIns="0" rIns="0" bIns="0" rtlCol="0" anchor="t"/>
          <a:lstStyle/>
          <a:p>
            <a:pPr marL="0" indent="0" algn="ctr">
              <a:lnSpc>
                <a:spcPts val="1850"/>
              </a:lnSpc>
              <a:buNone/>
            </a:pPr>
            <a:r>
              <a:rPr lang="en-US" sz="1250" dirty="0">
                <a:solidFill>
                  <a:srgbClr val="384653"/>
                </a:solidFill>
                <a:latin typeface="Montserrat" pitchFamily="34" charset="0"/>
                <a:ea typeface="Montserrat" pitchFamily="34" charset="-122"/>
                <a:cs typeface="Montserrat" pitchFamily="34" charset="-120"/>
              </a:rPr>
              <a:t>Safety parameters analyzed</a:t>
            </a:r>
            <a:endParaRPr lang="en-US" sz="1250" dirty="0"/>
          </a:p>
        </p:txBody>
      </p:sp>
      <p:sp>
        <p:nvSpPr>
          <p:cNvPr id="10" name="Text 8"/>
          <p:cNvSpPr/>
          <p:nvPr/>
        </p:nvSpPr>
        <p:spPr>
          <a:xfrm>
            <a:off x="1243608" y="4130635"/>
            <a:ext cx="5500568" cy="531733"/>
          </a:xfrm>
          <a:prstGeom prst="rect">
            <a:avLst/>
          </a:prstGeom>
          <a:noFill/>
          <a:ln/>
        </p:spPr>
        <p:txBody>
          <a:bodyPr wrap="none" lIns="0" tIns="0" rIns="0" bIns="0" rtlCol="0" anchor="t"/>
          <a:lstStyle/>
          <a:p>
            <a:pPr marL="0" indent="0" algn="ctr">
              <a:lnSpc>
                <a:spcPts val="4150"/>
              </a:lnSpc>
              <a:buNone/>
            </a:pPr>
            <a:r>
              <a:rPr lang="en-US" sz="4150" b="1" dirty="0">
                <a:solidFill>
                  <a:srgbClr val="384653"/>
                </a:solidFill>
                <a:latin typeface="Calibri Light" panose="020F0302020204030204" pitchFamily="34" charset="0"/>
                <a:ea typeface="Barlow Bold" pitchFamily="34" charset="-122"/>
                <a:cs typeface="Barlow Bold" pitchFamily="34" charset="-120"/>
              </a:rPr>
              <a:t>50%</a:t>
            </a:r>
            <a:endParaRPr lang="en-US" sz="4150" dirty="0"/>
          </a:p>
        </p:txBody>
      </p:sp>
      <p:sp>
        <p:nvSpPr>
          <p:cNvPr id="11" name="Text 9"/>
          <p:cNvSpPr/>
          <p:nvPr/>
        </p:nvSpPr>
        <p:spPr>
          <a:xfrm>
            <a:off x="2933819" y="4845487"/>
            <a:ext cx="2120265" cy="265033"/>
          </a:xfrm>
          <a:prstGeom prst="rect">
            <a:avLst/>
          </a:prstGeom>
          <a:noFill/>
          <a:ln/>
        </p:spPr>
        <p:txBody>
          <a:bodyPr wrap="none" lIns="0" tIns="0" rIns="0" bIns="0" rtlCol="0" anchor="t"/>
          <a:lstStyle/>
          <a:p>
            <a:pPr marL="0" indent="0" algn="ctr">
              <a:lnSpc>
                <a:spcPts val="205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Balance</a:t>
            </a:r>
            <a:endParaRPr lang="en-US" sz="1650" dirty="0"/>
          </a:p>
        </p:txBody>
      </p:sp>
      <p:sp>
        <p:nvSpPr>
          <p:cNvPr id="12" name="Text 10"/>
          <p:cNvSpPr/>
          <p:nvPr/>
        </p:nvSpPr>
        <p:spPr>
          <a:xfrm>
            <a:off x="758309" y="5192673"/>
            <a:ext cx="6471285" cy="238363"/>
          </a:xfrm>
          <a:prstGeom prst="rect">
            <a:avLst/>
          </a:prstGeom>
          <a:noFill/>
          <a:ln/>
        </p:spPr>
        <p:txBody>
          <a:bodyPr wrap="none" lIns="0" tIns="0" rIns="0" bIns="0" rtlCol="0" anchor="t"/>
          <a:lstStyle/>
          <a:p>
            <a:pPr marL="0" indent="0" algn="ctr">
              <a:lnSpc>
                <a:spcPts val="1850"/>
              </a:lnSpc>
              <a:buNone/>
            </a:pPr>
            <a:r>
              <a:rPr lang="en-US" sz="1250" dirty="0">
                <a:solidFill>
                  <a:srgbClr val="384653"/>
                </a:solidFill>
                <a:latin typeface="Montserrat" pitchFamily="34" charset="0"/>
                <a:ea typeface="Montserrat" pitchFamily="34" charset="-122"/>
                <a:cs typeface="Montserrat" pitchFamily="34" charset="-120"/>
              </a:rPr>
              <a:t>Positive cases (accidents)</a:t>
            </a:r>
            <a:endParaRPr lang="en-US" sz="1250" dirty="0"/>
          </a:p>
        </p:txBody>
      </p:sp>
      <p:sp>
        <p:nvSpPr>
          <p:cNvPr id="13" name="Text 11"/>
          <p:cNvSpPr/>
          <p:nvPr/>
        </p:nvSpPr>
        <p:spPr>
          <a:xfrm>
            <a:off x="7886105" y="4130635"/>
            <a:ext cx="5500568" cy="531733"/>
          </a:xfrm>
          <a:prstGeom prst="rect">
            <a:avLst/>
          </a:prstGeom>
          <a:noFill/>
          <a:ln/>
        </p:spPr>
        <p:txBody>
          <a:bodyPr wrap="none" lIns="0" tIns="0" rIns="0" bIns="0" rtlCol="0" anchor="t"/>
          <a:lstStyle/>
          <a:p>
            <a:pPr marL="0" indent="0" algn="ctr">
              <a:lnSpc>
                <a:spcPts val="4150"/>
              </a:lnSpc>
              <a:buNone/>
            </a:pPr>
            <a:r>
              <a:rPr lang="en-US" sz="4150" b="1" dirty="0">
                <a:solidFill>
                  <a:srgbClr val="384653"/>
                </a:solidFill>
                <a:latin typeface="Calibri Light" panose="020F0302020204030204" pitchFamily="34" charset="0"/>
                <a:ea typeface="Barlow Bold" pitchFamily="34" charset="-122"/>
                <a:cs typeface="Barlow Bold" pitchFamily="34" charset="-120"/>
              </a:rPr>
              <a:t>80%</a:t>
            </a:r>
            <a:endParaRPr lang="en-US" sz="4150" dirty="0"/>
          </a:p>
        </p:txBody>
      </p:sp>
      <p:sp>
        <p:nvSpPr>
          <p:cNvPr id="14" name="Text 12"/>
          <p:cNvSpPr/>
          <p:nvPr/>
        </p:nvSpPr>
        <p:spPr>
          <a:xfrm>
            <a:off x="9576316" y="4845487"/>
            <a:ext cx="2120265" cy="265033"/>
          </a:xfrm>
          <a:prstGeom prst="rect">
            <a:avLst/>
          </a:prstGeom>
          <a:noFill/>
          <a:ln/>
        </p:spPr>
        <p:txBody>
          <a:bodyPr wrap="none" lIns="0" tIns="0" rIns="0" bIns="0" rtlCol="0" anchor="t"/>
          <a:lstStyle/>
          <a:p>
            <a:pPr marL="0" indent="0" algn="ctr">
              <a:lnSpc>
                <a:spcPts val="205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Training Data</a:t>
            </a:r>
            <a:endParaRPr lang="en-US" sz="1650" dirty="0"/>
          </a:p>
        </p:txBody>
      </p:sp>
      <p:sp>
        <p:nvSpPr>
          <p:cNvPr id="15" name="Text 13"/>
          <p:cNvSpPr/>
          <p:nvPr/>
        </p:nvSpPr>
        <p:spPr>
          <a:xfrm>
            <a:off x="7400806" y="5192673"/>
            <a:ext cx="6471285" cy="238363"/>
          </a:xfrm>
          <a:prstGeom prst="rect">
            <a:avLst/>
          </a:prstGeom>
          <a:noFill/>
          <a:ln/>
        </p:spPr>
        <p:txBody>
          <a:bodyPr wrap="none" lIns="0" tIns="0" rIns="0" bIns="0" rtlCol="0" anchor="t"/>
          <a:lstStyle/>
          <a:p>
            <a:pPr marL="0" indent="0" algn="ctr">
              <a:lnSpc>
                <a:spcPts val="1850"/>
              </a:lnSpc>
              <a:buNone/>
            </a:pPr>
            <a:r>
              <a:rPr lang="en-US" sz="1250" dirty="0">
                <a:solidFill>
                  <a:srgbClr val="384653"/>
                </a:solidFill>
                <a:latin typeface="Montserrat" pitchFamily="34" charset="0"/>
                <a:ea typeface="Montserrat" pitchFamily="34" charset="-122"/>
                <a:cs typeface="Montserrat" pitchFamily="34" charset="-120"/>
              </a:rPr>
              <a:t>Used for model development</a:t>
            </a:r>
            <a:endParaRPr lang="en-US" sz="1250" dirty="0"/>
          </a:p>
        </p:txBody>
      </p:sp>
      <p:sp>
        <p:nvSpPr>
          <p:cNvPr id="16" name="Text 14"/>
          <p:cNvSpPr/>
          <p:nvPr/>
        </p:nvSpPr>
        <p:spPr>
          <a:xfrm>
            <a:off x="758309" y="5722025"/>
            <a:ext cx="2120265" cy="265033"/>
          </a:xfrm>
          <a:prstGeom prst="rect">
            <a:avLst/>
          </a:prstGeom>
          <a:noFill/>
          <a:ln/>
        </p:spPr>
        <p:txBody>
          <a:bodyPr wrap="none" lIns="0" tIns="0" rIns="0" bIns="0" rtlCol="0" anchor="t"/>
          <a:lstStyle/>
          <a:p>
            <a:pPr marL="0" indent="0" algn="l">
              <a:lnSpc>
                <a:spcPts val="2050"/>
              </a:lnSpc>
              <a:buNone/>
            </a:pPr>
            <a:r>
              <a:rPr lang="en-US" sz="1650" b="1" dirty="0">
                <a:solidFill>
                  <a:srgbClr val="2E3C4E"/>
                </a:solidFill>
                <a:latin typeface="Calibri Light" panose="020F0302020204030204" pitchFamily="34" charset="0"/>
                <a:ea typeface="Barlow Bold" pitchFamily="34" charset="-122"/>
                <a:cs typeface="Barlow Bold" pitchFamily="34" charset="-120"/>
              </a:rPr>
              <a:t>Data Specifications</a:t>
            </a:r>
            <a:endParaRPr lang="en-US" sz="1650" dirty="0"/>
          </a:p>
        </p:txBody>
      </p:sp>
      <p:sp>
        <p:nvSpPr>
          <p:cNvPr id="17" name="Text 15"/>
          <p:cNvSpPr/>
          <p:nvPr/>
        </p:nvSpPr>
        <p:spPr>
          <a:xfrm>
            <a:off x="758309" y="6123980"/>
            <a:ext cx="6360319" cy="1097042"/>
          </a:xfrm>
          <a:prstGeom prst="rect">
            <a:avLst/>
          </a:prstGeom>
          <a:noFill/>
          <a:ln/>
        </p:spPr>
        <p:txBody>
          <a:bodyPr wrap="square" lIns="0" tIns="0" rIns="0" bIns="0" rtlCol="0" anchor="t"/>
          <a:lstStyle/>
          <a:p>
            <a:pPr marL="342900" indent="-342900" algn="l">
              <a:lnSpc>
                <a:spcPts val="1850"/>
              </a:lnSpc>
              <a:buSzPct val="100000"/>
              <a:buChar char="•"/>
            </a:pPr>
            <a:r>
              <a:rPr lang="en-US" sz="1250" dirty="0">
                <a:solidFill>
                  <a:srgbClr val="384653"/>
                </a:solidFill>
                <a:latin typeface="Montserrat" pitchFamily="34" charset="0"/>
                <a:ea typeface="Montserrat" pitchFamily="34" charset="-122"/>
                <a:cs typeface="Montserrat" pitchFamily="34" charset="-120"/>
              </a:rPr>
              <a:t>Target variable: Binary classification (0 = No Accident, 1 = Accident)</a:t>
            </a:r>
            <a:endParaRPr lang="en-US" sz="1250" dirty="0"/>
          </a:p>
          <a:p>
            <a:pPr marL="342900" indent="-342900" algn="l">
              <a:lnSpc>
                <a:spcPts val="1850"/>
              </a:lnSpc>
              <a:buSzPct val="100000"/>
              <a:buChar char="•"/>
            </a:pPr>
            <a:r>
              <a:rPr lang="en-US" sz="1250" dirty="0">
                <a:solidFill>
                  <a:srgbClr val="384653"/>
                </a:solidFill>
                <a:latin typeface="Montserrat" pitchFamily="34" charset="0"/>
                <a:ea typeface="Montserrat" pitchFamily="34" charset="-122"/>
                <a:cs typeface="Montserrat" pitchFamily="34" charset="-120"/>
              </a:rPr>
              <a:t>Format: CSV/Excel compatible</a:t>
            </a:r>
            <a:endParaRPr lang="en-US" sz="1250" dirty="0"/>
          </a:p>
          <a:p>
            <a:pPr marL="342900" indent="-342900" algn="l">
              <a:lnSpc>
                <a:spcPts val="1850"/>
              </a:lnSpc>
              <a:buSzPct val="100000"/>
              <a:buChar char="•"/>
            </a:pPr>
            <a:r>
              <a:rPr lang="en-US" sz="1250" dirty="0">
                <a:solidFill>
                  <a:srgbClr val="384653"/>
                </a:solidFill>
                <a:latin typeface="Montserrat" pitchFamily="34" charset="0"/>
                <a:ea typeface="Montserrat" pitchFamily="34" charset="-122"/>
                <a:cs typeface="Montserrat" pitchFamily="34" charset="-120"/>
              </a:rPr>
              <a:t>Data split: 80% training, 20% testing</a:t>
            </a:r>
            <a:endParaRPr lang="en-US" sz="1250" dirty="0"/>
          </a:p>
          <a:p>
            <a:pPr marL="342900" indent="-342900" algn="l">
              <a:lnSpc>
                <a:spcPts val="1850"/>
              </a:lnSpc>
              <a:buSzPct val="100000"/>
              <a:buChar char="•"/>
            </a:pPr>
            <a:r>
              <a:rPr lang="en-US" sz="1250" dirty="0">
                <a:solidFill>
                  <a:srgbClr val="384653"/>
                </a:solidFill>
                <a:latin typeface="Montserrat" pitchFamily="34" charset="0"/>
                <a:ea typeface="Montserrat" pitchFamily="34" charset="-122"/>
                <a:cs typeface="Montserrat" pitchFamily="34" charset="-120"/>
              </a:rPr>
              <a:t>Quality: Complete dataset with no missing values</a:t>
            </a:r>
            <a:endParaRPr lang="en-US" sz="1250" dirty="0"/>
          </a:p>
        </p:txBody>
      </p:sp>
      <p:sp>
        <p:nvSpPr>
          <p:cNvPr id="18" name="Text 16"/>
          <p:cNvSpPr/>
          <p:nvPr/>
        </p:nvSpPr>
        <p:spPr>
          <a:xfrm>
            <a:off x="7519392" y="5722025"/>
            <a:ext cx="2120265" cy="265033"/>
          </a:xfrm>
          <a:prstGeom prst="rect">
            <a:avLst/>
          </a:prstGeom>
          <a:noFill/>
          <a:ln/>
        </p:spPr>
        <p:txBody>
          <a:bodyPr wrap="none" lIns="0" tIns="0" rIns="0" bIns="0" rtlCol="0" anchor="t"/>
          <a:lstStyle/>
          <a:p>
            <a:pPr marL="0" indent="0" algn="l">
              <a:lnSpc>
                <a:spcPts val="2050"/>
              </a:lnSpc>
              <a:buNone/>
            </a:pPr>
            <a:r>
              <a:rPr lang="en-US" sz="1650" b="1" dirty="0">
                <a:solidFill>
                  <a:srgbClr val="2E3C4E"/>
                </a:solidFill>
                <a:latin typeface="Calibri Light" panose="020F0302020204030204" pitchFamily="34" charset="0"/>
                <a:ea typeface="Barlow Bold" pitchFamily="34" charset="-122"/>
                <a:cs typeface="Barlow Bold" pitchFamily="34" charset="-120"/>
              </a:rPr>
              <a:t>Classification System</a:t>
            </a:r>
            <a:endParaRPr lang="en-US" sz="1650" dirty="0"/>
          </a:p>
        </p:txBody>
      </p:sp>
      <p:sp>
        <p:nvSpPr>
          <p:cNvPr id="19" name="Text 17"/>
          <p:cNvSpPr/>
          <p:nvPr/>
        </p:nvSpPr>
        <p:spPr>
          <a:xfrm>
            <a:off x="7519392" y="6123980"/>
            <a:ext cx="6360319" cy="715089"/>
          </a:xfrm>
          <a:prstGeom prst="rect">
            <a:avLst/>
          </a:prstGeom>
          <a:noFill/>
          <a:ln/>
        </p:spPr>
        <p:txBody>
          <a:bodyPr wrap="square" lIns="0" tIns="0" rIns="0" bIns="0" rtlCol="0" anchor="t"/>
          <a:lstStyle/>
          <a:p>
            <a:pPr marL="0" indent="0" algn="l">
              <a:lnSpc>
                <a:spcPts val="1850"/>
              </a:lnSpc>
              <a:buNone/>
            </a:pPr>
            <a:r>
              <a:rPr lang="en-US" sz="1250" dirty="0">
                <a:solidFill>
                  <a:srgbClr val="384653"/>
                </a:solidFill>
                <a:latin typeface="Montserrat" pitchFamily="34" charset="0"/>
                <a:ea typeface="Montserrat" pitchFamily="34" charset="-122"/>
                <a:cs typeface="Montserrat" pitchFamily="34" charset="-120"/>
              </a:rPr>
              <a:t>The target variable enables binary classification of accident occurrence, allowing models to learn patterns that distinguish between safe and hazardous work conditions.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1000006"/>
            <a:ext cx="4489966" cy="561142"/>
          </a:xfrm>
          <a:prstGeom prst="rect">
            <a:avLst/>
          </a:prstGeom>
          <a:noFill/>
          <a:ln/>
        </p:spPr>
        <p:txBody>
          <a:bodyPr wrap="none" lIns="0" tIns="0" rIns="0" bIns="0" rtlCol="0" anchor="t"/>
          <a:lstStyle/>
          <a:p>
            <a:pPr marL="0" indent="0" algn="l">
              <a:lnSpc>
                <a:spcPts val="4400"/>
              </a:lnSpc>
              <a:buNone/>
            </a:pPr>
            <a:r>
              <a:rPr lang="en-US" sz="3500" b="1" dirty="0">
                <a:solidFill>
                  <a:srgbClr val="2E3C4E"/>
                </a:solidFill>
                <a:latin typeface="Calibri Light" panose="020F0302020204030204" pitchFamily="34" charset="0"/>
                <a:ea typeface="Barlow Bold" pitchFamily="34" charset="-122"/>
                <a:cs typeface="Barlow Bold" pitchFamily="34" charset="-120"/>
              </a:rPr>
              <a:t>Dataset Features</a:t>
            </a:r>
            <a:endParaRPr lang="en-US" sz="3500" dirty="0"/>
          </a:p>
        </p:txBody>
      </p:sp>
      <p:sp>
        <p:nvSpPr>
          <p:cNvPr id="3" name="Text 1"/>
          <p:cNvSpPr/>
          <p:nvPr/>
        </p:nvSpPr>
        <p:spPr>
          <a:xfrm>
            <a:off x="758309" y="1868210"/>
            <a:ext cx="13113782" cy="518636"/>
          </a:xfrm>
          <a:prstGeom prst="rect">
            <a:avLst/>
          </a:prstGeom>
          <a:noFill/>
          <a:ln/>
        </p:spPr>
        <p:txBody>
          <a:bodyPr wrap="squar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Eight safety-related features capture worker, equipment, and environmental factors that contribute to workplace accident risk. Each feature represents measurable conditions that safety managers can monitor and control.</a:t>
            </a:r>
            <a:endParaRPr lang="en-US" sz="1300" dirty="0"/>
          </a:p>
        </p:txBody>
      </p:sp>
      <p:sp>
        <p:nvSpPr>
          <p:cNvPr id="4" name="Shape 2"/>
          <p:cNvSpPr/>
          <p:nvPr/>
        </p:nvSpPr>
        <p:spPr>
          <a:xfrm>
            <a:off x="758309" y="2559487"/>
            <a:ext cx="13113782" cy="4670108"/>
          </a:xfrm>
          <a:prstGeom prst="roundRect">
            <a:avLst>
              <a:gd name="adj" fmla="val 5480"/>
            </a:avLst>
          </a:prstGeom>
          <a:noFill/>
          <a:ln w="7620">
            <a:solidFill>
              <a:srgbClr val="000000">
                <a:alpha val="8000"/>
              </a:srgbClr>
            </a:solidFill>
            <a:prstDash val="solid"/>
          </a:ln>
        </p:spPr>
      </p:sp>
      <p:sp>
        <p:nvSpPr>
          <p:cNvPr id="5" name="Text 3"/>
          <p:cNvSpPr/>
          <p:nvPr/>
        </p:nvSpPr>
        <p:spPr>
          <a:xfrm>
            <a:off x="936784" y="2666762"/>
            <a:ext cx="2929533" cy="259318"/>
          </a:xfrm>
          <a:prstGeom prst="rect">
            <a:avLst/>
          </a:prstGeom>
          <a:noFill/>
          <a:ln/>
        </p:spPr>
        <p:txBody>
          <a:bodyPr wrap="none" lIns="0" tIns="0" rIns="0" bIns="0" rtlCol="0" anchor="t"/>
          <a:lstStyle/>
          <a:p>
            <a:pPr marL="0" indent="0" algn="l">
              <a:lnSpc>
                <a:spcPts val="2000"/>
              </a:lnSpc>
              <a:buNone/>
            </a:pPr>
            <a:r>
              <a:rPr lang="en-US" sz="1300" b="1" dirty="0">
                <a:solidFill>
                  <a:srgbClr val="384653"/>
                </a:solidFill>
                <a:latin typeface="Montserrat" pitchFamily="34" charset="0"/>
                <a:ea typeface="Montserrat" pitchFamily="34" charset="-122"/>
                <a:cs typeface="Montserrat" pitchFamily="34" charset="-120"/>
              </a:rPr>
              <a:t>Feature</a:t>
            </a:r>
            <a:endParaRPr lang="en-US" sz="1300" dirty="0"/>
          </a:p>
        </p:txBody>
      </p:sp>
      <p:sp>
        <p:nvSpPr>
          <p:cNvPr id="6" name="Text 4"/>
          <p:cNvSpPr/>
          <p:nvPr/>
        </p:nvSpPr>
        <p:spPr>
          <a:xfrm>
            <a:off x="4215170" y="2666762"/>
            <a:ext cx="2925723" cy="259318"/>
          </a:xfrm>
          <a:prstGeom prst="rect">
            <a:avLst/>
          </a:prstGeom>
          <a:noFill/>
          <a:ln/>
        </p:spPr>
        <p:txBody>
          <a:bodyPr wrap="none" lIns="0" tIns="0" rIns="0" bIns="0" rtlCol="0" anchor="t"/>
          <a:lstStyle/>
          <a:p>
            <a:pPr marL="0" indent="0" algn="l">
              <a:lnSpc>
                <a:spcPts val="2000"/>
              </a:lnSpc>
              <a:buNone/>
            </a:pPr>
            <a:r>
              <a:rPr lang="en-US" sz="1300" b="1" dirty="0">
                <a:solidFill>
                  <a:srgbClr val="384653"/>
                </a:solidFill>
                <a:latin typeface="Montserrat" pitchFamily="34" charset="0"/>
                <a:ea typeface="Montserrat" pitchFamily="34" charset="-122"/>
                <a:cs typeface="Montserrat" pitchFamily="34" charset="-120"/>
              </a:rPr>
              <a:t>Description</a:t>
            </a:r>
            <a:endParaRPr lang="en-US" sz="1300" dirty="0"/>
          </a:p>
        </p:txBody>
      </p:sp>
      <p:sp>
        <p:nvSpPr>
          <p:cNvPr id="7" name="Text 5"/>
          <p:cNvSpPr/>
          <p:nvPr/>
        </p:nvSpPr>
        <p:spPr>
          <a:xfrm>
            <a:off x="7489746" y="2666762"/>
            <a:ext cx="2925723" cy="259318"/>
          </a:xfrm>
          <a:prstGeom prst="rect">
            <a:avLst/>
          </a:prstGeom>
          <a:noFill/>
          <a:ln/>
        </p:spPr>
        <p:txBody>
          <a:bodyPr wrap="none" lIns="0" tIns="0" rIns="0" bIns="0" rtlCol="0" anchor="t"/>
          <a:lstStyle/>
          <a:p>
            <a:pPr marL="0" indent="0" algn="l">
              <a:lnSpc>
                <a:spcPts val="2000"/>
              </a:lnSpc>
              <a:buNone/>
            </a:pPr>
            <a:r>
              <a:rPr lang="en-US" sz="1300" b="1" dirty="0">
                <a:solidFill>
                  <a:srgbClr val="384653"/>
                </a:solidFill>
                <a:latin typeface="Montserrat" pitchFamily="34" charset="0"/>
                <a:ea typeface="Montserrat" pitchFamily="34" charset="-122"/>
                <a:cs typeface="Montserrat" pitchFamily="34" charset="-120"/>
              </a:rPr>
              <a:t>Range</a:t>
            </a:r>
            <a:endParaRPr lang="en-US" sz="1300" dirty="0"/>
          </a:p>
        </p:txBody>
      </p:sp>
      <p:sp>
        <p:nvSpPr>
          <p:cNvPr id="8" name="Text 6"/>
          <p:cNvSpPr/>
          <p:nvPr/>
        </p:nvSpPr>
        <p:spPr>
          <a:xfrm>
            <a:off x="10764322" y="2666762"/>
            <a:ext cx="2929533" cy="259318"/>
          </a:xfrm>
          <a:prstGeom prst="rect">
            <a:avLst/>
          </a:prstGeom>
          <a:noFill/>
          <a:ln/>
        </p:spPr>
        <p:txBody>
          <a:bodyPr wrap="none" lIns="0" tIns="0" rIns="0" bIns="0" rtlCol="0" anchor="t"/>
          <a:lstStyle/>
          <a:p>
            <a:pPr marL="0" indent="0" algn="l">
              <a:lnSpc>
                <a:spcPts val="2000"/>
              </a:lnSpc>
              <a:buNone/>
            </a:pPr>
            <a:r>
              <a:rPr lang="en-US" sz="1300" b="1" dirty="0">
                <a:solidFill>
                  <a:srgbClr val="384653"/>
                </a:solidFill>
                <a:latin typeface="Montserrat" pitchFamily="34" charset="0"/>
                <a:ea typeface="Montserrat" pitchFamily="34" charset="-122"/>
                <a:cs typeface="Montserrat" pitchFamily="34" charset="-120"/>
              </a:rPr>
              <a:t>Type</a:t>
            </a:r>
            <a:endParaRPr lang="en-US" sz="1300" dirty="0"/>
          </a:p>
        </p:txBody>
      </p:sp>
      <p:sp>
        <p:nvSpPr>
          <p:cNvPr id="9" name="Text 7"/>
          <p:cNvSpPr/>
          <p:nvPr/>
        </p:nvSpPr>
        <p:spPr>
          <a:xfrm>
            <a:off x="936784" y="3133011"/>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shift_hours</a:t>
            </a:r>
            <a:endParaRPr lang="en-US" sz="1300" dirty="0"/>
          </a:p>
        </p:txBody>
      </p:sp>
      <p:sp>
        <p:nvSpPr>
          <p:cNvPr id="10" name="Text 8"/>
          <p:cNvSpPr/>
          <p:nvPr/>
        </p:nvSpPr>
        <p:spPr>
          <a:xfrm>
            <a:off x="4215170" y="3133011"/>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Work shift duration</a:t>
            </a:r>
            <a:endParaRPr lang="en-US" sz="1300" dirty="0"/>
          </a:p>
        </p:txBody>
      </p:sp>
      <p:sp>
        <p:nvSpPr>
          <p:cNvPr id="11" name="Text 9"/>
          <p:cNvSpPr/>
          <p:nvPr/>
        </p:nvSpPr>
        <p:spPr>
          <a:xfrm>
            <a:off x="7489746" y="3133011"/>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6-12 hours</a:t>
            </a:r>
            <a:endParaRPr lang="en-US" sz="1300" dirty="0"/>
          </a:p>
        </p:txBody>
      </p:sp>
      <p:sp>
        <p:nvSpPr>
          <p:cNvPr id="12" name="Text 10"/>
          <p:cNvSpPr/>
          <p:nvPr/>
        </p:nvSpPr>
        <p:spPr>
          <a:xfrm>
            <a:off x="10764322" y="3133011"/>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13" name="Text 11"/>
          <p:cNvSpPr/>
          <p:nvPr/>
        </p:nvSpPr>
        <p:spPr>
          <a:xfrm>
            <a:off x="936784" y="3599259"/>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overtime_hours</a:t>
            </a:r>
            <a:endParaRPr lang="en-US" sz="1300" dirty="0"/>
          </a:p>
        </p:txBody>
      </p:sp>
      <p:sp>
        <p:nvSpPr>
          <p:cNvPr id="14" name="Text 12"/>
          <p:cNvSpPr/>
          <p:nvPr/>
        </p:nvSpPr>
        <p:spPr>
          <a:xfrm>
            <a:off x="4215170" y="3599259"/>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Additional overtime worked</a:t>
            </a:r>
            <a:endParaRPr lang="en-US" sz="1300" dirty="0"/>
          </a:p>
        </p:txBody>
      </p:sp>
      <p:sp>
        <p:nvSpPr>
          <p:cNvPr id="15" name="Text 13"/>
          <p:cNvSpPr/>
          <p:nvPr/>
        </p:nvSpPr>
        <p:spPr>
          <a:xfrm>
            <a:off x="7489746" y="3599259"/>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0-4 hours</a:t>
            </a:r>
            <a:endParaRPr lang="en-US" sz="1300" dirty="0"/>
          </a:p>
        </p:txBody>
      </p:sp>
      <p:sp>
        <p:nvSpPr>
          <p:cNvPr id="16" name="Text 14"/>
          <p:cNvSpPr/>
          <p:nvPr/>
        </p:nvSpPr>
        <p:spPr>
          <a:xfrm>
            <a:off x="10764322" y="3599259"/>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17" name="Text 15"/>
          <p:cNvSpPr/>
          <p:nvPr/>
        </p:nvSpPr>
        <p:spPr>
          <a:xfrm>
            <a:off x="936784" y="4065508"/>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worker_experience</a:t>
            </a:r>
            <a:endParaRPr lang="en-US" sz="1300" dirty="0"/>
          </a:p>
        </p:txBody>
      </p:sp>
      <p:sp>
        <p:nvSpPr>
          <p:cNvPr id="18" name="Text 16"/>
          <p:cNvSpPr/>
          <p:nvPr/>
        </p:nvSpPr>
        <p:spPr>
          <a:xfrm>
            <a:off x="4215170" y="4065508"/>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Years of experience</a:t>
            </a:r>
            <a:endParaRPr lang="en-US" sz="1300" dirty="0"/>
          </a:p>
        </p:txBody>
      </p:sp>
      <p:sp>
        <p:nvSpPr>
          <p:cNvPr id="19" name="Text 17"/>
          <p:cNvSpPr/>
          <p:nvPr/>
        </p:nvSpPr>
        <p:spPr>
          <a:xfrm>
            <a:off x="7489746" y="4065508"/>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1-14 years</a:t>
            </a:r>
            <a:endParaRPr lang="en-US" sz="1300" dirty="0"/>
          </a:p>
        </p:txBody>
      </p:sp>
      <p:sp>
        <p:nvSpPr>
          <p:cNvPr id="20" name="Text 18"/>
          <p:cNvSpPr/>
          <p:nvPr/>
        </p:nvSpPr>
        <p:spPr>
          <a:xfrm>
            <a:off x="10764322" y="4065508"/>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21" name="Text 19"/>
          <p:cNvSpPr/>
          <p:nvPr/>
        </p:nvSpPr>
        <p:spPr>
          <a:xfrm>
            <a:off x="936784" y="4531757"/>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equipment_age</a:t>
            </a:r>
            <a:endParaRPr lang="en-US" sz="1300" dirty="0"/>
          </a:p>
        </p:txBody>
      </p:sp>
      <p:sp>
        <p:nvSpPr>
          <p:cNvPr id="22" name="Text 20"/>
          <p:cNvSpPr/>
          <p:nvPr/>
        </p:nvSpPr>
        <p:spPr>
          <a:xfrm>
            <a:off x="4215170" y="4531757"/>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Equipment age</a:t>
            </a:r>
            <a:endParaRPr lang="en-US" sz="1300" dirty="0"/>
          </a:p>
        </p:txBody>
      </p:sp>
      <p:sp>
        <p:nvSpPr>
          <p:cNvPr id="23" name="Text 21"/>
          <p:cNvSpPr/>
          <p:nvPr/>
        </p:nvSpPr>
        <p:spPr>
          <a:xfrm>
            <a:off x="7489746" y="4531757"/>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1-9 years</a:t>
            </a:r>
            <a:endParaRPr lang="en-US" sz="1300" dirty="0"/>
          </a:p>
        </p:txBody>
      </p:sp>
      <p:sp>
        <p:nvSpPr>
          <p:cNvPr id="24" name="Text 22"/>
          <p:cNvSpPr/>
          <p:nvPr/>
        </p:nvSpPr>
        <p:spPr>
          <a:xfrm>
            <a:off x="10764322" y="4531757"/>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25" name="Text 23"/>
          <p:cNvSpPr/>
          <p:nvPr/>
        </p:nvSpPr>
        <p:spPr>
          <a:xfrm>
            <a:off x="936784" y="4998006"/>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maintenance_score</a:t>
            </a:r>
            <a:endParaRPr lang="en-US" sz="1300" dirty="0"/>
          </a:p>
        </p:txBody>
      </p:sp>
      <p:sp>
        <p:nvSpPr>
          <p:cNvPr id="26" name="Text 24"/>
          <p:cNvSpPr/>
          <p:nvPr/>
        </p:nvSpPr>
        <p:spPr>
          <a:xfrm>
            <a:off x="4215170" y="4998006"/>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Maintenance rating</a:t>
            </a:r>
            <a:endParaRPr lang="en-US" sz="1300" dirty="0"/>
          </a:p>
        </p:txBody>
      </p:sp>
      <p:sp>
        <p:nvSpPr>
          <p:cNvPr id="27" name="Text 25"/>
          <p:cNvSpPr/>
          <p:nvPr/>
        </p:nvSpPr>
        <p:spPr>
          <a:xfrm>
            <a:off x="7489746" y="4998006"/>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40-99</a:t>
            </a:r>
            <a:endParaRPr lang="en-US" sz="1300" dirty="0"/>
          </a:p>
        </p:txBody>
      </p:sp>
      <p:sp>
        <p:nvSpPr>
          <p:cNvPr id="28" name="Text 26"/>
          <p:cNvSpPr/>
          <p:nvPr/>
        </p:nvSpPr>
        <p:spPr>
          <a:xfrm>
            <a:off x="10764322" y="4998006"/>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29" name="Text 27"/>
          <p:cNvSpPr/>
          <p:nvPr/>
        </p:nvSpPr>
        <p:spPr>
          <a:xfrm>
            <a:off x="936784" y="5464254"/>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temperature</a:t>
            </a:r>
            <a:endParaRPr lang="en-US" sz="1300" dirty="0"/>
          </a:p>
        </p:txBody>
      </p:sp>
      <p:sp>
        <p:nvSpPr>
          <p:cNvPr id="30" name="Text 28"/>
          <p:cNvSpPr/>
          <p:nvPr/>
        </p:nvSpPr>
        <p:spPr>
          <a:xfrm>
            <a:off x="4215170" y="5464254"/>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Ambient temperature</a:t>
            </a:r>
            <a:endParaRPr lang="en-US" sz="1300" dirty="0"/>
          </a:p>
        </p:txBody>
      </p:sp>
      <p:sp>
        <p:nvSpPr>
          <p:cNvPr id="31" name="Text 29"/>
          <p:cNvSpPr/>
          <p:nvPr/>
        </p:nvSpPr>
        <p:spPr>
          <a:xfrm>
            <a:off x="7489746" y="5464254"/>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20-44°C</a:t>
            </a:r>
            <a:endParaRPr lang="en-US" sz="1300" dirty="0"/>
          </a:p>
        </p:txBody>
      </p:sp>
      <p:sp>
        <p:nvSpPr>
          <p:cNvPr id="32" name="Text 30"/>
          <p:cNvSpPr/>
          <p:nvPr/>
        </p:nvSpPr>
        <p:spPr>
          <a:xfrm>
            <a:off x="10764322" y="5464254"/>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33" name="Text 31"/>
          <p:cNvSpPr/>
          <p:nvPr/>
        </p:nvSpPr>
        <p:spPr>
          <a:xfrm>
            <a:off x="936784" y="5930503"/>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humidity</a:t>
            </a:r>
            <a:endParaRPr lang="en-US" sz="1300" dirty="0"/>
          </a:p>
        </p:txBody>
      </p:sp>
      <p:sp>
        <p:nvSpPr>
          <p:cNvPr id="34" name="Text 32"/>
          <p:cNvSpPr/>
          <p:nvPr/>
        </p:nvSpPr>
        <p:spPr>
          <a:xfrm>
            <a:off x="4215170" y="5930503"/>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Relative humidity</a:t>
            </a:r>
            <a:endParaRPr lang="en-US" sz="1300" dirty="0"/>
          </a:p>
        </p:txBody>
      </p:sp>
      <p:sp>
        <p:nvSpPr>
          <p:cNvPr id="35" name="Text 33"/>
          <p:cNvSpPr/>
          <p:nvPr/>
        </p:nvSpPr>
        <p:spPr>
          <a:xfrm>
            <a:off x="7489746" y="5930503"/>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30-89%</a:t>
            </a:r>
            <a:endParaRPr lang="en-US" sz="1300" dirty="0"/>
          </a:p>
        </p:txBody>
      </p:sp>
      <p:sp>
        <p:nvSpPr>
          <p:cNvPr id="36" name="Text 34"/>
          <p:cNvSpPr/>
          <p:nvPr/>
        </p:nvSpPr>
        <p:spPr>
          <a:xfrm>
            <a:off x="10764322" y="5930503"/>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37" name="Text 35"/>
          <p:cNvSpPr/>
          <p:nvPr/>
        </p:nvSpPr>
        <p:spPr>
          <a:xfrm>
            <a:off x="936784" y="6396752"/>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inspection_score</a:t>
            </a:r>
            <a:endParaRPr lang="en-US" sz="1300" dirty="0"/>
          </a:p>
        </p:txBody>
      </p:sp>
      <p:sp>
        <p:nvSpPr>
          <p:cNvPr id="38" name="Text 36"/>
          <p:cNvSpPr/>
          <p:nvPr/>
        </p:nvSpPr>
        <p:spPr>
          <a:xfrm>
            <a:off x="4215170" y="6396752"/>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Safety inspection quality</a:t>
            </a:r>
            <a:endParaRPr lang="en-US" sz="1300" dirty="0"/>
          </a:p>
        </p:txBody>
      </p:sp>
      <p:sp>
        <p:nvSpPr>
          <p:cNvPr id="39" name="Text 37"/>
          <p:cNvSpPr/>
          <p:nvPr/>
        </p:nvSpPr>
        <p:spPr>
          <a:xfrm>
            <a:off x="7489746" y="6396752"/>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50-99</a:t>
            </a:r>
            <a:endParaRPr lang="en-US" sz="1300" dirty="0"/>
          </a:p>
        </p:txBody>
      </p:sp>
      <p:sp>
        <p:nvSpPr>
          <p:cNvPr id="40" name="Text 38"/>
          <p:cNvSpPr/>
          <p:nvPr/>
        </p:nvSpPr>
        <p:spPr>
          <a:xfrm>
            <a:off x="10764322" y="6396752"/>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Numeric</a:t>
            </a:r>
            <a:endParaRPr lang="en-US" sz="1300" dirty="0"/>
          </a:p>
        </p:txBody>
      </p:sp>
      <p:sp>
        <p:nvSpPr>
          <p:cNvPr id="41" name="Text 39"/>
          <p:cNvSpPr/>
          <p:nvPr/>
        </p:nvSpPr>
        <p:spPr>
          <a:xfrm>
            <a:off x="936784" y="6863001"/>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accident</a:t>
            </a:r>
            <a:endParaRPr lang="en-US" sz="1300" dirty="0"/>
          </a:p>
        </p:txBody>
      </p:sp>
      <p:sp>
        <p:nvSpPr>
          <p:cNvPr id="42" name="Text 40"/>
          <p:cNvSpPr/>
          <p:nvPr/>
        </p:nvSpPr>
        <p:spPr>
          <a:xfrm>
            <a:off x="4215170" y="6863001"/>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Target variable</a:t>
            </a:r>
            <a:endParaRPr lang="en-US" sz="1300" dirty="0"/>
          </a:p>
        </p:txBody>
      </p:sp>
      <p:sp>
        <p:nvSpPr>
          <p:cNvPr id="43" name="Text 41"/>
          <p:cNvSpPr/>
          <p:nvPr/>
        </p:nvSpPr>
        <p:spPr>
          <a:xfrm>
            <a:off x="7489746" y="6863001"/>
            <a:ext cx="292572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0 or 1</a:t>
            </a:r>
            <a:endParaRPr lang="en-US" sz="1300" dirty="0"/>
          </a:p>
        </p:txBody>
      </p:sp>
      <p:sp>
        <p:nvSpPr>
          <p:cNvPr id="44" name="Text 42"/>
          <p:cNvSpPr/>
          <p:nvPr/>
        </p:nvSpPr>
        <p:spPr>
          <a:xfrm>
            <a:off x="10764322" y="6863001"/>
            <a:ext cx="2929533" cy="259318"/>
          </a:xfrm>
          <a:prstGeom prst="rect">
            <a:avLst/>
          </a:prstGeom>
          <a:noFill/>
          <a:ln/>
        </p:spPr>
        <p:txBody>
          <a:bodyPr wrap="none" lIns="0" tIns="0" rIns="0" bIns="0" rtlCol="0" anchor="t"/>
          <a:lstStyle/>
          <a:p>
            <a:pPr marL="0" indent="0" algn="l">
              <a:lnSpc>
                <a:spcPts val="2000"/>
              </a:lnSpc>
              <a:buNone/>
            </a:pPr>
            <a:r>
              <a:rPr lang="en-US" sz="1300" dirty="0">
                <a:solidFill>
                  <a:srgbClr val="384653"/>
                </a:solidFill>
                <a:latin typeface="Montserrat" pitchFamily="34" charset="0"/>
                <a:ea typeface="Montserrat" pitchFamily="34" charset="-122"/>
                <a:cs typeface="Montserrat" pitchFamily="34" charset="-120"/>
              </a:rPr>
              <a:t>Binary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120973"/>
            <a:ext cx="5179814" cy="467678"/>
          </a:xfrm>
          <a:prstGeom prst="rect">
            <a:avLst/>
          </a:prstGeom>
          <a:noFill/>
          <a:ln/>
        </p:spPr>
        <p:txBody>
          <a:bodyPr wrap="none" lIns="0" tIns="0" rIns="0" bIns="0" rtlCol="0" anchor="t"/>
          <a:lstStyle/>
          <a:p>
            <a:pPr marL="0" indent="0" algn="l">
              <a:lnSpc>
                <a:spcPts val="3650"/>
              </a:lnSpc>
              <a:buNone/>
            </a:pPr>
            <a:r>
              <a:rPr lang="en-US" sz="2900" b="1" dirty="0">
                <a:solidFill>
                  <a:srgbClr val="2E3C4E"/>
                </a:solidFill>
                <a:latin typeface="Calibri Light" panose="020F0302020204030204" pitchFamily="34" charset="0"/>
                <a:ea typeface="Barlow Bold" pitchFamily="34" charset="-122"/>
                <a:cs typeface="Barlow Bold" pitchFamily="34" charset="-120"/>
              </a:rPr>
              <a:t>Exploratory Data Analysis Code</a:t>
            </a:r>
            <a:endParaRPr lang="en-US" sz="2900" dirty="0"/>
          </a:p>
        </p:txBody>
      </p:sp>
      <p:sp>
        <p:nvSpPr>
          <p:cNvPr id="3" name="Text 1"/>
          <p:cNvSpPr/>
          <p:nvPr/>
        </p:nvSpPr>
        <p:spPr>
          <a:xfrm>
            <a:off x="758309" y="1801892"/>
            <a:ext cx="13113782" cy="405527"/>
          </a:xfrm>
          <a:prstGeom prst="rect">
            <a:avLst/>
          </a:prstGeom>
          <a:noFill/>
          <a:ln/>
        </p:spPr>
        <p:txBody>
          <a:bodyPr wrap="square" lIns="0" tIns="0" rIns="0" bIns="0" rtlCol="0" anchor="t"/>
          <a:lstStyle/>
          <a:p>
            <a:pPr marL="0" indent="0" algn="l">
              <a:lnSpc>
                <a:spcPts val="1550"/>
              </a:lnSpc>
              <a:buNone/>
            </a:pPr>
            <a:r>
              <a:rPr lang="en-US" sz="1100" dirty="0">
                <a:solidFill>
                  <a:srgbClr val="384653"/>
                </a:solidFill>
                <a:latin typeface="Montserrat" pitchFamily="34" charset="0"/>
                <a:ea typeface="Montserrat" pitchFamily="34" charset="-122"/>
                <a:cs typeface="Montserrat" pitchFamily="34" charset="-120"/>
              </a:rPr>
              <a:t>The EDA script generates visualizations to understand feature distributions and correlations. This code is implemented in </a:t>
            </a:r>
            <a:r>
              <a:rPr lang="en-US" sz="1100" dirty="0">
                <a:solidFill>
                  <a:srgbClr val="384653"/>
                </a:solidFill>
                <a:highlight>
                  <a:srgbClr val="F2F2F2"/>
                </a:highlight>
                <a:latin typeface="Consolas" pitchFamily="34" charset="0"/>
                <a:ea typeface="Consolas" pitchFamily="34" charset="-122"/>
                <a:cs typeface="Consolas" pitchFamily="34" charset="-120"/>
              </a:rPr>
              <a:t>evaluation/eda.py</a:t>
            </a:r>
            <a:r>
              <a:rPr lang="en-US" sz="1100" dirty="0">
                <a:solidFill>
                  <a:srgbClr val="384653"/>
                </a:solidFill>
                <a:latin typeface="Montserrat" pitchFamily="34" charset="0"/>
                <a:ea typeface="Montserrat" pitchFamily="34" charset="-122"/>
                <a:cs typeface="Montserrat" pitchFamily="34" charset="-120"/>
              </a:rPr>
              <a:t> and serves as the foundation for data quality assessment.</a:t>
            </a:r>
            <a:endParaRPr lang="en-US" sz="1100" dirty="0"/>
          </a:p>
        </p:txBody>
      </p:sp>
      <p:sp>
        <p:nvSpPr>
          <p:cNvPr id="4" name="Shape 2"/>
          <p:cNvSpPr/>
          <p:nvPr/>
        </p:nvSpPr>
        <p:spPr>
          <a:xfrm>
            <a:off x="758309" y="2327315"/>
            <a:ext cx="13113782" cy="4263390"/>
          </a:xfrm>
          <a:prstGeom prst="roundRect">
            <a:avLst>
              <a:gd name="adj" fmla="val 5003"/>
            </a:avLst>
          </a:prstGeom>
          <a:solidFill>
            <a:srgbClr val="F2F2F2"/>
          </a:solidFill>
          <a:ln/>
        </p:spPr>
      </p:sp>
      <p:sp>
        <p:nvSpPr>
          <p:cNvPr id="5" name="Shape 3"/>
          <p:cNvSpPr/>
          <p:nvPr/>
        </p:nvSpPr>
        <p:spPr>
          <a:xfrm>
            <a:off x="751284" y="2327315"/>
            <a:ext cx="13127831" cy="4263390"/>
          </a:xfrm>
          <a:prstGeom prst="roundRect">
            <a:avLst>
              <a:gd name="adj" fmla="val 500"/>
            </a:avLst>
          </a:prstGeom>
          <a:solidFill>
            <a:srgbClr val="F2F2F2"/>
          </a:solidFill>
          <a:ln/>
        </p:spPr>
      </p:sp>
      <p:sp>
        <p:nvSpPr>
          <p:cNvPr id="6" name="Text 4"/>
          <p:cNvSpPr/>
          <p:nvPr/>
        </p:nvSpPr>
        <p:spPr>
          <a:xfrm>
            <a:off x="928926" y="2469475"/>
            <a:ext cx="12772549" cy="3979069"/>
          </a:xfrm>
          <a:prstGeom prst="rect">
            <a:avLst/>
          </a:prstGeom>
          <a:noFill/>
          <a:ln/>
        </p:spPr>
        <p:txBody>
          <a:bodyPr wrap="square" lIns="0" tIns="0" rIns="0" bIns="0" rtlCol="0" anchor="t"/>
          <a:lstStyle/>
          <a:p>
            <a:pPr marL="0" indent="0" algn="l">
              <a:lnSpc>
                <a:spcPts val="1550"/>
              </a:lnSpc>
              <a:buNone/>
            </a:pPr>
            <a:r>
              <a:rPr lang="en-US" sz="1100" dirty="0">
                <a:solidFill>
                  <a:srgbClr val="384653"/>
                </a:solidFill>
                <a:latin typeface="Consolas" pitchFamily="34" charset="0"/>
                <a:ea typeface="Consolas" pitchFamily="34" charset="-122"/>
                <a:cs typeface="Consolas" pitchFamily="34" charset="-120"/>
              </a:rPr>
              <a:t>File: evaluation/eda.py
import matplotlib.pyplot as plt
import seaborn as sns
def perform_eda(df, title="EDA"):
    print(f"\n[INFO] Performing {title}...")
    # Generate histograms for all features
    df.hist(figsize=(10, 8))
    plt.suptitle(title)
    plt.tight_layout()
    plt.show()
    # Generate correlation matrix heatmap
    plt.figure(figsize=(8, 6))
    sns.heatmap(df.corr(), annot=True, cmap="coolwarm")
    plt.title(f"{title} - Correlation Matrix")
    plt.show()
</a:t>
            </a:r>
            <a:endParaRPr lang="en-US" sz="1100" dirty="0"/>
          </a:p>
        </p:txBody>
      </p:sp>
      <p:sp>
        <p:nvSpPr>
          <p:cNvPr id="7" name="Text 5"/>
          <p:cNvSpPr/>
          <p:nvPr/>
        </p:nvSpPr>
        <p:spPr>
          <a:xfrm>
            <a:off x="758309" y="6710601"/>
            <a:ext cx="13113782" cy="397907"/>
          </a:xfrm>
          <a:prstGeom prst="rect">
            <a:avLst/>
          </a:prstGeom>
          <a:noFill/>
          <a:ln/>
        </p:spPr>
        <p:txBody>
          <a:bodyPr wrap="square" lIns="0" tIns="0" rIns="0" bIns="0" rtlCol="0" anchor="t"/>
          <a:lstStyle/>
          <a:p>
            <a:pPr marL="0" indent="0" algn="l">
              <a:lnSpc>
                <a:spcPts val="1550"/>
              </a:lnSpc>
              <a:buNone/>
            </a:pPr>
            <a:r>
              <a:rPr lang="en-US" sz="1100" dirty="0">
                <a:solidFill>
                  <a:srgbClr val="384653"/>
                </a:solidFill>
                <a:latin typeface="Montserrat" pitchFamily="34" charset="0"/>
                <a:ea typeface="Montserrat" pitchFamily="34" charset="-122"/>
                <a:cs typeface="Montserrat" pitchFamily="34" charset="-120"/>
              </a:rPr>
              <a:t>This reusable function creates two types of visualizations: feature distribution histograms that reveal data patterns and a correlation matrix heatmap that identifies relationships between variables. The visualizations guide feature engineering decisions and model selection.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067872"/>
            <a:ext cx="7504152"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Calibri Light" panose="020F0302020204030204" pitchFamily="34" charset="0"/>
                <a:ea typeface="Barlow Bold" pitchFamily="34" charset="-122"/>
                <a:cs typeface="Barlow Bold" pitchFamily="34" charset="-120"/>
              </a:rPr>
              <a:t>EDA Output - Distribution Analysis</a:t>
            </a:r>
            <a:endParaRPr lang="en-US" sz="3900" dirty="0"/>
          </a:p>
        </p:txBody>
      </p:sp>
      <p:sp>
        <p:nvSpPr>
          <p:cNvPr id="3" name="Text 1"/>
          <p:cNvSpPr/>
          <p:nvPr/>
        </p:nvSpPr>
        <p:spPr>
          <a:xfrm>
            <a:off x="758309" y="1767126"/>
            <a:ext cx="299335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Calibri Light" panose="020F0302020204030204" pitchFamily="34" charset="0"/>
                <a:ea typeface="Barlow Bold" pitchFamily="34" charset="-122"/>
                <a:cs typeface="Barlow Bold" pitchFamily="34" charset="-120"/>
              </a:rPr>
              <a:t>Feature Distributions</a:t>
            </a:r>
            <a:endParaRPr lang="en-US" sz="2350" dirty="0"/>
          </a:p>
        </p:txBody>
      </p:sp>
      <p:pic>
        <p:nvPicPr>
          <p:cNvPr id="4" name="Image 0" descr="preencoded.png"/>
          <p:cNvPicPr>
            <a:picLocks noChangeAspect="1"/>
          </p:cNvPicPr>
          <p:nvPr/>
        </p:nvPicPr>
        <p:blipFill>
          <a:blip r:embed="rId3"/>
          <a:stretch>
            <a:fillRect/>
          </a:stretch>
        </p:blipFill>
        <p:spPr>
          <a:xfrm>
            <a:off x="758309" y="2526149"/>
            <a:ext cx="94774" cy="94774"/>
          </a:xfrm>
          <a:prstGeom prst="rect">
            <a:avLst/>
          </a:prstGeom>
        </p:spPr>
      </p:pic>
      <p:sp>
        <p:nvSpPr>
          <p:cNvPr id="5" name="Text 2"/>
          <p:cNvSpPr/>
          <p:nvPr/>
        </p:nvSpPr>
        <p:spPr>
          <a:xfrm>
            <a:off x="1042630" y="242554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Shift Hours</a:t>
            </a:r>
            <a:endParaRPr lang="en-US" sz="1950" dirty="0"/>
          </a:p>
        </p:txBody>
      </p:sp>
      <p:sp>
        <p:nvSpPr>
          <p:cNvPr id="6" name="Text 3"/>
          <p:cNvSpPr/>
          <p:nvPr/>
        </p:nvSpPr>
        <p:spPr>
          <a:xfrm>
            <a:off x="1042630" y="2850952"/>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Uniform distribution across 6-12 hour range, representing standard work schedules</a:t>
            </a:r>
            <a:endParaRPr lang="en-US" sz="1450" dirty="0"/>
          </a:p>
        </p:txBody>
      </p:sp>
      <p:pic>
        <p:nvPicPr>
          <p:cNvPr id="7" name="Image 1" descr="preencoded.png"/>
          <p:cNvPicPr>
            <a:picLocks noChangeAspect="1"/>
          </p:cNvPicPr>
          <p:nvPr/>
        </p:nvPicPr>
        <p:blipFill>
          <a:blip r:embed="rId3"/>
          <a:stretch>
            <a:fillRect/>
          </a:stretch>
        </p:blipFill>
        <p:spPr>
          <a:xfrm>
            <a:off x="7433667" y="2526149"/>
            <a:ext cx="94774" cy="94774"/>
          </a:xfrm>
          <a:prstGeom prst="rect">
            <a:avLst/>
          </a:prstGeom>
        </p:spPr>
      </p:pic>
      <p:sp>
        <p:nvSpPr>
          <p:cNvPr id="8" name="Text 4"/>
          <p:cNvSpPr/>
          <p:nvPr/>
        </p:nvSpPr>
        <p:spPr>
          <a:xfrm>
            <a:off x="7717988" y="242554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Overtime Hours</a:t>
            </a:r>
            <a:endParaRPr lang="en-US" sz="1950" dirty="0"/>
          </a:p>
        </p:txBody>
      </p:sp>
      <p:sp>
        <p:nvSpPr>
          <p:cNvPr id="9" name="Text 5"/>
          <p:cNvSpPr/>
          <p:nvPr/>
        </p:nvSpPr>
        <p:spPr>
          <a:xfrm>
            <a:off x="7717988" y="2850952"/>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Most workers have 0-2 hours overtime, with decreasing frequency for longer overtime</a:t>
            </a:r>
            <a:endParaRPr lang="en-US" sz="1450" dirty="0"/>
          </a:p>
        </p:txBody>
      </p:sp>
      <p:pic>
        <p:nvPicPr>
          <p:cNvPr id="10" name="Image 2" descr="preencoded.png"/>
          <p:cNvPicPr>
            <a:picLocks noChangeAspect="1"/>
          </p:cNvPicPr>
          <p:nvPr/>
        </p:nvPicPr>
        <p:blipFill>
          <a:blip r:embed="rId3"/>
          <a:stretch>
            <a:fillRect/>
          </a:stretch>
        </p:blipFill>
        <p:spPr>
          <a:xfrm>
            <a:off x="758309" y="3937159"/>
            <a:ext cx="94774" cy="94774"/>
          </a:xfrm>
          <a:prstGeom prst="rect">
            <a:avLst/>
          </a:prstGeom>
        </p:spPr>
      </p:pic>
      <p:sp>
        <p:nvSpPr>
          <p:cNvPr id="11" name="Text 6"/>
          <p:cNvSpPr/>
          <p:nvPr/>
        </p:nvSpPr>
        <p:spPr>
          <a:xfrm>
            <a:off x="1042630" y="383655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Worker Experience</a:t>
            </a:r>
            <a:endParaRPr lang="en-US" sz="1950" dirty="0"/>
          </a:p>
        </p:txBody>
      </p:sp>
      <p:sp>
        <p:nvSpPr>
          <p:cNvPr id="12" name="Text 7"/>
          <p:cNvSpPr/>
          <p:nvPr/>
        </p:nvSpPr>
        <p:spPr>
          <a:xfrm>
            <a:off x="1042630" y="4261961"/>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Mix of junior (1-5 years) and senior (6-14 years) workers, balanced distribution</a:t>
            </a:r>
            <a:endParaRPr lang="en-US" sz="1450" dirty="0"/>
          </a:p>
        </p:txBody>
      </p:sp>
      <p:pic>
        <p:nvPicPr>
          <p:cNvPr id="13" name="Image 3" descr="preencoded.png"/>
          <p:cNvPicPr>
            <a:picLocks noChangeAspect="1"/>
          </p:cNvPicPr>
          <p:nvPr/>
        </p:nvPicPr>
        <p:blipFill>
          <a:blip r:embed="rId3"/>
          <a:stretch>
            <a:fillRect/>
          </a:stretch>
        </p:blipFill>
        <p:spPr>
          <a:xfrm>
            <a:off x="7433667" y="3937159"/>
            <a:ext cx="94774" cy="94774"/>
          </a:xfrm>
          <a:prstGeom prst="rect">
            <a:avLst/>
          </a:prstGeom>
        </p:spPr>
      </p:pic>
      <p:sp>
        <p:nvSpPr>
          <p:cNvPr id="14" name="Text 8"/>
          <p:cNvSpPr/>
          <p:nvPr/>
        </p:nvSpPr>
        <p:spPr>
          <a:xfrm>
            <a:off x="7717988" y="3836551"/>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Equipment Age</a:t>
            </a:r>
            <a:endParaRPr lang="en-US" sz="1950" dirty="0"/>
          </a:p>
        </p:txBody>
      </p:sp>
      <p:sp>
        <p:nvSpPr>
          <p:cNvPr id="15" name="Text 9"/>
          <p:cNvSpPr/>
          <p:nvPr/>
        </p:nvSpPr>
        <p:spPr>
          <a:xfrm>
            <a:off x="7717988" y="4261961"/>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Balanced across 1-9 years range, representing new and aging equipment</a:t>
            </a:r>
            <a:endParaRPr lang="en-US" sz="1450" dirty="0"/>
          </a:p>
        </p:txBody>
      </p:sp>
      <p:sp>
        <p:nvSpPr>
          <p:cNvPr id="16" name="Text 10"/>
          <p:cNvSpPr/>
          <p:nvPr/>
        </p:nvSpPr>
        <p:spPr>
          <a:xfrm>
            <a:off x="758309" y="5152787"/>
            <a:ext cx="3527108"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Calibri Light" panose="020F0302020204030204" pitchFamily="34" charset="0"/>
                <a:ea typeface="Barlow Bold" pitchFamily="34" charset="-122"/>
                <a:cs typeface="Barlow Bold" pitchFamily="34" charset="-120"/>
              </a:rPr>
              <a:t>Key Correlations Identified</a:t>
            </a:r>
            <a:endParaRPr lang="en-US" sz="2350" dirty="0"/>
          </a:p>
        </p:txBody>
      </p:sp>
      <p:pic>
        <p:nvPicPr>
          <p:cNvPr id="17" name="Image 4" descr="preencoded.png"/>
          <p:cNvPicPr>
            <a:picLocks noChangeAspect="1"/>
          </p:cNvPicPr>
          <p:nvPr/>
        </p:nvPicPr>
        <p:blipFill>
          <a:blip r:embed="rId3"/>
          <a:stretch>
            <a:fillRect/>
          </a:stretch>
        </p:blipFill>
        <p:spPr>
          <a:xfrm>
            <a:off x="758309" y="5911810"/>
            <a:ext cx="94774" cy="94774"/>
          </a:xfrm>
          <a:prstGeom prst="rect">
            <a:avLst/>
          </a:prstGeom>
        </p:spPr>
      </p:pic>
      <p:sp>
        <p:nvSpPr>
          <p:cNvPr id="18" name="Text 11"/>
          <p:cNvSpPr/>
          <p:nvPr/>
        </p:nvSpPr>
        <p:spPr>
          <a:xfrm>
            <a:off x="1042630" y="5811203"/>
            <a:ext cx="2992993" cy="32694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Maintenance </a:t>
            </a:r>
            <a:r>
              <a:rPr lang="en-US" sz="1950" b="1" dirty="0">
                <a:solidFill>
                  <a:srgbClr val="000000"/>
                </a:solidFill>
                <a:latin typeface="Calibri Light" panose="020F0302020204030204" pitchFamily="34" charset="0"/>
                <a:ea typeface="Barlow Bold" pitchFamily="34" charset="-122"/>
                <a:cs typeface="Barlow Bold" pitchFamily="34" charset="-120"/>
              </a:rPr>
              <a:t>↔</a:t>
            </a:r>
            <a:r>
              <a:rPr lang="en-US" sz="1950" b="1" dirty="0">
                <a:solidFill>
                  <a:srgbClr val="384653"/>
                </a:solidFill>
                <a:latin typeface="Calibri Light" panose="020F0302020204030204" pitchFamily="34" charset="0"/>
                <a:ea typeface="Barlow Bold" pitchFamily="34" charset="-122"/>
                <a:cs typeface="Barlow Bold" pitchFamily="34" charset="-120"/>
              </a:rPr>
              <a:t> Inspection</a:t>
            </a:r>
            <a:endParaRPr lang="en-US" sz="1950" dirty="0"/>
          </a:p>
        </p:txBody>
      </p:sp>
      <p:sp>
        <p:nvSpPr>
          <p:cNvPr id="19" name="Text 12"/>
          <p:cNvSpPr/>
          <p:nvPr/>
        </p:nvSpPr>
        <p:spPr>
          <a:xfrm>
            <a:off x="1042630" y="6251853"/>
            <a:ext cx="3928943" cy="909757"/>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Positive correlation: Higher maintenance scores associate with better inspection ratings</a:t>
            </a:r>
            <a:endParaRPr lang="en-US" sz="1450" dirty="0"/>
          </a:p>
        </p:txBody>
      </p:sp>
      <p:pic>
        <p:nvPicPr>
          <p:cNvPr id="20" name="Image 5" descr="preencoded.png"/>
          <p:cNvPicPr>
            <a:picLocks noChangeAspect="1"/>
          </p:cNvPicPr>
          <p:nvPr/>
        </p:nvPicPr>
        <p:blipFill>
          <a:blip r:embed="rId3"/>
          <a:stretch>
            <a:fillRect/>
          </a:stretch>
        </p:blipFill>
        <p:spPr>
          <a:xfrm>
            <a:off x="5208508" y="5911810"/>
            <a:ext cx="94774" cy="94774"/>
          </a:xfrm>
          <a:prstGeom prst="rect">
            <a:avLst/>
          </a:prstGeom>
        </p:spPr>
      </p:pic>
      <p:sp>
        <p:nvSpPr>
          <p:cNvPr id="21" name="Text 13"/>
          <p:cNvSpPr/>
          <p:nvPr/>
        </p:nvSpPr>
        <p:spPr>
          <a:xfrm>
            <a:off x="5492829" y="5811203"/>
            <a:ext cx="3511034" cy="32694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Equipment Age </a:t>
            </a:r>
            <a:r>
              <a:rPr lang="en-US" sz="1950" b="1" dirty="0">
                <a:solidFill>
                  <a:srgbClr val="000000"/>
                </a:solidFill>
                <a:latin typeface="Calibri Light" panose="020F0302020204030204" pitchFamily="34" charset="0"/>
                <a:ea typeface="Barlow Bold" pitchFamily="34" charset="-122"/>
                <a:cs typeface="Barlow Bold" pitchFamily="34" charset="-120"/>
              </a:rPr>
              <a:t>↔</a:t>
            </a:r>
            <a:r>
              <a:rPr lang="en-US" sz="1950" b="1" dirty="0">
                <a:solidFill>
                  <a:srgbClr val="384653"/>
                </a:solidFill>
                <a:latin typeface="Calibri Light" panose="020F0302020204030204" pitchFamily="34" charset="0"/>
                <a:ea typeface="Barlow Bold" pitchFamily="34" charset="-122"/>
                <a:cs typeface="Barlow Bold" pitchFamily="34" charset="-120"/>
              </a:rPr>
              <a:t> Maintenance</a:t>
            </a:r>
            <a:endParaRPr lang="en-US" sz="1950" dirty="0"/>
          </a:p>
        </p:txBody>
      </p:sp>
      <p:sp>
        <p:nvSpPr>
          <p:cNvPr id="22" name="Text 14"/>
          <p:cNvSpPr/>
          <p:nvPr/>
        </p:nvSpPr>
        <p:spPr>
          <a:xfrm>
            <a:off x="5492829" y="6251853"/>
            <a:ext cx="392894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Negative correlation: Older equipment shows lower maintenance scores</a:t>
            </a:r>
            <a:endParaRPr lang="en-US" sz="1450" dirty="0"/>
          </a:p>
        </p:txBody>
      </p:sp>
      <p:pic>
        <p:nvPicPr>
          <p:cNvPr id="23" name="Image 6" descr="preencoded.png"/>
          <p:cNvPicPr>
            <a:picLocks noChangeAspect="1"/>
          </p:cNvPicPr>
          <p:nvPr/>
        </p:nvPicPr>
        <p:blipFill>
          <a:blip r:embed="rId3"/>
          <a:stretch>
            <a:fillRect/>
          </a:stretch>
        </p:blipFill>
        <p:spPr>
          <a:xfrm>
            <a:off x="9658707" y="5911810"/>
            <a:ext cx="94774" cy="94774"/>
          </a:xfrm>
          <a:prstGeom prst="rect">
            <a:avLst/>
          </a:prstGeom>
        </p:spPr>
      </p:pic>
      <p:sp>
        <p:nvSpPr>
          <p:cNvPr id="24" name="Text 15"/>
          <p:cNvSpPr/>
          <p:nvPr/>
        </p:nvSpPr>
        <p:spPr>
          <a:xfrm>
            <a:off x="9943028" y="5811203"/>
            <a:ext cx="2656642" cy="32694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Shift + Overtime </a:t>
            </a:r>
            <a:r>
              <a:rPr lang="en-US" sz="1950" b="1" dirty="0">
                <a:solidFill>
                  <a:srgbClr val="000000"/>
                </a:solidFill>
                <a:latin typeface="Calibri Light" panose="020F0302020204030204" pitchFamily="34" charset="0"/>
                <a:ea typeface="Barlow Bold" pitchFamily="34" charset="-122"/>
                <a:cs typeface="Barlow Bold" pitchFamily="34" charset="-120"/>
              </a:rPr>
              <a:t>↔</a:t>
            </a:r>
            <a:r>
              <a:rPr lang="en-US" sz="1950" b="1" dirty="0">
                <a:solidFill>
                  <a:srgbClr val="384653"/>
                </a:solidFill>
                <a:latin typeface="Calibri Light" panose="020F0302020204030204" pitchFamily="34" charset="0"/>
                <a:ea typeface="Barlow Bold" pitchFamily="34" charset="-122"/>
                <a:cs typeface="Barlow Bold" pitchFamily="34" charset="-120"/>
              </a:rPr>
              <a:t> Risk</a:t>
            </a:r>
            <a:endParaRPr lang="en-US" sz="1950" dirty="0"/>
          </a:p>
        </p:txBody>
      </p:sp>
      <p:sp>
        <p:nvSpPr>
          <p:cNvPr id="25" name="Text 16"/>
          <p:cNvSpPr/>
          <p:nvPr/>
        </p:nvSpPr>
        <p:spPr>
          <a:xfrm>
            <a:off x="9943028" y="6251853"/>
            <a:ext cx="392906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Positive correlation: Longer shifts and overtime increase accident probability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62062" y="1519952"/>
            <a:ext cx="8306157" cy="51896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62062" y="1519952"/>
            <a:ext cx="8306157" cy="51896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1519" y="556498"/>
            <a:ext cx="3439478" cy="385763"/>
          </a:xfrm>
          <a:prstGeom prst="rect">
            <a:avLst/>
          </a:prstGeom>
          <a:noFill/>
          <a:ln/>
        </p:spPr>
        <p:txBody>
          <a:bodyPr wrap="none" lIns="0" tIns="0" rIns="0" bIns="0" rtlCol="0" anchor="t"/>
          <a:lstStyle/>
          <a:p>
            <a:pPr marL="0" indent="0" algn="l">
              <a:lnSpc>
                <a:spcPts val="3000"/>
              </a:lnSpc>
              <a:buNone/>
            </a:pPr>
            <a:r>
              <a:rPr lang="en-US" sz="2400" b="1" dirty="0">
                <a:solidFill>
                  <a:srgbClr val="2E3C4E"/>
                </a:solidFill>
                <a:latin typeface="Calibri Light" panose="020F0302020204030204" pitchFamily="34" charset="0"/>
                <a:ea typeface="Barlow Bold" pitchFamily="34" charset="-122"/>
                <a:cs typeface="Barlow Bold" pitchFamily="34" charset="-120"/>
              </a:rPr>
              <a:t>Data Preprocessing Code</a:t>
            </a:r>
            <a:endParaRPr lang="en-US" sz="2400" dirty="0"/>
          </a:p>
        </p:txBody>
      </p:sp>
      <p:sp>
        <p:nvSpPr>
          <p:cNvPr id="3" name="Text 1"/>
          <p:cNvSpPr/>
          <p:nvPr/>
        </p:nvSpPr>
        <p:spPr>
          <a:xfrm>
            <a:off x="721519" y="1087279"/>
            <a:ext cx="13187363" cy="151805"/>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Montserrat" pitchFamily="34" charset="0"/>
                <a:ea typeface="Montserrat" pitchFamily="34" charset="-122"/>
                <a:cs typeface="Montserrat" pitchFamily="34" charset="-120"/>
              </a:rPr>
              <a:t>The preprocessing pipeline implements data cleaning, encoding, and standardization in a reusable format with artifact persistence. Code is located in </a:t>
            </a:r>
            <a:r>
              <a:rPr lang="en-US" sz="900" dirty="0">
                <a:solidFill>
                  <a:srgbClr val="384653"/>
                </a:solidFill>
                <a:highlight>
                  <a:srgbClr val="F2F2F2"/>
                </a:highlight>
                <a:latin typeface="Consolas" pitchFamily="34" charset="0"/>
                <a:ea typeface="Consolas" pitchFamily="34" charset="-122"/>
                <a:cs typeface="Consolas" pitchFamily="34" charset="-120"/>
              </a:rPr>
              <a:t>pipeline/preprocessing.py</a:t>
            </a:r>
            <a:r>
              <a:rPr lang="en-US" sz="900" dirty="0">
                <a:solidFill>
                  <a:srgbClr val="384653"/>
                </a:solidFill>
                <a:latin typeface="Montserrat" pitchFamily="34" charset="0"/>
                <a:ea typeface="Montserrat" pitchFamily="34" charset="-122"/>
                <a:cs typeface="Montserrat" pitchFamily="34" charset="-120"/>
              </a:rPr>
              <a:t>.</a:t>
            </a:r>
            <a:endParaRPr lang="en-US" sz="900" dirty="0"/>
          </a:p>
        </p:txBody>
      </p:sp>
      <p:sp>
        <p:nvSpPr>
          <p:cNvPr id="4" name="Shape 2"/>
          <p:cNvSpPr/>
          <p:nvPr/>
        </p:nvSpPr>
        <p:spPr>
          <a:xfrm>
            <a:off x="721519" y="1320641"/>
            <a:ext cx="13187363" cy="4333042"/>
          </a:xfrm>
          <a:prstGeom prst="roundRect">
            <a:avLst>
              <a:gd name="adj" fmla="val 4059"/>
            </a:avLst>
          </a:prstGeom>
          <a:solidFill>
            <a:srgbClr val="F2F2F2"/>
          </a:solidFill>
          <a:ln/>
        </p:spPr>
      </p:sp>
      <p:sp>
        <p:nvSpPr>
          <p:cNvPr id="5" name="Shape 3"/>
          <p:cNvSpPr/>
          <p:nvPr/>
        </p:nvSpPr>
        <p:spPr>
          <a:xfrm>
            <a:off x="715685" y="1320641"/>
            <a:ext cx="13199031" cy="4333042"/>
          </a:xfrm>
          <a:prstGeom prst="roundRect">
            <a:avLst>
              <a:gd name="adj" fmla="val 406"/>
            </a:avLst>
          </a:prstGeom>
          <a:solidFill>
            <a:srgbClr val="F2F2F2"/>
          </a:solidFill>
          <a:ln/>
        </p:spPr>
      </p:sp>
      <p:sp>
        <p:nvSpPr>
          <p:cNvPr id="6" name="Text 4"/>
          <p:cNvSpPr/>
          <p:nvPr/>
        </p:nvSpPr>
        <p:spPr>
          <a:xfrm>
            <a:off x="862251" y="1437799"/>
            <a:ext cx="12905899" cy="4098727"/>
          </a:xfrm>
          <a:prstGeom prst="rect">
            <a:avLst/>
          </a:prstGeom>
          <a:noFill/>
          <a:ln/>
        </p:spPr>
        <p:txBody>
          <a:bodyPr wrap="square" lIns="0" tIns="0" rIns="0" bIns="0" rtlCol="0" anchor="t"/>
          <a:lstStyle/>
          <a:p>
            <a:pPr marL="0" indent="0" algn="l">
              <a:lnSpc>
                <a:spcPts val="1150"/>
              </a:lnSpc>
              <a:buNone/>
            </a:pPr>
            <a:r>
              <a:rPr lang="en-US" sz="900" dirty="0">
                <a:solidFill>
                  <a:srgbClr val="384653"/>
                </a:solidFill>
                <a:latin typeface="Consolas" pitchFamily="34" charset="0"/>
                <a:ea typeface="Consolas" pitchFamily="34" charset="-122"/>
                <a:cs typeface="Consolas" pitchFamily="34" charset="-120"/>
              </a:rPr>
              <a:t>File: pipeline/preprocessing.py
def preprocess_data(df_raw, fit=True, artifacts=None):
    # Handle missing values with column means
    df = handle_missing_values(df_raw)
    # Encode categorical features
    df = encode_categorical(df)
    # Standardize numeric features
    df, scaler = scale_features(
        df, 
        fit=fit,
        scaler=artifacts.scaler if artifacts else None
    )
    if fit:
        artifacts = PreprocessArtifacts(
            means=df.mean(),
            encoders=label_encoders,
            scaler=scaler,
            scaled_columns=df.columns.tolist()
        )
        return df, artifacts
    return df
</a:t>
            </a:r>
            <a:endParaRPr lang="en-US" sz="900" dirty="0"/>
          </a:p>
        </p:txBody>
      </p:sp>
      <p:sp>
        <p:nvSpPr>
          <p:cNvPr id="7" name="Text 5"/>
          <p:cNvSpPr/>
          <p:nvPr/>
        </p:nvSpPr>
        <p:spPr>
          <a:xfrm>
            <a:off x="721519" y="5762387"/>
            <a:ext cx="1851303" cy="231338"/>
          </a:xfrm>
          <a:prstGeom prst="rect">
            <a:avLst/>
          </a:prstGeom>
          <a:noFill/>
          <a:ln/>
        </p:spPr>
        <p:txBody>
          <a:bodyPr wrap="none" lIns="0" tIns="0" rIns="0" bIns="0" rtlCol="0" anchor="t"/>
          <a:lstStyle/>
          <a:p>
            <a:pPr marL="0" indent="0" algn="l">
              <a:lnSpc>
                <a:spcPts val="1800"/>
              </a:lnSpc>
              <a:buNone/>
            </a:pPr>
            <a:r>
              <a:rPr lang="en-US" sz="1450" b="1" dirty="0">
                <a:solidFill>
                  <a:srgbClr val="2E3C4E"/>
                </a:solidFill>
                <a:latin typeface="Calibri Light" panose="020F0302020204030204" pitchFamily="34" charset="0"/>
                <a:ea typeface="Barlow Bold" pitchFamily="34" charset="-122"/>
                <a:cs typeface="Barlow Bold" pitchFamily="34" charset="-120"/>
              </a:rPr>
              <a:t>Preprocessing Steps</a:t>
            </a:r>
            <a:endParaRPr lang="en-US" sz="1450" dirty="0"/>
          </a:p>
        </p:txBody>
      </p:sp>
      <p:sp>
        <p:nvSpPr>
          <p:cNvPr id="8" name="Text 6"/>
          <p:cNvSpPr/>
          <p:nvPr/>
        </p:nvSpPr>
        <p:spPr>
          <a:xfrm>
            <a:off x="721519" y="6102429"/>
            <a:ext cx="117157" cy="146566"/>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Barlow Light" pitchFamily="34" charset="0"/>
                <a:ea typeface="Barlow Light" pitchFamily="34" charset="-122"/>
                <a:cs typeface="Barlow Light" pitchFamily="34" charset="-120"/>
              </a:rPr>
              <a:t>01</a:t>
            </a:r>
            <a:endParaRPr lang="en-US" sz="900" dirty="0"/>
          </a:p>
        </p:txBody>
      </p:sp>
      <p:pic>
        <p:nvPicPr>
          <p:cNvPr id="9" name="Image 0" descr="preencoded.png"/>
          <p:cNvPicPr>
            <a:picLocks noChangeAspect="1"/>
          </p:cNvPicPr>
          <p:nvPr/>
        </p:nvPicPr>
        <p:blipFill>
          <a:blip r:embed="rId3"/>
          <a:stretch>
            <a:fillRect/>
          </a:stretch>
        </p:blipFill>
        <p:spPr>
          <a:xfrm>
            <a:off x="721519" y="6286381"/>
            <a:ext cx="6557367" cy="15240"/>
          </a:xfrm>
          <a:prstGeom prst="rect">
            <a:avLst/>
          </a:prstGeom>
        </p:spPr>
      </p:pic>
      <p:sp>
        <p:nvSpPr>
          <p:cNvPr id="10" name="Text 7"/>
          <p:cNvSpPr/>
          <p:nvPr/>
        </p:nvSpPr>
        <p:spPr>
          <a:xfrm>
            <a:off x="721519" y="6375440"/>
            <a:ext cx="1544717" cy="192881"/>
          </a:xfrm>
          <a:prstGeom prst="rect">
            <a:avLst/>
          </a:prstGeom>
          <a:noFill/>
          <a:ln/>
        </p:spPr>
        <p:txBody>
          <a:bodyPr wrap="none" lIns="0" tIns="0" rIns="0" bIns="0" rtlCol="0" anchor="t"/>
          <a:lstStyle/>
          <a:p>
            <a:pPr marL="0" indent="0" algn="l">
              <a:lnSpc>
                <a:spcPts val="1500"/>
              </a:lnSpc>
              <a:buNone/>
            </a:pPr>
            <a:r>
              <a:rPr lang="en-US" sz="1200" b="1" dirty="0">
                <a:solidFill>
                  <a:srgbClr val="384653"/>
                </a:solidFill>
                <a:latin typeface="Calibri Light" panose="020F0302020204030204" pitchFamily="34" charset="0"/>
                <a:ea typeface="Barlow Bold" pitchFamily="34" charset="-122"/>
                <a:cs typeface="Barlow Bold" pitchFamily="34" charset="-120"/>
              </a:rPr>
              <a:t>Missing Value Handling</a:t>
            </a:r>
            <a:endParaRPr lang="en-US" sz="1200" dirty="0"/>
          </a:p>
        </p:txBody>
      </p:sp>
      <p:sp>
        <p:nvSpPr>
          <p:cNvPr id="11" name="Text 8"/>
          <p:cNvSpPr/>
          <p:nvPr/>
        </p:nvSpPr>
        <p:spPr>
          <a:xfrm>
            <a:off x="721519" y="6611779"/>
            <a:ext cx="6557367" cy="151805"/>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Montserrat" pitchFamily="34" charset="0"/>
                <a:ea typeface="Montserrat" pitchFamily="34" charset="-122"/>
                <a:cs typeface="Montserrat" pitchFamily="34" charset="-120"/>
              </a:rPr>
              <a:t>Imputes missing values using column means</a:t>
            </a:r>
            <a:endParaRPr lang="en-US" sz="900" dirty="0"/>
          </a:p>
        </p:txBody>
      </p:sp>
      <p:sp>
        <p:nvSpPr>
          <p:cNvPr id="12" name="Text 9"/>
          <p:cNvSpPr/>
          <p:nvPr/>
        </p:nvSpPr>
        <p:spPr>
          <a:xfrm>
            <a:off x="7351395" y="6102429"/>
            <a:ext cx="117157" cy="146566"/>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Barlow Light" pitchFamily="34" charset="0"/>
                <a:ea typeface="Barlow Light" pitchFamily="34" charset="-122"/>
                <a:cs typeface="Barlow Light" pitchFamily="34" charset="-120"/>
              </a:rPr>
              <a:t>02</a:t>
            </a:r>
            <a:endParaRPr lang="en-US" sz="900" dirty="0"/>
          </a:p>
        </p:txBody>
      </p:sp>
      <p:pic>
        <p:nvPicPr>
          <p:cNvPr id="13" name="Image 1" descr="preencoded.png"/>
          <p:cNvPicPr>
            <a:picLocks noChangeAspect="1"/>
          </p:cNvPicPr>
          <p:nvPr/>
        </p:nvPicPr>
        <p:blipFill>
          <a:blip r:embed="rId3"/>
          <a:stretch>
            <a:fillRect/>
          </a:stretch>
        </p:blipFill>
        <p:spPr>
          <a:xfrm>
            <a:off x="7351395" y="6286381"/>
            <a:ext cx="6557486" cy="15240"/>
          </a:xfrm>
          <a:prstGeom prst="rect">
            <a:avLst/>
          </a:prstGeom>
        </p:spPr>
      </p:pic>
      <p:sp>
        <p:nvSpPr>
          <p:cNvPr id="14" name="Text 10"/>
          <p:cNvSpPr/>
          <p:nvPr/>
        </p:nvSpPr>
        <p:spPr>
          <a:xfrm>
            <a:off x="7351395" y="6375440"/>
            <a:ext cx="1542812" cy="192881"/>
          </a:xfrm>
          <a:prstGeom prst="rect">
            <a:avLst/>
          </a:prstGeom>
          <a:noFill/>
          <a:ln/>
        </p:spPr>
        <p:txBody>
          <a:bodyPr wrap="none" lIns="0" tIns="0" rIns="0" bIns="0" rtlCol="0" anchor="t"/>
          <a:lstStyle/>
          <a:p>
            <a:pPr marL="0" indent="0" algn="l">
              <a:lnSpc>
                <a:spcPts val="1500"/>
              </a:lnSpc>
              <a:buNone/>
            </a:pPr>
            <a:r>
              <a:rPr lang="en-US" sz="1200" b="1" dirty="0">
                <a:solidFill>
                  <a:srgbClr val="384653"/>
                </a:solidFill>
                <a:latin typeface="Calibri Light" panose="020F0302020204030204" pitchFamily="34" charset="0"/>
                <a:ea typeface="Barlow Bold" pitchFamily="34" charset="-122"/>
                <a:cs typeface="Barlow Bold" pitchFamily="34" charset="-120"/>
              </a:rPr>
              <a:t>Categorical Encoding</a:t>
            </a:r>
            <a:endParaRPr lang="en-US" sz="1200" dirty="0"/>
          </a:p>
        </p:txBody>
      </p:sp>
      <p:sp>
        <p:nvSpPr>
          <p:cNvPr id="15" name="Text 11"/>
          <p:cNvSpPr/>
          <p:nvPr/>
        </p:nvSpPr>
        <p:spPr>
          <a:xfrm>
            <a:off x="7351395" y="6611779"/>
            <a:ext cx="6557486" cy="151805"/>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Montserrat" pitchFamily="34" charset="0"/>
                <a:ea typeface="Montserrat" pitchFamily="34" charset="-122"/>
                <a:cs typeface="Montserrat" pitchFamily="34" charset="-120"/>
              </a:rPr>
              <a:t>Converts categorical features to numeric representations</a:t>
            </a:r>
            <a:endParaRPr lang="en-US" sz="900" dirty="0"/>
          </a:p>
        </p:txBody>
      </p:sp>
      <p:sp>
        <p:nvSpPr>
          <p:cNvPr id="16" name="Text 12"/>
          <p:cNvSpPr/>
          <p:nvPr/>
        </p:nvSpPr>
        <p:spPr>
          <a:xfrm>
            <a:off x="721519" y="6923961"/>
            <a:ext cx="117157" cy="146566"/>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Barlow Light" pitchFamily="34" charset="0"/>
                <a:ea typeface="Barlow Light" pitchFamily="34" charset="-122"/>
                <a:cs typeface="Barlow Light" pitchFamily="34" charset="-120"/>
              </a:rPr>
              <a:t>03</a:t>
            </a:r>
            <a:endParaRPr lang="en-US" sz="900" dirty="0"/>
          </a:p>
        </p:txBody>
      </p:sp>
      <p:pic>
        <p:nvPicPr>
          <p:cNvPr id="17" name="Image 2" descr="preencoded.png"/>
          <p:cNvPicPr>
            <a:picLocks noChangeAspect="1"/>
          </p:cNvPicPr>
          <p:nvPr/>
        </p:nvPicPr>
        <p:blipFill>
          <a:blip r:embed="rId3"/>
          <a:stretch>
            <a:fillRect/>
          </a:stretch>
        </p:blipFill>
        <p:spPr>
          <a:xfrm>
            <a:off x="721519" y="7096244"/>
            <a:ext cx="6557367" cy="15240"/>
          </a:xfrm>
          <a:prstGeom prst="rect">
            <a:avLst/>
          </a:prstGeom>
        </p:spPr>
      </p:pic>
      <p:sp>
        <p:nvSpPr>
          <p:cNvPr id="18" name="Text 13"/>
          <p:cNvSpPr/>
          <p:nvPr/>
        </p:nvSpPr>
        <p:spPr>
          <a:xfrm>
            <a:off x="721519" y="7196971"/>
            <a:ext cx="1641991" cy="192881"/>
          </a:xfrm>
          <a:prstGeom prst="rect">
            <a:avLst/>
          </a:prstGeom>
          <a:noFill/>
          <a:ln/>
        </p:spPr>
        <p:txBody>
          <a:bodyPr wrap="none" lIns="0" tIns="0" rIns="0" bIns="0" rtlCol="0" anchor="t"/>
          <a:lstStyle/>
          <a:p>
            <a:pPr marL="0" indent="0" algn="l">
              <a:lnSpc>
                <a:spcPts val="1500"/>
              </a:lnSpc>
              <a:buNone/>
            </a:pPr>
            <a:r>
              <a:rPr lang="en-US" sz="1200" b="1" dirty="0">
                <a:solidFill>
                  <a:srgbClr val="384653"/>
                </a:solidFill>
                <a:latin typeface="Calibri Light" panose="020F0302020204030204" pitchFamily="34" charset="0"/>
                <a:ea typeface="Barlow Bold" pitchFamily="34" charset="-122"/>
                <a:cs typeface="Barlow Bold" pitchFamily="34" charset="-120"/>
              </a:rPr>
              <a:t>Feature Standardization</a:t>
            </a:r>
            <a:endParaRPr lang="en-US" sz="1200" dirty="0"/>
          </a:p>
        </p:txBody>
      </p:sp>
      <p:sp>
        <p:nvSpPr>
          <p:cNvPr id="19" name="Text 14"/>
          <p:cNvSpPr/>
          <p:nvPr/>
        </p:nvSpPr>
        <p:spPr>
          <a:xfrm>
            <a:off x="721519" y="7433310"/>
            <a:ext cx="6557367" cy="151805"/>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Montserrat" pitchFamily="34" charset="0"/>
                <a:ea typeface="Montserrat" pitchFamily="34" charset="-122"/>
                <a:cs typeface="Montserrat" pitchFamily="34" charset="-120"/>
              </a:rPr>
              <a:t>Scales numeric features to mean=0, std=1</a:t>
            </a:r>
            <a:endParaRPr lang="en-US" sz="900" dirty="0"/>
          </a:p>
        </p:txBody>
      </p:sp>
      <p:sp>
        <p:nvSpPr>
          <p:cNvPr id="20" name="Text 15"/>
          <p:cNvSpPr/>
          <p:nvPr/>
        </p:nvSpPr>
        <p:spPr>
          <a:xfrm>
            <a:off x="7351395" y="6923961"/>
            <a:ext cx="117157" cy="146566"/>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Barlow Light" pitchFamily="34" charset="0"/>
                <a:ea typeface="Barlow Light" pitchFamily="34" charset="-122"/>
                <a:cs typeface="Barlow Light" pitchFamily="34" charset="-120"/>
              </a:rPr>
              <a:t>04</a:t>
            </a:r>
            <a:endParaRPr lang="en-US" sz="900" dirty="0"/>
          </a:p>
        </p:txBody>
      </p:sp>
      <p:pic>
        <p:nvPicPr>
          <p:cNvPr id="21" name="Image 3" descr="preencoded.png"/>
          <p:cNvPicPr>
            <a:picLocks noChangeAspect="1"/>
          </p:cNvPicPr>
          <p:nvPr/>
        </p:nvPicPr>
        <p:blipFill>
          <a:blip r:embed="rId3"/>
          <a:stretch>
            <a:fillRect/>
          </a:stretch>
        </p:blipFill>
        <p:spPr>
          <a:xfrm>
            <a:off x="7351395" y="7096244"/>
            <a:ext cx="6557486" cy="15240"/>
          </a:xfrm>
          <a:prstGeom prst="rect">
            <a:avLst/>
          </a:prstGeom>
        </p:spPr>
      </p:pic>
      <p:sp>
        <p:nvSpPr>
          <p:cNvPr id="22" name="Text 16"/>
          <p:cNvSpPr/>
          <p:nvPr/>
        </p:nvSpPr>
        <p:spPr>
          <a:xfrm>
            <a:off x="7351395" y="7196971"/>
            <a:ext cx="1542812" cy="192881"/>
          </a:xfrm>
          <a:prstGeom prst="rect">
            <a:avLst/>
          </a:prstGeom>
          <a:noFill/>
          <a:ln/>
        </p:spPr>
        <p:txBody>
          <a:bodyPr wrap="none" lIns="0" tIns="0" rIns="0" bIns="0" rtlCol="0" anchor="t"/>
          <a:lstStyle/>
          <a:p>
            <a:pPr marL="0" indent="0" algn="l">
              <a:lnSpc>
                <a:spcPts val="1500"/>
              </a:lnSpc>
              <a:buNone/>
            </a:pPr>
            <a:r>
              <a:rPr lang="en-US" sz="1200" b="1" dirty="0">
                <a:solidFill>
                  <a:srgbClr val="384653"/>
                </a:solidFill>
                <a:latin typeface="Calibri Light" panose="020F0302020204030204" pitchFamily="34" charset="0"/>
                <a:ea typeface="Barlow Bold" pitchFamily="34" charset="-122"/>
                <a:cs typeface="Barlow Bold" pitchFamily="34" charset="-120"/>
              </a:rPr>
              <a:t>Artifact Persistence</a:t>
            </a:r>
            <a:endParaRPr lang="en-US" sz="1200" dirty="0"/>
          </a:p>
        </p:txBody>
      </p:sp>
      <p:sp>
        <p:nvSpPr>
          <p:cNvPr id="23" name="Text 17"/>
          <p:cNvSpPr/>
          <p:nvPr/>
        </p:nvSpPr>
        <p:spPr>
          <a:xfrm>
            <a:off x="7351395" y="7433310"/>
            <a:ext cx="6557486" cy="151805"/>
          </a:xfrm>
          <a:prstGeom prst="rect">
            <a:avLst/>
          </a:prstGeom>
          <a:noFill/>
          <a:ln/>
        </p:spPr>
        <p:txBody>
          <a:bodyPr wrap="none" lIns="0" tIns="0" rIns="0" bIns="0" rtlCol="0" anchor="t"/>
          <a:lstStyle/>
          <a:p>
            <a:pPr marL="0" indent="0" algn="l">
              <a:lnSpc>
                <a:spcPts val="1150"/>
              </a:lnSpc>
              <a:buNone/>
            </a:pPr>
            <a:r>
              <a:rPr lang="en-US" sz="900" dirty="0">
                <a:solidFill>
                  <a:srgbClr val="384653"/>
                </a:solidFill>
                <a:latin typeface="Montserrat" pitchFamily="34" charset="0"/>
                <a:ea typeface="Montserrat" pitchFamily="34" charset="-122"/>
                <a:cs typeface="Montserrat" pitchFamily="34" charset="-120"/>
              </a:rPr>
              <a:t>Saves transformation parameters for production use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309" y="841296"/>
            <a:ext cx="3991094" cy="498872"/>
          </a:xfrm>
          <a:prstGeom prst="rect">
            <a:avLst/>
          </a:prstGeom>
          <a:noFill/>
          <a:ln/>
        </p:spPr>
        <p:txBody>
          <a:bodyPr wrap="none" lIns="0" tIns="0" rIns="0" bIns="0" rtlCol="0" anchor="t"/>
          <a:lstStyle/>
          <a:p>
            <a:pPr marL="0" indent="0" algn="l">
              <a:lnSpc>
                <a:spcPts val="3900"/>
              </a:lnSpc>
              <a:buNone/>
            </a:pPr>
            <a:r>
              <a:rPr lang="en-US" sz="3100" b="1" dirty="0">
                <a:solidFill>
                  <a:srgbClr val="2E3C4E"/>
                </a:solidFill>
                <a:latin typeface="Calibri Light" panose="020F0302020204030204" pitchFamily="34" charset="0"/>
                <a:ea typeface="Barlow Bold" pitchFamily="34" charset="-122"/>
                <a:cs typeface="Barlow Bold" pitchFamily="34" charset="-120"/>
              </a:rPr>
              <a:t>Feature Engineering</a:t>
            </a:r>
            <a:endParaRPr lang="en-US" sz="3100" dirty="0"/>
          </a:p>
        </p:txBody>
      </p:sp>
      <p:sp>
        <p:nvSpPr>
          <p:cNvPr id="3" name="Text 1"/>
          <p:cNvSpPr/>
          <p:nvPr/>
        </p:nvSpPr>
        <p:spPr>
          <a:xfrm>
            <a:off x="758309" y="1582817"/>
            <a:ext cx="13113782" cy="218361"/>
          </a:xfrm>
          <a:prstGeom prst="rect">
            <a:avLst/>
          </a:prstGeom>
          <a:noFill/>
          <a:ln/>
        </p:spPr>
        <p:txBody>
          <a:bodyPr wrap="none" lIns="0" tIns="0" rIns="0" bIns="0" rtlCol="0" anchor="t"/>
          <a:lstStyle/>
          <a:p>
            <a:pPr marL="0" indent="0" algn="l">
              <a:lnSpc>
                <a:spcPts val="1700"/>
              </a:lnSpc>
              <a:buNone/>
            </a:pPr>
            <a:r>
              <a:rPr lang="en-US" sz="1150" dirty="0">
                <a:solidFill>
                  <a:srgbClr val="384653"/>
                </a:solidFill>
                <a:latin typeface="Montserrat" pitchFamily="34" charset="0"/>
                <a:ea typeface="Montserrat" pitchFamily="34" charset="-122"/>
                <a:cs typeface="Montserrat" pitchFamily="34" charset="-120"/>
              </a:rPr>
              <a:t>Domain-specific feature creation enhances model performance by 5-7%. Code in </a:t>
            </a:r>
            <a:r>
              <a:rPr lang="en-US" sz="1150" dirty="0">
                <a:solidFill>
                  <a:srgbClr val="384653"/>
                </a:solidFill>
                <a:highlight>
                  <a:srgbClr val="F2F2F2"/>
                </a:highlight>
                <a:latin typeface="Consolas" pitchFamily="34" charset="0"/>
                <a:ea typeface="Consolas" pitchFamily="34" charset="-122"/>
                <a:cs typeface="Consolas" pitchFamily="34" charset="-120"/>
              </a:rPr>
              <a:t>pipeline/feature_engineering.py</a:t>
            </a:r>
            <a:r>
              <a:rPr lang="en-US" sz="1150" dirty="0">
                <a:solidFill>
                  <a:srgbClr val="384653"/>
                </a:solidFill>
                <a:latin typeface="Montserrat" pitchFamily="34" charset="0"/>
                <a:ea typeface="Montserrat" pitchFamily="34" charset="-122"/>
                <a:cs typeface="Montserrat" pitchFamily="34" charset="-120"/>
              </a:rPr>
              <a:t> creates composite risk indicators.</a:t>
            </a:r>
            <a:endParaRPr lang="en-US" sz="1150" dirty="0"/>
          </a:p>
        </p:txBody>
      </p:sp>
      <p:sp>
        <p:nvSpPr>
          <p:cNvPr id="4" name="Shape 2"/>
          <p:cNvSpPr/>
          <p:nvPr/>
        </p:nvSpPr>
        <p:spPr>
          <a:xfrm>
            <a:off x="758309" y="1937623"/>
            <a:ext cx="13113782" cy="3360182"/>
          </a:xfrm>
          <a:prstGeom prst="roundRect">
            <a:avLst>
              <a:gd name="adj" fmla="val 6770"/>
            </a:avLst>
          </a:prstGeom>
          <a:solidFill>
            <a:srgbClr val="F2F2F2"/>
          </a:solidFill>
          <a:ln/>
        </p:spPr>
      </p:sp>
      <p:sp>
        <p:nvSpPr>
          <p:cNvPr id="5" name="Shape 3"/>
          <p:cNvSpPr/>
          <p:nvPr/>
        </p:nvSpPr>
        <p:spPr>
          <a:xfrm>
            <a:off x="750808" y="1937623"/>
            <a:ext cx="13128784" cy="3360182"/>
          </a:xfrm>
          <a:prstGeom prst="roundRect">
            <a:avLst>
              <a:gd name="adj" fmla="val 677"/>
            </a:avLst>
          </a:prstGeom>
          <a:solidFill>
            <a:srgbClr val="F2F2F2"/>
          </a:solidFill>
          <a:ln/>
        </p:spPr>
      </p:sp>
      <p:sp>
        <p:nvSpPr>
          <p:cNvPr id="6" name="Text 4"/>
          <p:cNvSpPr/>
          <p:nvPr/>
        </p:nvSpPr>
        <p:spPr>
          <a:xfrm>
            <a:off x="940356" y="2089190"/>
            <a:ext cx="12749689" cy="3057049"/>
          </a:xfrm>
          <a:prstGeom prst="rect">
            <a:avLst/>
          </a:prstGeom>
          <a:noFill/>
          <a:ln/>
        </p:spPr>
        <p:txBody>
          <a:bodyPr wrap="square" lIns="0" tIns="0" rIns="0" bIns="0" rtlCol="0" anchor="t"/>
          <a:lstStyle/>
          <a:p>
            <a:pPr marL="0" indent="0" algn="l">
              <a:lnSpc>
                <a:spcPts val="1700"/>
              </a:lnSpc>
              <a:buNone/>
            </a:pPr>
            <a:r>
              <a:rPr lang="en-US" sz="1150" dirty="0">
                <a:solidFill>
                  <a:srgbClr val="384653"/>
                </a:solidFill>
                <a:latin typeface="Consolas" pitchFamily="34" charset="0"/>
                <a:ea typeface="Consolas" pitchFamily="34" charset="-122"/>
                <a:cs typeface="Consolas" pitchFamily="34" charset="-120"/>
              </a:rPr>
              <a:t>File: pipeline/feature_engineering.py
def engineer_features(df):
    # Fatigue Index: Captures worker tiredness
    df["fatigue_index"] = df["shift_hours"] + df["overtime_hours"]
    # Equipment Risk: Age relative to inspection quality
    df["equipment_risk"] = df["equipment_age"] / (df["inspection_score"] + 1)
    # Weather Severity: Environmental stress factor
    df["weather_severity"] = df["temperature"] * df["humidity"]
    return df
</a:t>
            </a:r>
            <a:endParaRPr lang="en-US" sz="1150" dirty="0"/>
          </a:p>
        </p:txBody>
      </p:sp>
      <p:sp>
        <p:nvSpPr>
          <p:cNvPr id="7" name="Shape 5"/>
          <p:cNvSpPr/>
          <p:nvPr/>
        </p:nvSpPr>
        <p:spPr>
          <a:xfrm>
            <a:off x="758309" y="5434251"/>
            <a:ext cx="4290298" cy="1953935"/>
          </a:xfrm>
          <a:prstGeom prst="roundRect">
            <a:avLst>
              <a:gd name="adj" fmla="val 11643"/>
            </a:avLst>
          </a:prstGeom>
          <a:solidFill>
            <a:srgbClr val="FFFFFF"/>
          </a:solidFill>
          <a:ln w="15240">
            <a:solidFill>
              <a:srgbClr val="BACFDD"/>
            </a:solidFill>
            <a:prstDash val="solid"/>
          </a:ln>
        </p:spPr>
      </p:sp>
      <p:sp>
        <p:nvSpPr>
          <p:cNvPr id="8" name="Shape 6"/>
          <p:cNvSpPr/>
          <p:nvPr/>
        </p:nvSpPr>
        <p:spPr>
          <a:xfrm>
            <a:off x="773549" y="5449491"/>
            <a:ext cx="4259818" cy="454938"/>
          </a:xfrm>
          <a:prstGeom prst="roundRect">
            <a:avLst>
              <a:gd name="adj" fmla="val 45986"/>
            </a:avLst>
          </a:prstGeom>
          <a:solidFill>
            <a:srgbClr val="D4E9F7"/>
          </a:solidFill>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9753" y="5559385"/>
            <a:ext cx="227409" cy="227409"/>
          </a:xfrm>
          <a:prstGeom prst="rect">
            <a:avLst/>
          </a:prstGeom>
        </p:spPr>
      </p:pic>
      <p:sp>
        <p:nvSpPr>
          <p:cNvPr id="10" name="Text 7"/>
          <p:cNvSpPr/>
          <p:nvPr/>
        </p:nvSpPr>
        <p:spPr>
          <a:xfrm>
            <a:off x="925116" y="6025753"/>
            <a:ext cx="1995487"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Calibri Light" panose="020F0302020204030204" pitchFamily="34" charset="0"/>
                <a:ea typeface="Barlow Bold" pitchFamily="34" charset="-122"/>
                <a:cs typeface="Barlow Bold" pitchFamily="34" charset="-120"/>
              </a:rPr>
              <a:t>Fatigue Index</a:t>
            </a:r>
            <a:endParaRPr lang="en-US" sz="1550" dirty="0"/>
          </a:p>
        </p:txBody>
      </p:sp>
      <p:sp>
        <p:nvSpPr>
          <p:cNvPr id="11" name="Text 8"/>
          <p:cNvSpPr/>
          <p:nvPr/>
        </p:nvSpPr>
        <p:spPr>
          <a:xfrm>
            <a:off x="925116" y="6347936"/>
            <a:ext cx="3956685" cy="873443"/>
          </a:xfrm>
          <a:prstGeom prst="rect">
            <a:avLst/>
          </a:prstGeom>
          <a:noFill/>
          <a:ln/>
        </p:spPr>
        <p:txBody>
          <a:bodyPr wrap="square" lIns="0" tIns="0" rIns="0" bIns="0" rtlCol="0" anchor="t"/>
          <a:lstStyle/>
          <a:p>
            <a:pPr marL="0" indent="0" algn="l">
              <a:lnSpc>
                <a:spcPts val="1700"/>
              </a:lnSpc>
              <a:buNone/>
            </a:pPr>
            <a:r>
              <a:rPr lang="en-US" sz="1150" dirty="0">
                <a:solidFill>
                  <a:srgbClr val="384653"/>
                </a:solidFill>
                <a:latin typeface="Montserrat" pitchFamily="34" charset="0"/>
                <a:ea typeface="Montserrat" pitchFamily="34" charset="-122"/>
                <a:cs typeface="Montserrat" pitchFamily="34" charset="-120"/>
              </a:rPr>
              <a:t>Range 6-16 hours. Combines shift and overtime to capture cumulative worker exhaustion. Higher values indicate increased fatigue-related accident risk.</a:t>
            </a:r>
            <a:endParaRPr lang="en-US" sz="1150" dirty="0"/>
          </a:p>
        </p:txBody>
      </p:sp>
      <p:sp>
        <p:nvSpPr>
          <p:cNvPr id="12" name="Shape 9"/>
          <p:cNvSpPr/>
          <p:nvPr/>
        </p:nvSpPr>
        <p:spPr>
          <a:xfrm>
            <a:off x="5169932" y="5434251"/>
            <a:ext cx="4290417" cy="1953935"/>
          </a:xfrm>
          <a:prstGeom prst="roundRect">
            <a:avLst>
              <a:gd name="adj" fmla="val 11643"/>
            </a:avLst>
          </a:prstGeom>
          <a:solidFill>
            <a:srgbClr val="FFFFFF"/>
          </a:solidFill>
          <a:ln w="15240">
            <a:solidFill>
              <a:srgbClr val="BACFDD"/>
            </a:solidFill>
            <a:prstDash val="solid"/>
          </a:ln>
        </p:spPr>
      </p:sp>
      <p:sp>
        <p:nvSpPr>
          <p:cNvPr id="13" name="Shape 10"/>
          <p:cNvSpPr/>
          <p:nvPr/>
        </p:nvSpPr>
        <p:spPr>
          <a:xfrm>
            <a:off x="5185172" y="5449491"/>
            <a:ext cx="4259937" cy="454938"/>
          </a:xfrm>
          <a:prstGeom prst="roundRect">
            <a:avLst>
              <a:gd name="adj" fmla="val 45986"/>
            </a:avLst>
          </a:prstGeom>
          <a:solidFill>
            <a:srgbClr val="D4E9F7"/>
          </a:solidFill>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01376" y="5559385"/>
            <a:ext cx="227409" cy="227409"/>
          </a:xfrm>
          <a:prstGeom prst="rect">
            <a:avLst/>
          </a:prstGeom>
        </p:spPr>
      </p:pic>
      <p:sp>
        <p:nvSpPr>
          <p:cNvPr id="15" name="Text 11"/>
          <p:cNvSpPr/>
          <p:nvPr/>
        </p:nvSpPr>
        <p:spPr>
          <a:xfrm>
            <a:off x="5336738" y="6025753"/>
            <a:ext cx="1995487"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Calibri Light" panose="020F0302020204030204" pitchFamily="34" charset="0"/>
                <a:ea typeface="Barlow Bold" pitchFamily="34" charset="-122"/>
                <a:cs typeface="Barlow Bold" pitchFamily="34" charset="-120"/>
              </a:rPr>
              <a:t>Equipment Risk</a:t>
            </a:r>
            <a:endParaRPr lang="en-US" sz="1550" dirty="0"/>
          </a:p>
        </p:txBody>
      </p:sp>
      <p:sp>
        <p:nvSpPr>
          <p:cNvPr id="16" name="Text 12"/>
          <p:cNvSpPr/>
          <p:nvPr/>
        </p:nvSpPr>
        <p:spPr>
          <a:xfrm>
            <a:off x="5336738" y="6347936"/>
            <a:ext cx="3956804" cy="873443"/>
          </a:xfrm>
          <a:prstGeom prst="rect">
            <a:avLst/>
          </a:prstGeom>
          <a:noFill/>
          <a:ln/>
        </p:spPr>
        <p:txBody>
          <a:bodyPr wrap="square" lIns="0" tIns="0" rIns="0" bIns="0" rtlCol="0" anchor="t"/>
          <a:lstStyle/>
          <a:p>
            <a:pPr marL="0" indent="0" algn="l">
              <a:lnSpc>
                <a:spcPts val="1700"/>
              </a:lnSpc>
              <a:buNone/>
            </a:pPr>
            <a:r>
              <a:rPr lang="en-US" sz="1150" dirty="0">
                <a:solidFill>
                  <a:srgbClr val="384653"/>
                </a:solidFill>
                <a:latin typeface="Montserrat" pitchFamily="34" charset="0"/>
                <a:ea typeface="Montserrat" pitchFamily="34" charset="-122"/>
                <a:cs typeface="Montserrat" pitchFamily="34" charset="-120"/>
              </a:rPr>
              <a:t>Range 0.01-0.18. Normalizes equipment age by inspection quality. Higher values indicate older equipment with poor maintenance, capturing non-linear relationships.</a:t>
            </a:r>
            <a:endParaRPr lang="en-US" sz="1150" dirty="0"/>
          </a:p>
        </p:txBody>
      </p:sp>
      <p:sp>
        <p:nvSpPr>
          <p:cNvPr id="17" name="Shape 13"/>
          <p:cNvSpPr/>
          <p:nvPr/>
        </p:nvSpPr>
        <p:spPr>
          <a:xfrm>
            <a:off x="9581674" y="5434251"/>
            <a:ext cx="4290417" cy="1953935"/>
          </a:xfrm>
          <a:prstGeom prst="roundRect">
            <a:avLst>
              <a:gd name="adj" fmla="val 11643"/>
            </a:avLst>
          </a:prstGeom>
          <a:solidFill>
            <a:srgbClr val="FFFFFF"/>
          </a:solidFill>
          <a:ln w="15240">
            <a:solidFill>
              <a:srgbClr val="BACFDD"/>
            </a:solidFill>
            <a:prstDash val="solid"/>
          </a:ln>
        </p:spPr>
      </p:sp>
      <p:sp>
        <p:nvSpPr>
          <p:cNvPr id="18" name="Shape 14"/>
          <p:cNvSpPr/>
          <p:nvPr/>
        </p:nvSpPr>
        <p:spPr>
          <a:xfrm>
            <a:off x="9596914" y="5449491"/>
            <a:ext cx="4259937" cy="454938"/>
          </a:xfrm>
          <a:prstGeom prst="roundRect">
            <a:avLst>
              <a:gd name="adj" fmla="val 45986"/>
            </a:avLst>
          </a:prstGeom>
          <a:solidFill>
            <a:srgbClr val="D4E9F7"/>
          </a:solidFill>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13118" y="5559385"/>
            <a:ext cx="227409" cy="227409"/>
          </a:xfrm>
          <a:prstGeom prst="rect">
            <a:avLst/>
          </a:prstGeom>
        </p:spPr>
      </p:pic>
      <p:sp>
        <p:nvSpPr>
          <p:cNvPr id="20" name="Text 15"/>
          <p:cNvSpPr/>
          <p:nvPr/>
        </p:nvSpPr>
        <p:spPr>
          <a:xfrm>
            <a:off x="9748480" y="6025753"/>
            <a:ext cx="1995487" cy="249436"/>
          </a:xfrm>
          <a:prstGeom prst="rect">
            <a:avLst/>
          </a:prstGeom>
          <a:noFill/>
          <a:ln/>
        </p:spPr>
        <p:txBody>
          <a:bodyPr wrap="none" lIns="0" tIns="0" rIns="0" bIns="0" rtlCol="0" anchor="t"/>
          <a:lstStyle/>
          <a:p>
            <a:pPr marL="0" indent="0" algn="l">
              <a:lnSpc>
                <a:spcPts val="1950"/>
              </a:lnSpc>
              <a:buNone/>
            </a:pPr>
            <a:r>
              <a:rPr lang="en-US" sz="1550" b="1" dirty="0">
                <a:solidFill>
                  <a:srgbClr val="384653"/>
                </a:solidFill>
                <a:latin typeface="Calibri Light" panose="020F0302020204030204" pitchFamily="34" charset="0"/>
                <a:ea typeface="Barlow Bold" pitchFamily="34" charset="-122"/>
                <a:cs typeface="Barlow Bold" pitchFamily="34" charset="-120"/>
              </a:rPr>
              <a:t>Weather Severity</a:t>
            </a:r>
            <a:endParaRPr lang="en-US" sz="1550" dirty="0"/>
          </a:p>
        </p:txBody>
      </p:sp>
      <p:sp>
        <p:nvSpPr>
          <p:cNvPr id="21" name="Text 16"/>
          <p:cNvSpPr/>
          <p:nvPr/>
        </p:nvSpPr>
        <p:spPr>
          <a:xfrm>
            <a:off x="9748480" y="6347936"/>
            <a:ext cx="3956804" cy="873443"/>
          </a:xfrm>
          <a:prstGeom prst="rect">
            <a:avLst/>
          </a:prstGeom>
          <a:noFill/>
          <a:ln/>
        </p:spPr>
        <p:txBody>
          <a:bodyPr wrap="square" lIns="0" tIns="0" rIns="0" bIns="0" rtlCol="0" anchor="t"/>
          <a:lstStyle/>
          <a:p>
            <a:pPr marL="0" indent="0" algn="l">
              <a:lnSpc>
                <a:spcPts val="1700"/>
              </a:lnSpc>
              <a:buNone/>
            </a:pPr>
            <a:r>
              <a:rPr lang="en-US" sz="1150" dirty="0">
                <a:solidFill>
                  <a:srgbClr val="384653"/>
                </a:solidFill>
                <a:latin typeface="Montserrat" pitchFamily="34" charset="0"/>
                <a:ea typeface="Montserrat" pitchFamily="34" charset="-122"/>
                <a:cs typeface="Montserrat" pitchFamily="34" charset="-120"/>
              </a:rPr>
              <a:t>Range 600-3906. Product of temperature and humidity creates environmental stress factor. Higher values indicate harsher working conditions that increase risk.</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8309" y="945356"/>
            <a:ext cx="5840373" cy="623530"/>
          </a:xfrm>
          <a:prstGeom prst="rect">
            <a:avLst/>
          </a:prstGeom>
          <a:noFill/>
          <a:ln/>
        </p:spPr>
        <p:txBody>
          <a:bodyPr wrap="none" lIns="0" tIns="0" rIns="0" bIns="0" rtlCol="0" anchor="t"/>
          <a:lstStyle/>
          <a:p>
            <a:pPr marL="0" indent="0" algn="l">
              <a:lnSpc>
                <a:spcPts val="4900"/>
              </a:lnSpc>
              <a:buNone/>
            </a:pPr>
            <a:r>
              <a:rPr lang="en-US" sz="3900" b="1" dirty="0">
                <a:solidFill>
                  <a:srgbClr val="2E3C4E"/>
                </a:solidFill>
                <a:latin typeface="Calibri Light" panose="020F0302020204030204" pitchFamily="34" charset="0"/>
                <a:ea typeface="Barlow Bold" pitchFamily="34" charset="-122"/>
                <a:cs typeface="Barlow Bold" pitchFamily="34" charset="-120"/>
              </a:rPr>
              <a:t>Preprocessing EDA Output</a:t>
            </a:r>
            <a:endParaRPr lang="en-US" sz="3900" dirty="0"/>
          </a:p>
        </p:txBody>
      </p:sp>
      <p:sp>
        <p:nvSpPr>
          <p:cNvPr id="3" name="Text 1"/>
          <p:cNvSpPr/>
          <p:nvPr/>
        </p:nvSpPr>
        <p:spPr>
          <a:xfrm>
            <a:off x="758309" y="1644610"/>
            <a:ext cx="2993350"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Calibri Light" panose="020F0302020204030204" pitchFamily="34" charset="0"/>
                <a:ea typeface="Barlow Bold" pitchFamily="34" charset="-122"/>
                <a:cs typeface="Barlow Bold" pitchFamily="34" charset="-120"/>
              </a:rPr>
              <a:t>After Preprocessing</a:t>
            </a:r>
            <a:endParaRPr lang="en-US" sz="2350" dirty="0"/>
          </a:p>
        </p:txBody>
      </p:sp>
      <p:pic>
        <p:nvPicPr>
          <p:cNvPr id="4" name="Image 0" descr="preencoded.png"/>
          <p:cNvPicPr>
            <a:picLocks noChangeAspect="1"/>
          </p:cNvPicPr>
          <p:nvPr/>
        </p:nvPicPr>
        <p:blipFill>
          <a:blip r:embed="rId3"/>
          <a:stretch>
            <a:fillRect/>
          </a:stretch>
        </p:blipFill>
        <p:spPr>
          <a:xfrm>
            <a:off x="758309" y="2403634"/>
            <a:ext cx="94774" cy="94774"/>
          </a:xfrm>
          <a:prstGeom prst="rect">
            <a:avLst/>
          </a:prstGeom>
        </p:spPr>
      </p:pic>
      <p:sp>
        <p:nvSpPr>
          <p:cNvPr id="5" name="Text 2"/>
          <p:cNvSpPr/>
          <p:nvPr/>
        </p:nvSpPr>
        <p:spPr>
          <a:xfrm>
            <a:off x="1042630" y="230302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Feature Normalization</a:t>
            </a:r>
            <a:endParaRPr lang="en-US" sz="1950" dirty="0"/>
          </a:p>
        </p:txBody>
      </p:sp>
      <p:sp>
        <p:nvSpPr>
          <p:cNvPr id="6" name="Text 3"/>
          <p:cNvSpPr/>
          <p:nvPr/>
        </p:nvSpPr>
        <p:spPr>
          <a:xfrm>
            <a:off x="1042630" y="2728436"/>
            <a:ext cx="392894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All numeric features standardized with mean=0, std=1</a:t>
            </a:r>
            <a:endParaRPr lang="en-US" sz="1450" dirty="0"/>
          </a:p>
        </p:txBody>
      </p:sp>
      <p:pic>
        <p:nvPicPr>
          <p:cNvPr id="7" name="Image 1" descr="preencoded.png"/>
          <p:cNvPicPr>
            <a:picLocks noChangeAspect="1"/>
          </p:cNvPicPr>
          <p:nvPr/>
        </p:nvPicPr>
        <p:blipFill>
          <a:blip r:embed="rId3"/>
          <a:stretch>
            <a:fillRect/>
          </a:stretch>
        </p:blipFill>
        <p:spPr>
          <a:xfrm>
            <a:off x="5208508" y="2403634"/>
            <a:ext cx="94774" cy="94774"/>
          </a:xfrm>
          <a:prstGeom prst="rect">
            <a:avLst/>
          </a:prstGeom>
        </p:spPr>
      </p:pic>
      <p:sp>
        <p:nvSpPr>
          <p:cNvPr id="8" name="Text 4"/>
          <p:cNvSpPr/>
          <p:nvPr/>
        </p:nvSpPr>
        <p:spPr>
          <a:xfrm>
            <a:off x="5492829" y="230302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Missing Values</a:t>
            </a:r>
            <a:endParaRPr lang="en-US" sz="1950" dirty="0"/>
          </a:p>
        </p:txBody>
      </p:sp>
      <p:sp>
        <p:nvSpPr>
          <p:cNvPr id="9" name="Text 5"/>
          <p:cNvSpPr/>
          <p:nvPr/>
        </p:nvSpPr>
        <p:spPr>
          <a:xfrm>
            <a:off x="5492829" y="2728436"/>
            <a:ext cx="392894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Imputed using column means where data was missing</a:t>
            </a:r>
            <a:endParaRPr lang="en-US" sz="1450" dirty="0"/>
          </a:p>
        </p:txBody>
      </p:sp>
      <p:pic>
        <p:nvPicPr>
          <p:cNvPr id="10" name="Image 2" descr="preencoded.png"/>
          <p:cNvPicPr>
            <a:picLocks noChangeAspect="1"/>
          </p:cNvPicPr>
          <p:nvPr/>
        </p:nvPicPr>
        <p:blipFill>
          <a:blip r:embed="rId3"/>
          <a:stretch>
            <a:fillRect/>
          </a:stretch>
        </p:blipFill>
        <p:spPr>
          <a:xfrm>
            <a:off x="9658707" y="2403634"/>
            <a:ext cx="94774" cy="94774"/>
          </a:xfrm>
          <a:prstGeom prst="rect">
            <a:avLst/>
          </a:prstGeom>
        </p:spPr>
      </p:pic>
      <p:sp>
        <p:nvSpPr>
          <p:cNvPr id="11" name="Text 6"/>
          <p:cNvSpPr/>
          <p:nvPr/>
        </p:nvSpPr>
        <p:spPr>
          <a:xfrm>
            <a:off x="9943028" y="2303026"/>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Categorical Encoding</a:t>
            </a:r>
            <a:endParaRPr lang="en-US" sz="1950" dirty="0"/>
          </a:p>
        </p:txBody>
      </p:sp>
      <p:sp>
        <p:nvSpPr>
          <p:cNvPr id="12" name="Text 7"/>
          <p:cNvSpPr/>
          <p:nvPr/>
        </p:nvSpPr>
        <p:spPr>
          <a:xfrm>
            <a:off x="9943028" y="2728436"/>
            <a:ext cx="392906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Encoded categorical values numerically for ML models</a:t>
            </a:r>
            <a:endParaRPr lang="en-US" sz="1450" dirty="0"/>
          </a:p>
        </p:txBody>
      </p:sp>
      <p:sp>
        <p:nvSpPr>
          <p:cNvPr id="13" name="Text 8"/>
          <p:cNvSpPr/>
          <p:nvPr/>
        </p:nvSpPr>
        <p:spPr>
          <a:xfrm>
            <a:off x="758309" y="3619262"/>
            <a:ext cx="3426262"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Calibri Light" panose="020F0302020204030204" pitchFamily="34" charset="0"/>
                <a:ea typeface="Barlow Bold" pitchFamily="34" charset="-122"/>
                <a:cs typeface="Barlow Bold" pitchFamily="34" charset="-120"/>
              </a:rPr>
              <a:t>After Feature Engineering</a:t>
            </a:r>
            <a:endParaRPr lang="en-US" sz="2350" dirty="0"/>
          </a:p>
        </p:txBody>
      </p:sp>
      <p:pic>
        <p:nvPicPr>
          <p:cNvPr id="14" name="Image 3" descr="preencoded.png"/>
          <p:cNvPicPr>
            <a:picLocks noChangeAspect="1"/>
          </p:cNvPicPr>
          <p:nvPr/>
        </p:nvPicPr>
        <p:blipFill>
          <a:blip r:embed="rId3"/>
          <a:stretch>
            <a:fillRect/>
          </a:stretch>
        </p:blipFill>
        <p:spPr>
          <a:xfrm>
            <a:off x="758309" y="4378285"/>
            <a:ext cx="94774" cy="94774"/>
          </a:xfrm>
          <a:prstGeom prst="rect">
            <a:avLst/>
          </a:prstGeom>
        </p:spPr>
      </p:pic>
      <p:sp>
        <p:nvSpPr>
          <p:cNvPr id="15" name="Text 9"/>
          <p:cNvSpPr/>
          <p:nvPr/>
        </p:nvSpPr>
        <p:spPr>
          <a:xfrm>
            <a:off x="1042630" y="4277678"/>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Fatigue Index Range</a:t>
            </a:r>
            <a:endParaRPr lang="en-US" sz="1950" dirty="0"/>
          </a:p>
        </p:txBody>
      </p:sp>
      <p:sp>
        <p:nvSpPr>
          <p:cNvPr id="16" name="Text 10"/>
          <p:cNvSpPr/>
          <p:nvPr/>
        </p:nvSpPr>
        <p:spPr>
          <a:xfrm>
            <a:off x="1042630" y="4703088"/>
            <a:ext cx="392894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6-16 hours, with higher values indicating increased worker fatigue</a:t>
            </a:r>
            <a:endParaRPr lang="en-US" sz="1450" dirty="0"/>
          </a:p>
        </p:txBody>
      </p:sp>
      <p:pic>
        <p:nvPicPr>
          <p:cNvPr id="17" name="Image 4" descr="preencoded.png"/>
          <p:cNvPicPr>
            <a:picLocks noChangeAspect="1"/>
          </p:cNvPicPr>
          <p:nvPr/>
        </p:nvPicPr>
        <p:blipFill>
          <a:blip r:embed="rId3"/>
          <a:stretch>
            <a:fillRect/>
          </a:stretch>
        </p:blipFill>
        <p:spPr>
          <a:xfrm>
            <a:off x="5208508" y="4378285"/>
            <a:ext cx="94774" cy="94774"/>
          </a:xfrm>
          <a:prstGeom prst="rect">
            <a:avLst/>
          </a:prstGeom>
        </p:spPr>
      </p:pic>
      <p:sp>
        <p:nvSpPr>
          <p:cNvPr id="18" name="Text 11"/>
          <p:cNvSpPr/>
          <p:nvPr/>
        </p:nvSpPr>
        <p:spPr>
          <a:xfrm>
            <a:off x="5492829" y="4277678"/>
            <a:ext cx="2494359"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Equipment Risk Range</a:t>
            </a:r>
            <a:endParaRPr lang="en-US" sz="1950" dirty="0"/>
          </a:p>
        </p:txBody>
      </p:sp>
      <p:sp>
        <p:nvSpPr>
          <p:cNvPr id="19" name="Text 12"/>
          <p:cNvSpPr/>
          <p:nvPr/>
        </p:nvSpPr>
        <p:spPr>
          <a:xfrm>
            <a:off x="5492829" y="4703088"/>
            <a:ext cx="392894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0.01-0.18, with higher values indicating riskier equipment conditions</a:t>
            </a:r>
            <a:endParaRPr lang="en-US" sz="1450" dirty="0"/>
          </a:p>
        </p:txBody>
      </p:sp>
      <p:pic>
        <p:nvPicPr>
          <p:cNvPr id="20" name="Image 5" descr="preencoded.png"/>
          <p:cNvPicPr>
            <a:picLocks noChangeAspect="1"/>
          </p:cNvPicPr>
          <p:nvPr/>
        </p:nvPicPr>
        <p:blipFill>
          <a:blip r:embed="rId3"/>
          <a:stretch>
            <a:fillRect/>
          </a:stretch>
        </p:blipFill>
        <p:spPr>
          <a:xfrm>
            <a:off x="9658707" y="4378285"/>
            <a:ext cx="94774" cy="94774"/>
          </a:xfrm>
          <a:prstGeom prst="rect">
            <a:avLst/>
          </a:prstGeom>
        </p:spPr>
      </p:pic>
      <p:sp>
        <p:nvSpPr>
          <p:cNvPr id="21" name="Text 13"/>
          <p:cNvSpPr/>
          <p:nvPr/>
        </p:nvSpPr>
        <p:spPr>
          <a:xfrm>
            <a:off x="9943028" y="4277678"/>
            <a:ext cx="2639020"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Weather Severity Range</a:t>
            </a:r>
            <a:endParaRPr lang="en-US" sz="1950" dirty="0"/>
          </a:p>
        </p:txBody>
      </p:sp>
      <p:sp>
        <p:nvSpPr>
          <p:cNvPr id="22" name="Text 14"/>
          <p:cNvSpPr/>
          <p:nvPr/>
        </p:nvSpPr>
        <p:spPr>
          <a:xfrm>
            <a:off x="9943028" y="4703088"/>
            <a:ext cx="392906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600-3906, with higher values indicating harsher environmental conditions</a:t>
            </a:r>
            <a:endParaRPr lang="en-US" sz="1450" dirty="0"/>
          </a:p>
        </p:txBody>
      </p:sp>
      <p:sp>
        <p:nvSpPr>
          <p:cNvPr id="23" name="Text 15"/>
          <p:cNvSpPr/>
          <p:nvPr/>
        </p:nvSpPr>
        <p:spPr>
          <a:xfrm>
            <a:off x="758309" y="5593913"/>
            <a:ext cx="4368165" cy="374094"/>
          </a:xfrm>
          <a:prstGeom prst="rect">
            <a:avLst/>
          </a:prstGeom>
          <a:noFill/>
          <a:ln/>
        </p:spPr>
        <p:txBody>
          <a:bodyPr wrap="none" lIns="0" tIns="0" rIns="0" bIns="0" rtlCol="0" anchor="t"/>
          <a:lstStyle/>
          <a:p>
            <a:pPr marL="0" indent="0" algn="l">
              <a:lnSpc>
                <a:spcPts val="2900"/>
              </a:lnSpc>
              <a:buNone/>
            </a:pPr>
            <a:r>
              <a:rPr lang="en-US" sz="2350" b="1" dirty="0">
                <a:solidFill>
                  <a:srgbClr val="2E3C4E"/>
                </a:solidFill>
                <a:latin typeface="Calibri Light" panose="020F0302020204030204" pitchFamily="34" charset="0"/>
                <a:ea typeface="Barlow Bold" pitchFamily="34" charset="-122"/>
                <a:cs typeface="Barlow Bold" pitchFamily="34" charset="-120"/>
              </a:rPr>
              <a:t>Correlation with Target Improved</a:t>
            </a:r>
            <a:endParaRPr lang="en-US" sz="2350" dirty="0"/>
          </a:p>
        </p:txBody>
      </p:sp>
      <p:pic>
        <p:nvPicPr>
          <p:cNvPr id="24" name="Image 6" descr="preencoded.png"/>
          <p:cNvPicPr>
            <a:picLocks noChangeAspect="1"/>
          </p:cNvPicPr>
          <p:nvPr/>
        </p:nvPicPr>
        <p:blipFill>
          <a:blip r:embed="rId3"/>
          <a:stretch>
            <a:fillRect/>
          </a:stretch>
        </p:blipFill>
        <p:spPr>
          <a:xfrm>
            <a:off x="758309" y="6352937"/>
            <a:ext cx="94774" cy="94774"/>
          </a:xfrm>
          <a:prstGeom prst="rect">
            <a:avLst/>
          </a:prstGeom>
        </p:spPr>
      </p:pic>
      <p:sp>
        <p:nvSpPr>
          <p:cNvPr id="25" name="Text 16"/>
          <p:cNvSpPr/>
          <p:nvPr/>
        </p:nvSpPr>
        <p:spPr>
          <a:xfrm>
            <a:off x="1042630" y="6252329"/>
            <a:ext cx="3319224"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Stronger Accident Correlation</a:t>
            </a:r>
            <a:endParaRPr lang="en-US" sz="1950" dirty="0"/>
          </a:p>
        </p:txBody>
      </p:sp>
      <p:sp>
        <p:nvSpPr>
          <p:cNvPr id="26" name="Text 17"/>
          <p:cNvSpPr/>
          <p:nvPr/>
        </p:nvSpPr>
        <p:spPr>
          <a:xfrm>
            <a:off x="1042630" y="6677739"/>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Fatigue index shows enhanced correlation with accident occurrence</a:t>
            </a:r>
            <a:endParaRPr lang="en-US" sz="1450" dirty="0"/>
          </a:p>
        </p:txBody>
      </p:sp>
      <p:pic>
        <p:nvPicPr>
          <p:cNvPr id="27" name="Image 7" descr="preencoded.png"/>
          <p:cNvPicPr>
            <a:picLocks noChangeAspect="1"/>
          </p:cNvPicPr>
          <p:nvPr/>
        </p:nvPicPr>
        <p:blipFill>
          <a:blip r:embed="rId3"/>
          <a:stretch>
            <a:fillRect/>
          </a:stretch>
        </p:blipFill>
        <p:spPr>
          <a:xfrm>
            <a:off x="7433667" y="6352937"/>
            <a:ext cx="94774" cy="94774"/>
          </a:xfrm>
          <a:prstGeom prst="rect">
            <a:avLst/>
          </a:prstGeom>
        </p:spPr>
      </p:pic>
      <p:sp>
        <p:nvSpPr>
          <p:cNvPr id="28" name="Text 18"/>
          <p:cNvSpPr/>
          <p:nvPr/>
        </p:nvSpPr>
        <p:spPr>
          <a:xfrm>
            <a:off x="7717988" y="6252329"/>
            <a:ext cx="2798683" cy="311706"/>
          </a:xfrm>
          <a:prstGeom prst="rect">
            <a:avLst/>
          </a:prstGeom>
          <a:noFill/>
          <a:ln/>
        </p:spPr>
        <p:txBody>
          <a:bodyPr wrap="none" lIns="0" tIns="0" rIns="0" bIns="0" rtlCol="0" anchor="t"/>
          <a:lstStyle/>
          <a:p>
            <a:pPr marL="0" indent="0" algn="l">
              <a:lnSpc>
                <a:spcPts val="2450"/>
              </a:lnSpc>
              <a:buNone/>
            </a:pPr>
            <a:r>
              <a:rPr lang="en-US" sz="1950" b="1" dirty="0">
                <a:solidFill>
                  <a:srgbClr val="384653"/>
                </a:solidFill>
                <a:latin typeface="Calibri Light" panose="020F0302020204030204" pitchFamily="34" charset="0"/>
                <a:ea typeface="Barlow Bold" pitchFamily="34" charset="-122"/>
                <a:cs typeface="Barlow Bold" pitchFamily="34" charset="-120"/>
              </a:rPr>
              <a:t>Non-Linear Relationships</a:t>
            </a:r>
            <a:endParaRPr lang="en-US" sz="1950" dirty="0"/>
          </a:p>
        </p:txBody>
      </p:sp>
      <p:sp>
        <p:nvSpPr>
          <p:cNvPr id="29" name="Text 19"/>
          <p:cNvSpPr/>
          <p:nvPr/>
        </p:nvSpPr>
        <p:spPr>
          <a:xfrm>
            <a:off x="7717988" y="6677739"/>
            <a:ext cx="6154103" cy="606504"/>
          </a:xfrm>
          <a:prstGeom prst="rect">
            <a:avLst/>
          </a:prstGeom>
          <a:noFill/>
          <a:ln/>
        </p:spPr>
        <p:txBody>
          <a:bodyPr wrap="square" lIns="0" tIns="0" rIns="0" bIns="0" rtlCol="0" anchor="t"/>
          <a:lstStyle/>
          <a:p>
            <a:pPr marL="0" indent="0" algn="l">
              <a:lnSpc>
                <a:spcPts val="2350"/>
              </a:lnSpc>
              <a:buNone/>
            </a:pPr>
            <a:r>
              <a:rPr lang="en-US" sz="1450" dirty="0">
                <a:solidFill>
                  <a:srgbClr val="384653"/>
                </a:solidFill>
                <a:latin typeface="Montserrat" pitchFamily="34" charset="0"/>
                <a:ea typeface="Montserrat" pitchFamily="34" charset="-122"/>
                <a:cs typeface="Montserrat" pitchFamily="34" charset="-120"/>
              </a:rPr>
              <a:t>Equipment risk captures complex non-linear relationships between age and maintenance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62062" y="1519952"/>
            <a:ext cx="8306157" cy="51896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162062" y="1519952"/>
            <a:ext cx="8306157" cy="51896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976313"/>
            <a:ext cx="8063984"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Calibri Light" panose="020F0302020204030204" pitchFamily="34" charset="0"/>
                <a:ea typeface="Barlow Bold" pitchFamily="34" charset="-122"/>
                <a:cs typeface="Barlow Bold" pitchFamily="34" charset="-120"/>
              </a:rPr>
              <a:t>Methodology - System Architecture</a:t>
            </a:r>
            <a:endParaRPr lang="en-US" sz="4000" dirty="0"/>
          </a:p>
        </p:txBody>
      </p:sp>
      <p:sp>
        <p:nvSpPr>
          <p:cNvPr id="3" name="Text 1"/>
          <p:cNvSpPr/>
          <p:nvPr/>
        </p:nvSpPr>
        <p:spPr>
          <a:xfrm>
            <a:off x="758309" y="1968579"/>
            <a:ext cx="13113782" cy="59269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Our safety monitoring system employs a five-layer architecture designed for scalability and real-time prediction. Each layer serves a distinct purpose in transforming raw industrial data into actionable risk intelligence.</a:t>
            </a:r>
            <a:endParaRPr lang="en-US" sz="1500" dirty="0"/>
          </a:p>
        </p:txBody>
      </p:sp>
      <p:sp>
        <p:nvSpPr>
          <p:cNvPr id="4" name="Text 2"/>
          <p:cNvSpPr/>
          <p:nvPr/>
        </p:nvSpPr>
        <p:spPr>
          <a:xfrm>
            <a:off x="758309" y="2758678"/>
            <a:ext cx="194905" cy="243721"/>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Barlow Light" pitchFamily="34" charset="0"/>
                <a:ea typeface="Barlow Light" pitchFamily="34" charset="-122"/>
                <a:cs typeface="Barlow Light" pitchFamily="34" charset="-120"/>
              </a:rPr>
              <a:t>01</a:t>
            </a:r>
            <a:endParaRPr lang="en-US" sz="1500" dirty="0"/>
          </a:p>
        </p:txBody>
      </p:sp>
      <p:pic>
        <p:nvPicPr>
          <p:cNvPr id="5" name="Image 0" descr="preencoded.png"/>
          <p:cNvPicPr>
            <a:picLocks noChangeAspect="1"/>
          </p:cNvPicPr>
          <p:nvPr/>
        </p:nvPicPr>
        <p:blipFill>
          <a:blip r:embed="rId3"/>
          <a:stretch>
            <a:fillRect/>
          </a:stretch>
        </p:blipFill>
        <p:spPr>
          <a:xfrm>
            <a:off x="758309" y="3067169"/>
            <a:ext cx="4254341" cy="22860"/>
          </a:xfrm>
          <a:prstGeom prst="rect">
            <a:avLst/>
          </a:prstGeom>
        </p:spPr>
      </p:pic>
      <p:sp>
        <p:nvSpPr>
          <p:cNvPr id="6" name="Text 3"/>
          <p:cNvSpPr/>
          <p:nvPr/>
        </p:nvSpPr>
        <p:spPr>
          <a:xfrm>
            <a:off x="758309" y="3210282"/>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Calibri Light" panose="020F0302020204030204" pitchFamily="34" charset="0"/>
                <a:ea typeface="Barlow Bold" pitchFamily="34" charset="-122"/>
                <a:cs typeface="Barlow Bold" pitchFamily="34" charset="-120"/>
              </a:rPr>
              <a:t>Data Layer</a:t>
            </a:r>
            <a:endParaRPr lang="en-US" sz="2000" dirty="0"/>
          </a:p>
        </p:txBody>
      </p:sp>
      <p:sp>
        <p:nvSpPr>
          <p:cNvPr id="7" name="Text 4"/>
          <p:cNvSpPr/>
          <p:nvPr/>
        </p:nvSpPr>
        <p:spPr>
          <a:xfrm>
            <a:off x="758309" y="3636169"/>
            <a:ext cx="4254341" cy="889040"/>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CSV and Excel file ingestion with comprehensive validation to ensure data quality and integrity</a:t>
            </a:r>
            <a:endParaRPr lang="en-US" sz="1500" dirty="0"/>
          </a:p>
        </p:txBody>
      </p:sp>
      <p:sp>
        <p:nvSpPr>
          <p:cNvPr id="8" name="Text 5"/>
          <p:cNvSpPr/>
          <p:nvPr/>
        </p:nvSpPr>
        <p:spPr>
          <a:xfrm>
            <a:off x="5188029" y="2758678"/>
            <a:ext cx="194905" cy="243721"/>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Barlow Light" pitchFamily="34" charset="0"/>
                <a:ea typeface="Barlow Light" pitchFamily="34" charset="-122"/>
                <a:cs typeface="Barlow Light" pitchFamily="34" charset="-120"/>
              </a:rPr>
              <a:t>02</a:t>
            </a:r>
            <a:endParaRPr lang="en-US" sz="1500" dirty="0"/>
          </a:p>
        </p:txBody>
      </p:sp>
      <p:pic>
        <p:nvPicPr>
          <p:cNvPr id="9" name="Image 1" descr="preencoded.png"/>
          <p:cNvPicPr>
            <a:picLocks noChangeAspect="1"/>
          </p:cNvPicPr>
          <p:nvPr/>
        </p:nvPicPr>
        <p:blipFill>
          <a:blip r:embed="rId3"/>
          <a:stretch>
            <a:fillRect/>
          </a:stretch>
        </p:blipFill>
        <p:spPr>
          <a:xfrm>
            <a:off x="5188029" y="3067169"/>
            <a:ext cx="4254341" cy="22860"/>
          </a:xfrm>
          <a:prstGeom prst="rect">
            <a:avLst/>
          </a:prstGeom>
        </p:spPr>
      </p:pic>
      <p:sp>
        <p:nvSpPr>
          <p:cNvPr id="10" name="Text 6"/>
          <p:cNvSpPr/>
          <p:nvPr/>
        </p:nvSpPr>
        <p:spPr>
          <a:xfrm>
            <a:off x="5188029" y="3210282"/>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Calibri Light" panose="020F0302020204030204" pitchFamily="34" charset="0"/>
                <a:ea typeface="Barlow Bold" pitchFamily="34" charset="-122"/>
                <a:cs typeface="Barlow Bold" pitchFamily="34" charset="-120"/>
              </a:rPr>
              <a:t>Pipeline Layer</a:t>
            </a:r>
            <a:endParaRPr lang="en-US" sz="2000" dirty="0"/>
          </a:p>
        </p:txBody>
      </p:sp>
      <p:sp>
        <p:nvSpPr>
          <p:cNvPr id="11" name="Text 7"/>
          <p:cNvSpPr/>
          <p:nvPr/>
        </p:nvSpPr>
        <p:spPr>
          <a:xfrm>
            <a:off x="5188029" y="3636169"/>
            <a:ext cx="4254341" cy="889040"/>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Automated preprocessing and feature engineering to extract meaningful patterns from raw inputs</a:t>
            </a:r>
            <a:endParaRPr lang="en-US" sz="1500" dirty="0"/>
          </a:p>
        </p:txBody>
      </p:sp>
      <p:sp>
        <p:nvSpPr>
          <p:cNvPr id="12" name="Text 8"/>
          <p:cNvSpPr/>
          <p:nvPr/>
        </p:nvSpPr>
        <p:spPr>
          <a:xfrm>
            <a:off x="9617750" y="2758678"/>
            <a:ext cx="194905" cy="243721"/>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Barlow Light" pitchFamily="34" charset="0"/>
                <a:ea typeface="Barlow Light" pitchFamily="34" charset="-122"/>
                <a:cs typeface="Barlow Light" pitchFamily="34" charset="-120"/>
              </a:rPr>
              <a:t>03</a:t>
            </a:r>
            <a:endParaRPr lang="en-US" sz="1500" dirty="0"/>
          </a:p>
        </p:txBody>
      </p:sp>
      <p:pic>
        <p:nvPicPr>
          <p:cNvPr id="13" name="Image 2" descr="preencoded.png"/>
          <p:cNvPicPr>
            <a:picLocks noChangeAspect="1"/>
          </p:cNvPicPr>
          <p:nvPr/>
        </p:nvPicPr>
        <p:blipFill>
          <a:blip r:embed="rId3"/>
          <a:stretch>
            <a:fillRect/>
          </a:stretch>
        </p:blipFill>
        <p:spPr>
          <a:xfrm>
            <a:off x="9617750" y="3067169"/>
            <a:ext cx="4254341" cy="22860"/>
          </a:xfrm>
          <a:prstGeom prst="rect">
            <a:avLst/>
          </a:prstGeom>
        </p:spPr>
      </p:pic>
      <p:sp>
        <p:nvSpPr>
          <p:cNvPr id="14" name="Text 9"/>
          <p:cNvSpPr/>
          <p:nvPr/>
        </p:nvSpPr>
        <p:spPr>
          <a:xfrm>
            <a:off x="9617750" y="3210282"/>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Calibri Light" panose="020F0302020204030204" pitchFamily="34" charset="0"/>
                <a:ea typeface="Barlow Bold" pitchFamily="34" charset="-122"/>
                <a:cs typeface="Barlow Bold" pitchFamily="34" charset="-120"/>
              </a:rPr>
              <a:t>Model Layer</a:t>
            </a:r>
            <a:endParaRPr lang="en-US" sz="2000" dirty="0"/>
          </a:p>
        </p:txBody>
      </p:sp>
      <p:sp>
        <p:nvSpPr>
          <p:cNvPr id="15" name="Text 10"/>
          <p:cNvSpPr/>
          <p:nvPr/>
        </p:nvSpPr>
        <p:spPr>
          <a:xfrm>
            <a:off x="9617750" y="3636169"/>
            <a:ext cx="4254341" cy="889040"/>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Eight specialized ML models combined through weighted ensemble logic for optimal predictions</a:t>
            </a:r>
            <a:endParaRPr lang="en-US" sz="1500" dirty="0"/>
          </a:p>
        </p:txBody>
      </p:sp>
      <p:sp>
        <p:nvSpPr>
          <p:cNvPr id="16" name="Text 11"/>
          <p:cNvSpPr/>
          <p:nvPr/>
        </p:nvSpPr>
        <p:spPr>
          <a:xfrm>
            <a:off x="758309" y="4846796"/>
            <a:ext cx="194905" cy="243721"/>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Barlow Light" pitchFamily="34" charset="0"/>
                <a:ea typeface="Barlow Light" pitchFamily="34" charset="-122"/>
                <a:cs typeface="Barlow Light" pitchFamily="34" charset="-120"/>
              </a:rPr>
              <a:t>04</a:t>
            </a:r>
            <a:endParaRPr lang="en-US" sz="1500" dirty="0"/>
          </a:p>
        </p:txBody>
      </p:sp>
      <p:pic>
        <p:nvPicPr>
          <p:cNvPr id="17" name="Image 3" descr="preencoded.png"/>
          <p:cNvPicPr>
            <a:picLocks noChangeAspect="1"/>
          </p:cNvPicPr>
          <p:nvPr/>
        </p:nvPicPr>
        <p:blipFill>
          <a:blip r:embed="rId4"/>
          <a:stretch>
            <a:fillRect/>
          </a:stretch>
        </p:blipFill>
        <p:spPr>
          <a:xfrm>
            <a:off x="758309" y="5135761"/>
            <a:ext cx="6469142" cy="22860"/>
          </a:xfrm>
          <a:prstGeom prst="rect">
            <a:avLst/>
          </a:prstGeom>
        </p:spPr>
      </p:pic>
      <p:sp>
        <p:nvSpPr>
          <p:cNvPr id="18" name="Text 12"/>
          <p:cNvSpPr/>
          <p:nvPr/>
        </p:nvSpPr>
        <p:spPr>
          <a:xfrm>
            <a:off x="758309" y="5298400"/>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Calibri Light" panose="020F0302020204030204" pitchFamily="34" charset="0"/>
                <a:ea typeface="Barlow Bold" pitchFamily="34" charset="-122"/>
                <a:cs typeface="Barlow Bold" pitchFamily="34" charset="-120"/>
              </a:rPr>
              <a:t>API Layer</a:t>
            </a:r>
            <a:endParaRPr lang="en-US" sz="2000" dirty="0"/>
          </a:p>
        </p:txBody>
      </p:sp>
      <p:sp>
        <p:nvSpPr>
          <p:cNvPr id="19" name="Text 13"/>
          <p:cNvSpPr/>
          <p:nvPr/>
        </p:nvSpPr>
        <p:spPr>
          <a:xfrm>
            <a:off x="758309" y="5724287"/>
            <a:ext cx="6469142" cy="59269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FastAPI implementation enabling real-time predictions with sub-second response times</a:t>
            </a:r>
            <a:endParaRPr lang="en-US" sz="1500" dirty="0"/>
          </a:p>
        </p:txBody>
      </p:sp>
      <p:sp>
        <p:nvSpPr>
          <p:cNvPr id="20" name="Text 14"/>
          <p:cNvSpPr/>
          <p:nvPr/>
        </p:nvSpPr>
        <p:spPr>
          <a:xfrm>
            <a:off x="7402830" y="4846796"/>
            <a:ext cx="194905" cy="243721"/>
          </a:xfrm>
          <a:prstGeom prst="rect">
            <a:avLst/>
          </a:prstGeom>
          <a:noFill/>
          <a:ln/>
        </p:spPr>
        <p:txBody>
          <a:bodyPr wrap="none" lIns="0" tIns="0" rIns="0" bIns="0" rtlCol="0" anchor="t"/>
          <a:lstStyle/>
          <a:p>
            <a:pPr marL="0" indent="0" algn="l">
              <a:lnSpc>
                <a:spcPts val="2300"/>
              </a:lnSpc>
              <a:buNone/>
            </a:pPr>
            <a:r>
              <a:rPr lang="en-US" sz="1500" dirty="0">
                <a:solidFill>
                  <a:srgbClr val="384653"/>
                </a:solidFill>
                <a:latin typeface="Barlow Light" pitchFamily="34" charset="0"/>
                <a:ea typeface="Barlow Light" pitchFamily="34" charset="-122"/>
                <a:cs typeface="Barlow Light" pitchFamily="34" charset="-120"/>
              </a:rPr>
              <a:t>05</a:t>
            </a:r>
            <a:endParaRPr lang="en-US" sz="1500" dirty="0"/>
          </a:p>
        </p:txBody>
      </p:sp>
      <p:pic>
        <p:nvPicPr>
          <p:cNvPr id="21" name="Image 4" descr="preencoded.png"/>
          <p:cNvPicPr>
            <a:picLocks noChangeAspect="1"/>
          </p:cNvPicPr>
          <p:nvPr/>
        </p:nvPicPr>
        <p:blipFill>
          <a:blip r:embed="rId4"/>
          <a:stretch>
            <a:fillRect/>
          </a:stretch>
        </p:blipFill>
        <p:spPr>
          <a:xfrm>
            <a:off x="7402830" y="5135761"/>
            <a:ext cx="6469261" cy="22860"/>
          </a:xfrm>
          <a:prstGeom prst="rect">
            <a:avLst/>
          </a:prstGeom>
        </p:spPr>
      </p:pic>
      <p:sp>
        <p:nvSpPr>
          <p:cNvPr id="22" name="Text 15"/>
          <p:cNvSpPr/>
          <p:nvPr/>
        </p:nvSpPr>
        <p:spPr>
          <a:xfrm>
            <a:off x="7402830" y="5298400"/>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Calibri Light" panose="020F0302020204030204" pitchFamily="34" charset="0"/>
                <a:ea typeface="Barlow Bold" pitchFamily="34" charset="-122"/>
                <a:cs typeface="Barlow Bold" pitchFamily="34" charset="-120"/>
              </a:rPr>
              <a:t>Frontend Layer</a:t>
            </a:r>
            <a:endParaRPr lang="en-US" sz="2000" dirty="0"/>
          </a:p>
        </p:txBody>
      </p:sp>
      <p:sp>
        <p:nvSpPr>
          <p:cNvPr id="23" name="Text 16"/>
          <p:cNvSpPr/>
          <p:nvPr/>
        </p:nvSpPr>
        <p:spPr>
          <a:xfrm>
            <a:off x="7402830" y="5724287"/>
            <a:ext cx="6469261" cy="59269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Interactive dashboard powered by Chart.js for intuitive visualization of risk assessments</a:t>
            </a:r>
            <a:endParaRPr lang="en-US" sz="1500" dirty="0"/>
          </a:p>
        </p:txBody>
      </p:sp>
      <p:sp>
        <p:nvSpPr>
          <p:cNvPr id="24" name="Text 17"/>
          <p:cNvSpPr/>
          <p:nvPr/>
        </p:nvSpPr>
        <p:spPr>
          <a:xfrm>
            <a:off x="758309" y="6660594"/>
            <a:ext cx="13113782" cy="592693"/>
          </a:xfrm>
          <a:prstGeom prst="rect">
            <a:avLst/>
          </a:prstGeom>
          <a:noFill/>
          <a:ln/>
        </p:spPr>
        <p:txBody>
          <a:bodyPr wrap="square" lIns="0" tIns="0" rIns="0" bIns="0" rtlCol="0" anchor="t"/>
          <a:lstStyle/>
          <a:p>
            <a:pPr marL="0" indent="0" algn="l">
              <a:lnSpc>
                <a:spcPts val="2300"/>
              </a:lnSpc>
              <a:buNone/>
            </a:pPr>
            <a:r>
              <a:rPr lang="en-US" sz="1500" dirty="0">
                <a:solidFill>
                  <a:srgbClr val="384653"/>
                </a:solidFill>
                <a:latin typeface="Montserrat" pitchFamily="34" charset="0"/>
                <a:ea typeface="Montserrat" pitchFamily="34" charset="-122"/>
                <a:cs typeface="Montserrat" pitchFamily="34" charset="-120"/>
              </a:rPr>
              <a:t>The training pipeline follows a systematic flow: data loading → validation → preprocessing → feature engineering → 80/20 train-test split → model training → evaluation → model persistence.</a:t>
            </a:r>
            <a:endParaRPr lang="en-US" sz="1500" dirty="0"/>
          </a:p>
        </p:txBody>
      </p:sp>
    </p:spTree>
    <p:extLst>
      <p:ext uri="{BB962C8B-B14F-4D97-AF65-F5344CB8AC3E}">
        <p14:creationId xmlns:p14="http://schemas.microsoft.com/office/powerpoint/2010/main" val="624312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318855"/>
            <a:ext cx="8139470" cy="676989"/>
          </a:xfrm>
          <a:prstGeom prst="rect">
            <a:avLst/>
          </a:prstGeom>
          <a:noFill/>
          <a:ln/>
        </p:spPr>
        <p:txBody>
          <a:bodyPr wrap="none" lIns="0" tIns="0" rIns="0" bIns="0" rtlCol="0" anchor="t"/>
          <a:lstStyle/>
          <a:p>
            <a:pPr marL="0" indent="0" algn="l">
              <a:lnSpc>
                <a:spcPts val="5300"/>
              </a:lnSpc>
              <a:buNone/>
            </a:pPr>
            <a:r>
              <a:rPr lang="en-US" sz="4250" b="1" dirty="0">
                <a:solidFill>
                  <a:srgbClr val="2E3C4E"/>
                </a:solidFill>
                <a:latin typeface="Calibri Light" panose="020F0302020204030204" pitchFamily="34" charset="0"/>
                <a:ea typeface="Barlow Bold" pitchFamily="34" charset="-122"/>
                <a:cs typeface="Barlow Bold" pitchFamily="34" charset="-120"/>
              </a:rPr>
              <a:t>Methodology - Model Architecture</a:t>
            </a:r>
            <a:endParaRPr lang="en-US" sz="4250" dirty="0"/>
          </a:p>
        </p:txBody>
      </p:sp>
      <p:sp>
        <p:nvSpPr>
          <p:cNvPr id="3" name="Text 1"/>
          <p:cNvSpPr/>
          <p:nvPr/>
        </p:nvSpPr>
        <p:spPr>
          <a:xfrm>
            <a:off x="758309" y="2073950"/>
            <a:ext cx="5123378" cy="406241"/>
          </a:xfrm>
          <a:prstGeom prst="rect">
            <a:avLst/>
          </a:prstGeom>
          <a:noFill/>
          <a:ln/>
        </p:spPr>
        <p:txBody>
          <a:bodyPr wrap="none" lIns="0" tIns="0" rIns="0" bIns="0" rtlCol="0" anchor="t"/>
          <a:lstStyle/>
          <a:p>
            <a:pPr marL="0" indent="0" algn="l">
              <a:lnSpc>
                <a:spcPts val="3150"/>
              </a:lnSpc>
              <a:buNone/>
            </a:pPr>
            <a:r>
              <a:rPr lang="en-US" sz="2550" b="1" dirty="0">
                <a:solidFill>
                  <a:srgbClr val="2E3C4E"/>
                </a:solidFill>
                <a:latin typeface="Calibri Light" panose="020F0302020204030204" pitchFamily="34" charset="0"/>
                <a:ea typeface="Barlow Bold" pitchFamily="34" charset="-122"/>
                <a:cs typeface="Barlow Bold" pitchFamily="34" charset="-120"/>
              </a:rPr>
              <a:t>8-Model Weighted Ensemble Design</a:t>
            </a:r>
            <a:endParaRPr lang="en-US" sz="2550" dirty="0"/>
          </a:p>
        </p:txBody>
      </p:sp>
      <p:sp>
        <p:nvSpPr>
          <p:cNvPr id="4" name="Text 2"/>
          <p:cNvSpPr/>
          <p:nvPr/>
        </p:nvSpPr>
        <p:spPr>
          <a:xfrm>
            <a:off x="758309" y="2968943"/>
            <a:ext cx="4069913" cy="338495"/>
          </a:xfrm>
          <a:prstGeom prst="rect">
            <a:avLst/>
          </a:prstGeom>
          <a:noFill/>
          <a:ln/>
        </p:spPr>
        <p:txBody>
          <a:bodyPr wrap="none" lIns="0" tIns="0" rIns="0" bIns="0" rtlCol="0" anchor="t"/>
          <a:lstStyle/>
          <a:p>
            <a:pPr marL="0" indent="0" algn="l">
              <a:lnSpc>
                <a:spcPts val="2650"/>
              </a:lnSpc>
              <a:buNone/>
            </a:pPr>
            <a:r>
              <a:rPr lang="en-US" sz="2100" b="1" dirty="0">
                <a:solidFill>
                  <a:srgbClr val="2E3C4E"/>
                </a:solidFill>
                <a:latin typeface="Calibri Light" panose="020F0302020204030204" pitchFamily="34" charset="0"/>
                <a:ea typeface="Barlow Bold" pitchFamily="34" charset="-122"/>
                <a:cs typeface="Barlow Bold" pitchFamily="34" charset="-120"/>
              </a:rPr>
              <a:t>Tree Core Ensemble (40% Weight)</a:t>
            </a:r>
            <a:endParaRPr lang="en-US" sz="2100" dirty="0"/>
          </a:p>
        </p:txBody>
      </p:sp>
      <p:sp>
        <p:nvSpPr>
          <p:cNvPr id="5" name="Text 3"/>
          <p:cNvSpPr/>
          <p:nvPr/>
        </p:nvSpPr>
        <p:spPr>
          <a:xfrm>
            <a:off x="758309" y="3502938"/>
            <a:ext cx="6305788" cy="642223"/>
          </a:xfrm>
          <a:prstGeom prst="rect">
            <a:avLst/>
          </a:prstGeom>
          <a:noFill/>
          <a:ln/>
        </p:spPr>
        <p:txBody>
          <a:bodyPr wrap="squar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Three gradient boosting frameworks form the foundation of our ensemble, leveraging complementary strengths:</a:t>
            </a:r>
            <a:endParaRPr lang="en-US" sz="1600" dirty="0"/>
          </a:p>
        </p:txBody>
      </p:sp>
      <p:sp>
        <p:nvSpPr>
          <p:cNvPr id="6" name="Text 4"/>
          <p:cNvSpPr/>
          <p:nvPr/>
        </p:nvSpPr>
        <p:spPr>
          <a:xfrm>
            <a:off x="758309" y="4321135"/>
            <a:ext cx="6305788" cy="2063353"/>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XGBoost (16%)</a:t>
            </a:r>
            <a:r>
              <a:rPr lang="en-US" sz="1600" dirty="0">
                <a:solidFill>
                  <a:srgbClr val="384653"/>
                </a:solidFill>
                <a:latin typeface="Montserrat" pitchFamily="34" charset="0"/>
                <a:ea typeface="Montserrat" pitchFamily="34" charset="-122"/>
                <a:cs typeface="Montserrat" pitchFamily="34" charset="-120"/>
              </a:rPr>
              <a:t>: Gradient boosting with advanced regularization techniques</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LightGBM (12%)</a:t>
            </a:r>
            <a:r>
              <a:rPr lang="en-US" sz="1600" dirty="0">
                <a:solidFill>
                  <a:srgbClr val="384653"/>
                </a:solidFill>
                <a:latin typeface="Montserrat" pitchFamily="34" charset="0"/>
                <a:ea typeface="Montserrat" pitchFamily="34" charset="-122"/>
                <a:cs typeface="Montserrat" pitchFamily="34" charset="-120"/>
              </a:rPr>
              <a:t>: Histogram-based binning for lightning-fast training</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CatBoost (12%)</a:t>
            </a:r>
            <a:r>
              <a:rPr lang="en-US" sz="1600" dirty="0">
                <a:solidFill>
                  <a:srgbClr val="384653"/>
                </a:solidFill>
                <a:latin typeface="Montserrat" pitchFamily="34" charset="0"/>
                <a:ea typeface="Montserrat" pitchFamily="34" charset="-122"/>
                <a:cs typeface="Montserrat" pitchFamily="34" charset="-120"/>
              </a:rPr>
              <a:t>: Superior handling of categorical features without preprocessing</a:t>
            </a:r>
            <a:endParaRPr lang="en-US" sz="1600" dirty="0"/>
          </a:p>
        </p:txBody>
      </p:sp>
      <p:sp>
        <p:nvSpPr>
          <p:cNvPr id="7" name="Text 5"/>
          <p:cNvSpPr/>
          <p:nvPr/>
        </p:nvSpPr>
        <p:spPr>
          <a:xfrm>
            <a:off x="7573923" y="2968943"/>
            <a:ext cx="3792379" cy="338495"/>
          </a:xfrm>
          <a:prstGeom prst="rect">
            <a:avLst/>
          </a:prstGeom>
          <a:noFill/>
          <a:ln/>
        </p:spPr>
        <p:txBody>
          <a:bodyPr wrap="none" lIns="0" tIns="0" rIns="0" bIns="0" rtlCol="0" anchor="t"/>
          <a:lstStyle/>
          <a:p>
            <a:pPr marL="0" indent="0" algn="l">
              <a:lnSpc>
                <a:spcPts val="2650"/>
              </a:lnSpc>
              <a:buNone/>
            </a:pPr>
            <a:r>
              <a:rPr lang="en-US" sz="2100" b="1" dirty="0">
                <a:solidFill>
                  <a:srgbClr val="2E3C4E"/>
                </a:solidFill>
                <a:latin typeface="Calibri Light" panose="020F0302020204030204" pitchFamily="34" charset="0"/>
                <a:ea typeface="Barlow Bold" pitchFamily="34" charset="-122"/>
                <a:cs typeface="Barlow Bold" pitchFamily="34" charset="-120"/>
              </a:rPr>
              <a:t>Additional Models (60% Weight)</a:t>
            </a:r>
            <a:endParaRPr lang="en-US" sz="2100" dirty="0"/>
          </a:p>
        </p:txBody>
      </p:sp>
      <p:sp>
        <p:nvSpPr>
          <p:cNvPr id="8" name="Text 6"/>
          <p:cNvSpPr/>
          <p:nvPr/>
        </p:nvSpPr>
        <p:spPr>
          <a:xfrm>
            <a:off x="7573923" y="3502938"/>
            <a:ext cx="6305788" cy="642223"/>
          </a:xfrm>
          <a:prstGeom prst="rect">
            <a:avLst/>
          </a:prstGeom>
          <a:noFill/>
          <a:ln/>
        </p:spPr>
        <p:txBody>
          <a:bodyPr wrap="square" lIns="0" tIns="0" rIns="0" bIns="0" rtlCol="0" anchor="t"/>
          <a:lstStyle/>
          <a:p>
            <a:pPr marL="0" indent="0" algn="l">
              <a:lnSpc>
                <a:spcPts val="2500"/>
              </a:lnSpc>
              <a:buNone/>
            </a:pPr>
            <a:r>
              <a:rPr lang="en-US" sz="1600" dirty="0">
                <a:solidFill>
                  <a:srgbClr val="384653"/>
                </a:solidFill>
                <a:latin typeface="Montserrat" pitchFamily="34" charset="0"/>
                <a:ea typeface="Montserrat" pitchFamily="34" charset="-122"/>
                <a:cs typeface="Montserrat" pitchFamily="34" charset="-120"/>
              </a:rPr>
              <a:t>Diverse algorithms provide variance reduction and specialized capabilities:</a:t>
            </a:r>
            <a:endParaRPr lang="en-US" sz="1600" dirty="0"/>
          </a:p>
        </p:txBody>
      </p:sp>
      <p:sp>
        <p:nvSpPr>
          <p:cNvPr id="9" name="Text 7"/>
          <p:cNvSpPr/>
          <p:nvPr/>
        </p:nvSpPr>
        <p:spPr>
          <a:xfrm>
            <a:off x="7573923" y="4321135"/>
            <a:ext cx="6305788" cy="2521148"/>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HistGradientBoosting (12%)</a:t>
            </a:r>
            <a:r>
              <a:rPr lang="en-US" sz="1600" dirty="0">
                <a:solidFill>
                  <a:srgbClr val="384653"/>
                </a:solidFill>
                <a:latin typeface="Montserrat" pitchFamily="34" charset="0"/>
                <a:ea typeface="Montserrat" pitchFamily="34" charset="-122"/>
                <a:cs typeface="Montserrat" pitchFamily="34" charset="-120"/>
              </a:rPr>
              <a:t>: Scikit-learn implementation</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ExtraTrees (12%)</a:t>
            </a:r>
            <a:r>
              <a:rPr lang="en-US" sz="1600" dirty="0">
                <a:solidFill>
                  <a:srgbClr val="384653"/>
                </a:solidFill>
                <a:latin typeface="Montserrat" pitchFamily="34" charset="0"/>
                <a:ea typeface="Montserrat" pitchFamily="34" charset="-122"/>
                <a:cs typeface="Montserrat" pitchFamily="34" charset="-120"/>
              </a:rPr>
              <a:t>: Randomized trees for variance reduction</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LSTM (12%)</a:t>
            </a:r>
            <a:r>
              <a:rPr lang="en-US" sz="1600" dirty="0">
                <a:solidFill>
                  <a:srgbClr val="384653"/>
                </a:solidFill>
                <a:latin typeface="Montserrat" pitchFamily="34" charset="0"/>
                <a:ea typeface="Montserrat" pitchFamily="34" charset="-122"/>
                <a:cs typeface="Montserrat" pitchFamily="34" charset="-120"/>
              </a:rPr>
              <a:t>: Deep learning for temporal patterns</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Isolation Forest (10%)</a:t>
            </a:r>
            <a:r>
              <a:rPr lang="en-US" sz="1600" dirty="0">
                <a:solidFill>
                  <a:srgbClr val="384653"/>
                </a:solidFill>
                <a:latin typeface="Montserrat" pitchFamily="34" charset="0"/>
                <a:ea typeface="Montserrat" pitchFamily="34" charset="-122"/>
                <a:cs typeface="Montserrat" pitchFamily="34" charset="-120"/>
              </a:rPr>
              <a:t>: Anomaly detection for outliers</a:t>
            </a:r>
            <a:endParaRPr lang="en-US" sz="1600" dirty="0"/>
          </a:p>
          <a:p>
            <a:pPr marL="342900" indent="-342900" algn="l">
              <a:lnSpc>
                <a:spcPts val="2500"/>
              </a:lnSpc>
              <a:buSzPct val="100000"/>
              <a:buChar char="•"/>
            </a:pPr>
            <a:r>
              <a:rPr lang="en-US" sz="1600" b="1" dirty="0">
                <a:solidFill>
                  <a:srgbClr val="384653"/>
                </a:solidFill>
                <a:latin typeface="Montserrat" pitchFamily="34" charset="0"/>
                <a:ea typeface="Montserrat" pitchFamily="34" charset="-122"/>
                <a:cs typeface="Montserrat" pitchFamily="34" charset="-120"/>
              </a:rPr>
              <a:t>Stacking Classifier (14%)</a:t>
            </a:r>
            <a:r>
              <a:rPr lang="en-US" sz="1600" dirty="0">
                <a:solidFill>
                  <a:srgbClr val="384653"/>
                </a:solidFill>
                <a:latin typeface="Montserrat" pitchFamily="34" charset="0"/>
                <a:ea typeface="Montserrat" pitchFamily="34" charset="-122"/>
                <a:cs typeface="Montserrat" pitchFamily="34" charset="-120"/>
              </a:rPr>
              <a:t>: Meta-learning with logistic regression</a:t>
            </a:r>
            <a:endParaRPr lang="en-US" sz="1600" dirty="0"/>
          </a:p>
        </p:txBody>
      </p:sp>
    </p:spTree>
    <p:extLst>
      <p:ext uri="{BB962C8B-B14F-4D97-AF65-F5344CB8AC3E}">
        <p14:creationId xmlns:p14="http://schemas.microsoft.com/office/powerpoint/2010/main" val="92025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348026"/>
            <a:ext cx="5152668" cy="605671"/>
          </a:xfrm>
          <a:prstGeom prst="rect">
            <a:avLst/>
          </a:prstGeom>
          <a:noFill/>
          <a:ln/>
        </p:spPr>
        <p:txBody>
          <a:bodyPr wrap="none" lIns="0" tIns="0" rIns="0" bIns="0" rtlCol="0" anchor="t"/>
          <a:lstStyle/>
          <a:p>
            <a:pPr marL="0" indent="0" algn="l">
              <a:lnSpc>
                <a:spcPts val="4750"/>
              </a:lnSpc>
              <a:buNone/>
            </a:pPr>
            <a:r>
              <a:rPr lang="en-US" sz="3800" b="1" dirty="0">
                <a:solidFill>
                  <a:srgbClr val="2E3C4E"/>
                </a:solidFill>
                <a:latin typeface="Calibri Light" panose="020F0302020204030204" pitchFamily="34" charset="0"/>
                <a:ea typeface="Barlow Bold" pitchFamily="34" charset="-122"/>
                <a:cs typeface="Barlow Bold" pitchFamily="34" charset="-120"/>
              </a:rPr>
              <a:t>Individual Model Results</a:t>
            </a:r>
            <a:endParaRPr lang="en-US" sz="3800" dirty="0"/>
          </a:p>
        </p:txBody>
      </p:sp>
      <p:sp>
        <p:nvSpPr>
          <p:cNvPr id="3" name="Text 1"/>
          <p:cNvSpPr/>
          <p:nvPr/>
        </p:nvSpPr>
        <p:spPr>
          <a:xfrm>
            <a:off x="758309" y="2016204"/>
            <a:ext cx="6779538" cy="363379"/>
          </a:xfrm>
          <a:prstGeom prst="rect">
            <a:avLst/>
          </a:prstGeom>
          <a:noFill/>
          <a:ln/>
        </p:spPr>
        <p:txBody>
          <a:bodyPr wrap="none" lIns="0" tIns="0" rIns="0" bIns="0" rtlCol="0" anchor="t"/>
          <a:lstStyle/>
          <a:p>
            <a:pPr marL="0" indent="0" algn="l">
              <a:lnSpc>
                <a:spcPts val="2850"/>
              </a:lnSpc>
              <a:buNone/>
            </a:pPr>
            <a:r>
              <a:rPr lang="en-US" sz="2250" b="1" dirty="0">
                <a:solidFill>
                  <a:srgbClr val="2E3C4E"/>
                </a:solidFill>
                <a:latin typeface="Calibri Light" panose="020F0302020204030204" pitchFamily="34" charset="0"/>
                <a:ea typeface="Barlow Bold" pitchFamily="34" charset="-122"/>
                <a:cs typeface="Barlow Bold" pitchFamily="34" charset="-120"/>
              </a:rPr>
              <a:t>Feature-Engineered Models Performance on Test Set</a:t>
            </a:r>
            <a:endParaRPr lang="en-US" sz="2250" dirty="0"/>
          </a:p>
        </p:txBody>
      </p:sp>
      <p:sp>
        <p:nvSpPr>
          <p:cNvPr id="4" name="Shape 2"/>
          <p:cNvSpPr/>
          <p:nvPr/>
        </p:nvSpPr>
        <p:spPr>
          <a:xfrm>
            <a:off x="758309" y="2614374"/>
            <a:ext cx="13113782" cy="3818573"/>
          </a:xfrm>
          <a:prstGeom prst="roundRect">
            <a:avLst>
              <a:gd name="adj" fmla="val 7234"/>
            </a:avLst>
          </a:prstGeom>
          <a:noFill/>
          <a:ln w="7620">
            <a:solidFill>
              <a:srgbClr val="000000">
                <a:alpha val="8000"/>
              </a:srgbClr>
            </a:solidFill>
            <a:prstDash val="solid"/>
          </a:ln>
        </p:spPr>
      </p:sp>
      <p:sp>
        <p:nvSpPr>
          <p:cNvPr id="5" name="Shape 3"/>
          <p:cNvSpPr/>
          <p:nvPr/>
        </p:nvSpPr>
        <p:spPr>
          <a:xfrm>
            <a:off x="765929" y="2621994"/>
            <a:ext cx="13098542" cy="475417"/>
          </a:xfrm>
          <a:prstGeom prst="rect">
            <a:avLst/>
          </a:prstGeom>
          <a:solidFill>
            <a:srgbClr val="FFFFFF">
              <a:alpha val="4000"/>
            </a:srgbClr>
          </a:solidFill>
          <a:ln/>
        </p:spPr>
      </p:sp>
      <p:sp>
        <p:nvSpPr>
          <p:cNvPr id="6" name="Text 4"/>
          <p:cNvSpPr/>
          <p:nvPr/>
        </p:nvSpPr>
        <p:spPr>
          <a:xfrm>
            <a:off x="950357" y="2723436"/>
            <a:ext cx="2902625"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Model</a:t>
            </a:r>
            <a:endParaRPr lang="en-US" sz="1450" dirty="0"/>
          </a:p>
        </p:txBody>
      </p:sp>
      <p:sp>
        <p:nvSpPr>
          <p:cNvPr id="7" name="Text 5"/>
          <p:cNvSpPr/>
          <p:nvPr/>
        </p:nvSpPr>
        <p:spPr>
          <a:xfrm>
            <a:off x="4228743" y="2723436"/>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Accuracy</a:t>
            </a:r>
            <a:endParaRPr lang="en-US" sz="1450" dirty="0"/>
          </a:p>
        </p:txBody>
      </p:sp>
      <p:sp>
        <p:nvSpPr>
          <p:cNvPr id="8" name="Text 6"/>
          <p:cNvSpPr/>
          <p:nvPr/>
        </p:nvSpPr>
        <p:spPr>
          <a:xfrm>
            <a:off x="6684645" y="2723436"/>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Precision</a:t>
            </a:r>
            <a:endParaRPr lang="en-US" sz="1450" dirty="0"/>
          </a:p>
        </p:txBody>
      </p:sp>
      <p:sp>
        <p:nvSpPr>
          <p:cNvPr id="9" name="Text 7"/>
          <p:cNvSpPr/>
          <p:nvPr/>
        </p:nvSpPr>
        <p:spPr>
          <a:xfrm>
            <a:off x="9140547" y="2723436"/>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Recall</a:t>
            </a:r>
            <a:endParaRPr lang="en-US" sz="1450" dirty="0"/>
          </a:p>
        </p:txBody>
      </p:sp>
      <p:sp>
        <p:nvSpPr>
          <p:cNvPr id="10" name="Text 8"/>
          <p:cNvSpPr/>
          <p:nvPr/>
        </p:nvSpPr>
        <p:spPr>
          <a:xfrm>
            <a:off x="11596449" y="2723436"/>
            <a:ext cx="208395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F1-Score</a:t>
            </a:r>
            <a:endParaRPr lang="en-US" sz="1450" dirty="0"/>
          </a:p>
        </p:txBody>
      </p:sp>
      <p:sp>
        <p:nvSpPr>
          <p:cNvPr id="11" name="Shape 9"/>
          <p:cNvSpPr/>
          <p:nvPr/>
        </p:nvSpPr>
        <p:spPr>
          <a:xfrm>
            <a:off x="765929" y="3097411"/>
            <a:ext cx="13098542" cy="475417"/>
          </a:xfrm>
          <a:prstGeom prst="rect">
            <a:avLst/>
          </a:prstGeom>
          <a:solidFill>
            <a:srgbClr val="000000">
              <a:alpha val="4000"/>
            </a:srgbClr>
          </a:solidFill>
          <a:ln/>
        </p:spPr>
      </p:sp>
      <p:sp>
        <p:nvSpPr>
          <p:cNvPr id="12" name="Text 10"/>
          <p:cNvSpPr/>
          <p:nvPr/>
        </p:nvSpPr>
        <p:spPr>
          <a:xfrm>
            <a:off x="950357" y="3198852"/>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XGBoost (FE)</a:t>
            </a:r>
            <a:endParaRPr lang="en-US" sz="1450" dirty="0"/>
          </a:p>
        </p:txBody>
      </p:sp>
      <p:sp>
        <p:nvSpPr>
          <p:cNvPr id="13" name="Text 11"/>
          <p:cNvSpPr/>
          <p:nvPr/>
        </p:nvSpPr>
        <p:spPr>
          <a:xfrm>
            <a:off x="4228743" y="319885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0.78</a:t>
            </a:r>
            <a:endParaRPr lang="en-US" sz="1450" dirty="0"/>
          </a:p>
        </p:txBody>
      </p:sp>
      <p:sp>
        <p:nvSpPr>
          <p:cNvPr id="14" name="Text 12"/>
          <p:cNvSpPr/>
          <p:nvPr/>
        </p:nvSpPr>
        <p:spPr>
          <a:xfrm>
            <a:off x="6684645" y="319885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0.77</a:t>
            </a:r>
            <a:endParaRPr lang="en-US" sz="1450" dirty="0"/>
          </a:p>
        </p:txBody>
      </p:sp>
      <p:sp>
        <p:nvSpPr>
          <p:cNvPr id="15" name="Text 13"/>
          <p:cNvSpPr/>
          <p:nvPr/>
        </p:nvSpPr>
        <p:spPr>
          <a:xfrm>
            <a:off x="9140547" y="319885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0.80</a:t>
            </a:r>
            <a:endParaRPr lang="en-US" sz="1450" dirty="0"/>
          </a:p>
        </p:txBody>
      </p:sp>
      <p:sp>
        <p:nvSpPr>
          <p:cNvPr id="16" name="Text 14"/>
          <p:cNvSpPr/>
          <p:nvPr/>
        </p:nvSpPr>
        <p:spPr>
          <a:xfrm>
            <a:off x="11596449" y="3198852"/>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0.78</a:t>
            </a:r>
            <a:endParaRPr lang="en-US" sz="1450" dirty="0"/>
          </a:p>
        </p:txBody>
      </p:sp>
      <p:sp>
        <p:nvSpPr>
          <p:cNvPr id="17" name="Shape 15"/>
          <p:cNvSpPr/>
          <p:nvPr/>
        </p:nvSpPr>
        <p:spPr>
          <a:xfrm>
            <a:off x="765929" y="3572828"/>
            <a:ext cx="13098542" cy="475417"/>
          </a:xfrm>
          <a:prstGeom prst="rect">
            <a:avLst/>
          </a:prstGeom>
          <a:solidFill>
            <a:srgbClr val="FFFFFF">
              <a:alpha val="4000"/>
            </a:srgbClr>
          </a:solidFill>
          <a:ln/>
        </p:spPr>
      </p:sp>
      <p:sp>
        <p:nvSpPr>
          <p:cNvPr id="18" name="Text 16"/>
          <p:cNvSpPr/>
          <p:nvPr/>
        </p:nvSpPr>
        <p:spPr>
          <a:xfrm>
            <a:off x="950357" y="3674269"/>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LightGBM (FE)</a:t>
            </a:r>
            <a:endParaRPr lang="en-US" sz="1450" dirty="0"/>
          </a:p>
        </p:txBody>
      </p:sp>
      <p:sp>
        <p:nvSpPr>
          <p:cNvPr id="19" name="Text 17"/>
          <p:cNvSpPr/>
          <p:nvPr/>
        </p:nvSpPr>
        <p:spPr>
          <a:xfrm>
            <a:off x="4228743" y="3674269"/>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0.77</a:t>
            </a:r>
            <a:endParaRPr lang="en-US" sz="1450" dirty="0"/>
          </a:p>
        </p:txBody>
      </p:sp>
      <p:sp>
        <p:nvSpPr>
          <p:cNvPr id="20" name="Text 18"/>
          <p:cNvSpPr/>
          <p:nvPr/>
        </p:nvSpPr>
        <p:spPr>
          <a:xfrm>
            <a:off x="6684645" y="3674269"/>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0.76</a:t>
            </a:r>
            <a:endParaRPr lang="en-US" sz="1450" dirty="0"/>
          </a:p>
        </p:txBody>
      </p:sp>
      <p:sp>
        <p:nvSpPr>
          <p:cNvPr id="21" name="Text 19"/>
          <p:cNvSpPr/>
          <p:nvPr/>
        </p:nvSpPr>
        <p:spPr>
          <a:xfrm>
            <a:off x="9140547" y="3674269"/>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0.79</a:t>
            </a:r>
            <a:endParaRPr lang="en-US" sz="1450" dirty="0"/>
          </a:p>
        </p:txBody>
      </p:sp>
      <p:sp>
        <p:nvSpPr>
          <p:cNvPr id="22" name="Text 20"/>
          <p:cNvSpPr/>
          <p:nvPr/>
        </p:nvSpPr>
        <p:spPr>
          <a:xfrm>
            <a:off x="11596449" y="3674269"/>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0.77</a:t>
            </a:r>
            <a:endParaRPr lang="en-US" sz="1450" dirty="0"/>
          </a:p>
        </p:txBody>
      </p:sp>
      <p:sp>
        <p:nvSpPr>
          <p:cNvPr id="23" name="Shape 21"/>
          <p:cNvSpPr/>
          <p:nvPr/>
        </p:nvSpPr>
        <p:spPr>
          <a:xfrm>
            <a:off x="765929" y="4048244"/>
            <a:ext cx="13098542" cy="475417"/>
          </a:xfrm>
          <a:prstGeom prst="rect">
            <a:avLst/>
          </a:prstGeom>
          <a:solidFill>
            <a:srgbClr val="000000">
              <a:alpha val="4000"/>
            </a:srgbClr>
          </a:solidFill>
          <a:ln/>
        </p:spPr>
      </p:sp>
      <p:sp>
        <p:nvSpPr>
          <p:cNvPr id="24" name="Text 22"/>
          <p:cNvSpPr/>
          <p:nvPr/>
        </p:nvSpPr>
        <p:spPr>
          <a:xfrm>
            <a:off x="950357" y="4149685"/>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CatBoost (FE)</a:t>
            </a:r>
            <a:endParaRPr lang="en-US" sz="1450" dirty="0"/>
          </a:p>
        </p:txBody>
      </p:sp>
      <p:sp>
        <p:nvSpPr>
          <p:cNvPr id="25" name="Text 23"/>
          <p:cNvSpPr/>
          <p:nvPr/>
        </p:nvSpPr>
        <p:spPr>
          <a:xfrm>
            <a:off x="4228743" y="414968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0.79</a:t>
            </a:r>
            <a:endParaRPr lang="en-US" sz="1450" dirty="0"/>
          </a:p>
        </p:txBody>
      </p:sp>
      <p:sp>
        <p:nvSpPr>
          <p:cNvPr id="26" name="Text 24"/>
          <p:cNvSpPr/>
          <p:nvPr/>
        </p:nvSpPr>
        <p:spPr>
          <a:xfrm>
            <a:off x="6684645" y="414968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0.78</a:t>
            </a:r>
            <a:endParaRPr lang="en-US" sz="1450" dirty="0"/>
          </a:p>
        </p:txBody>
      </p:sp>
      <p:sp>
        <p:nvSpPr>
          <p:cNvPr id="27" name="Text 25"/>
          <p:cNvSpPr/>
          <p:nvPr/>
        </p:nvSpPr>
        <p:spPr>
          <a:xfrm>
            <a:off x="9140547" y="414968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0.81</a:t>
            </a:r>
            <a:endParaRPr lang="en-US" sz="1450" dirty="0"/>
          </a:p>
        </p:txBody>
      </p:sp>
      <p:sp>
        <p:nvSpPr>
          <p:cNvPr id="28" name="Text 26"/>
          <p:cNvSpPr/>
          <p:nvPr/>
        </p:nvSpPr>
        <p:spPr>
          <a:xfrm>
            <a:off x="11596449" y="4149685"/>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0.79</a:t>
            </a:r>
            <a:endParaRPr lang="en-US" sz="1450" dirty="0"/>
          </a:p>
        </p:txBody>
      </p:sp>
      <p:sp>
        <p:nvSpPr>
          <p:cNvPr id="29" name="Shape 27"/>
          <p:cNvSpPr/>
          <p:nvPr/>
        </p:nvSpPr>
        <p:spPr>
          <a:xfrm>
            <a:off x="765929" y="4523661"/>
            <a:ext cx="13098542" cy="475417"/>
          </a:xfrm>
          <a:prstGeom prst="rect">
            <a:avLst/>
          </a:prstGeom>
          <a:solidFill>
            <a:srgbClr val="FFFFFF">
              <a:alpha val="4000"/>
            </a:srgbClr>
          </a:solidFill>
          <a:ln/>
        </p:spPr>
      </p:sp>
      <p:sp>
        <p:nvSpPr>
          <p:cNvPr id="30" name="Text 28"/>
          <p:cNvSpPr/>
          <p:nvPr/>
        </p:nvSpPr>
        <p:spPr>
          <a:xfrm>
            <a:off x="950357" y="4625102"/>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HistGBM (FE)</a:t>
            </a:r>
            <a:endParaRPr lang="en-US" sz="1450" dirty="0"/>
          </a:p>
        </p:txBody>
      </p:sp>
      <p:sp>
        <p:nvSpPr>
          <p:cNvPr id="31" name="Text 29"/>
          <p:cNvSpPr/>
          <p:nvPr/>
        </p:nvSpPr>
        <p:spPr>
          <a:xfrm>
            <a:off x="4228743" y="462510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0.76</a:t>
            </a:r>
            <a:endParaRPr lang="en-US" sz="1450" dirty="0"/>
          </a:p>
        </p:txBody>
      </p:sp>
      <p:sp>
        <p:nvSpPr>
          <p:cNvPr id="32" name="Text 30"/>
          <p:cNvSpPr/>
          <p:nvPr/>
        </p:nvSpPr>
        <p:spPr>
          <a:xfrm>
            <a:off x="6684645" y="462510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0.75</a:t>
            </a:r>
            <a:endParaRPr lang="en-US" sz="1450" dirty="0"/>
          </a:p>
        </p:txBody>
      </p:sp>
      <p:sp>
        <p:nvSpPr>
          <p:cNvPr id="33" name="Text 31"/>
          <p:cNvSpPr/>
          <p:nvPr/>
        </p:nvSpPr>
        <p:spPr>
          <a:xfrm>
            <a:off x="9140547" y="4625102"/>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0.78</a:t>
            </a:r>
            <a:endParaRPr lang="en-US" sz="1450" dirty="0"/>
          </a:p>
        </p:txBody>
      </p:sp>
      <p:sp>
        <p:nvSpPr>
          <p:cNvPr id="34" name="Text 32"/>
          <p:cNvSpPr/>
          <p:nvPr/>
        </p:nvSpPr>
        <p:spPr>
          <a:xfrm>
            <a:off x="11596449" y="4625102"/>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0.76</a:t>
            </a:r>
            <a:endParaRPr lang="en-US" sz="1450" dirty="0"/>
          </a:p>
        </p:txBody>
      </p:sp>
      <p:sp>
        <p:nvSpPr>
          <p:cNvPr id="35" name="Shape 33"/>
          <p:cNvSpPr/>
          <p:nvPr/>
        </p:nvSpPr>
        <p:spPr>
          <a:xfrm>
            <a:off x="765929" y="4999077"/>
            <a:ext cx="13098542" cy="475417"/>
          </a:xfrm>
          <a:prstGeom prst="rect">
            <a:avLst/>
          </a:prstGeom>
          <a:solidFill>
            <a:srgbClr val="000000">
              <a:alpha val="4000"/>
            </a:srgbClr>
          </a:solidFill>
          <a:ln/>
        </p:spPr>
      </p:sp>
      <p:sp>
        <p:nvSpPr>
          <p:cNvPr id="36" name="Text 34"/>
          <p:cNvSpPr/>
          <p:nvPr/>
        </p:nvSpPr>
        <p:spPr>
          <a:xfrm>
            <a:off x="950357" y="5100518"/>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ExtraTrees (FE)</a:t>
            </a:r>
            <a:endParaRPr lang="en-US" sz="1450" dirty="0"/>
          </a:p>
        </p:txBody>
      </p:sp>
      <p:sp>
        <p:nvSpPr>
          <p:cNvPr id="37" name="Text 35"/>
          <p:cNvSpPr/>
          <p:nvPr/>
        </p:nvSpPr>
        <p:spPr>
          <a:xfrm>
            <a:off x="4228743" y="5100518"/>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0.75</a:t>
            </a:r>
            <a:endParaRPr lang="en-US" sz="1450" dirty="0"/>
          </a:p>
        </p:txBody>
      </p:sp>
      <p:sp>
        <p:nvSpPr>
          <p:cNvPr id="38" name="Text 36"/>
          <p:cNvSpPr/>
          <p:nvPr/>
        </p:nvSpPr>
        <p:spPr>
          <a:xfrm>
            <a:off x="6684645" y="5100518"/>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0.74</a:t>
            </a:r>
            <a:endParaRPr lang="en-US" sz="1450" dirty="0"/>
          </a:p>
        </p:txBody>
      </p:sp>
      <p:sp>
        <p:nvSpPr>
          <p:cNvPr id="39" name="Text 37"/>
          <p:cNvSpPr/>
          <p:nvPr/>
        </p:nvSpPr>
        <p:spPr>
          <a:xfrm>
            <a:off x="9140547" y="5100518"/>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0.77</a:t>
            </a:r>
            <a:endParaRPr lang="en-US" sz="1450" dirty="0"/>
          </a:p>
        </p:txBody>
      </p:sp>
      <p:sp>
        <p:nvSpPr>
          <p:cNvPr id="40" name="Text 38"/>
          <p:cNvSpPr/>
          <p:nvPr/>
        </p:nvSpPr>
        <p:spPr>
          <a:xfrm>
            <a:off x="11596449" y="5100518"/>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0.75</a:t>
            </a:r>
            <a:endParaRPr lang="en-US" sz="1450" dirty="0"/>
          </a:p>
        </p:txBody>
      </p:sp>
      <p:sp>
        <p:nvSpPr>
          <p:cNvPr id="41" name="Shape 39"/>
          <p:cNvSpPr/>
          <p:nvPr/>
        </p:nvSpPr>
        <p:spPr>
          <a:xfrm>
            <a:off x="765929" y="5474494"/>
            <a:ext cx="13098542" cy="475417"/>
          </a:xfrm>
          <a:prstGeom prst="rect">
            <a:avLst/>
          </a:prstGeom>
          <a:solidFill>
            <a:srgbClr val="FFFFFF">
              <a:alpha val="4000"/>
            </a:srgbClr>
          </a:solidFill>
          <a:ln/>
        </p:spPr>
      </p:sp>
      <p:sp>
        <p:nvSpPr>
          <p:cNvPr id="42" name="Text 40"/>
          <p:cNvSpPr/>
          <p:nvPr/>
        </p:nvSpPr>
        <p:spPr>
          <a:xfrm>
            <a:off x="950357" y="5575935"/>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LSTM (FE)</a:t>
            </a:r>
            <a:endParaRPr lang="en-US" sz="1450" dirty="0"/>
          </a:p>
        </p:txBody>
      </p:sp>
      <p:sp>
        <p:nvSpPr>
          <p:cNvPr id="43" name="Text 41"/>
          <p:cNvSpPr/>
          <p:nvPr/>
        </p:nvSpPr>
        <p:spPr>
          <a:xfrm>
            <a:off x="4228743" y="557593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0.74</a:t>
            </a:r>
            <a:endParaRPr lang="en-US" sz="1450" dirty="0"/>
          </a:p>
        </p:txBody>
      </p:sp>
      <p:sp>
        <p:nvSpPr>
          <p:cNvPr id="44" name="Text 42"/>
          <p:cNvSpPr/>
          <p:nvPr/>
        </p:nvSpPr>
        <p:spPr>
          <a:xfrm>
            <a:off x="6684645" y="557593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0.73</a:t>
            </a:r>
            <a:endParaRPr lang="en-US" sz="1450" dirty="0"/>
          </a:p>
        </p:txBody>
      </p:sp>
      <p:sp>
        <p:nvSpPr>
          <p:cNvPr id="45" name="Text 43"/>
          <p:cNvSpPr/>
          <p:nvPr/>
        </p:nvSpPr>
        <p:spPr>
          <a:xfrm>
            <a:off x="9140547" y="5575935"/>
            <a:ext cx="208014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0.76</a:t>
            </a:r>
            <a:endParaRPr lang="en-US" sz="1450" dirty="0"/>
          </a:p>
        </p:txBody>
      </p:sp>
      <p:sp>
        <p:nvSpPr>
          <p:cNvPr id="46" name="Text 44"/>
          <p:cNvSpPr/>
          <p:nvPr/>
        </p:nvSpPr>
        <p:spPr>
          <a:xfrm>
            <a:off x="11596449" y="5575935"/>
            <a:ext cx="2083951"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0.74</a:t>
            </a:r>
            <a:endParaRPr lang="en-US" sz="1450" dirty="0"/>
          </a:p>
        </p:txBody>
      </p:sp>
      <p:sp>
        <p:nvSpPr>
          <p:cNvPr id="47" name="Shape 45"/>
          <p:cNvSpPr/>
          <p:nvPr/>
        </p:nvSpPr>
        <p:spPr>
          <a:xfrm>
            <a:off x="765929" y="5949910"/>
            <a:ext cx="13098542" cy="475417"/>
          </a:xfrm>
          <a:prstGeom prst="rect">
            <a:avLst/>
          </a:prstGeom>
          <a:solidFill>
            <a:srgbClr val="000000">
              <a:alpha val="4000"/>
            </a:srgbClr>
          </a:solidFill>
          <a:ln/>
        </p:spPr>
      </p:sp>
      <p:sp>
        <p:nvSpPr>
          <p:cNvPr id="48" name="Text 46"/>
          <p:cNvSpPr/>
          <p:nvPr/>
        </p:nvSpPr>
        <p:spPr>
          <a:xfrm>
            <a:off x="950357" y="6051352"/>
            <a:ext cx="2902625"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Stacking (FE)</a:t>
            </a:r>
            <a:endParaRPr lang="en-US" sz="1450" dirty="0"/>
          </a:p>
        </p:txBody>
      </p:sp>
      <p:sp>
        <p:nvSpPr>
          <p:cNvPr id="49" name="Text 47"/>
          <p:cNvSpPr/>
          <p:nvPr/>
        </p:nvSpPr>
        <p:spPr>
          <a:xfrm>
            <a:off x="4228743" y="6051352"/>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0.80</a:t>
            </a:r>
            <a:endParaRPr lang="en-US" sz="1450" dirty="0"/>
          </a:p>
        </p:txBody>
      </p:sp>
      <p:sp>
        <p:nvSpPr>
          <p:cNvPr id="50" name="Text 48"/>
          <p:cNvSpPr/>
          <p:nvPr/>
        </p:nvSpPr>
        <p:spPr>
          <a:xfrm>
            <a:off x="6684645" y="6051352"/>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0.79</a:t>
            </a:r>
            <a:endParaRPr lang="en-US" sz="1450" dirty="0"/>
          </a:p>
        </p:txBody>
      </p:sp>
      <p:sp>
        <p:nvSpPr>
          <p:cNvPr id="51" name="Text 49"/>
          <p:cNvSpPr/>
          <p:nvPr/>
        </p:nvSpPr>
        <p:spPr>
          <a:xfrm>
            <a:off x="9140547" y="6051352"/>
            <a:ext cx="208014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0.82</a:t>
            </a:r>
            <a:endParaRPr lang="en-US" sz="1450" dirty="0"/>
          </a:p>
        </p:txBody>
      </p:sp>
      <p:sp>
        <p:nvSpPr>
          <p:cNvPr id="52" name="Text 50"/>
          <p:cNvSpPr/>
          <p:nvPr/>
        </p:nvSpPr>
        <p:spPr>
          <a:xfrm>
            <a:off x="11596449" y="6051352"/>
            <a:ext cx="2083951" cy="272534"/>
          </a:xfrm>
          <a:prstGeom prst="rect">
            <a:avLst/>
          </a:prstGeom>
          <a:noFill/>
          <a:ln/>
        </p:spPr>
        <p:txBody>
          <a:bodyPr wrap="none" lIns="0" tIns="0" rIns="0" bIns="0" rtlCol="0" anchor="t"/>
          <a:lstStyle/>
          <a:p>
            <a:pPr marL="0" indent="0" algn="l">
              <a:lnSpc>
                <a:spcPts val="2100"/>
              </a:lnSpc>
              <a:buNone/>
            </a:pPr>
            <a:r>
              <a:rPr lang="en-US" sz="1450" b="1" dirty="0">
                <a:solidFill>
                  <a:srgbClr val="384653"/>
                </a:solidFill>
                <a:latin typeface="Montserrat" pitchFamily="34" charset="0"/>
                <a:ea typeface="Montserrat" pitchFamily="34" charset="-122"/>
                <a:cs typeface="Montserrat" pitchFamily="34" charset="-120"/>
              </a:rPr>
              <a:t>0.80</a:t>
            </a:r>
            <a:endParaRPr lang="en-US" sz="1450" dirty="0"/>
          </a:p>
        </p:txBody>
      </p:sp>
      <p:sp>
        <p:nvSpPr>
          <p:cNvPr id="53" name="Text 51"/>
          <p:cNvSpPr/>
          <p:nvPr/>
        </p:nvSpPr>
        <p:spPr>
          <a:xfrm>
            <a:off x="758309" y="6609040"/>
            <a:ext cx="13113782"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The stacking classifier achieves the highest individual performance at 80% accuracy, demonstrating the value of meta-learning approaches.</a:t>
            </a:r>
            <a:endParaRPr lang="en-US" sz="1450" dirty="0"/>
          </a:p>
        </p:txBody>
      </p:sp>
    </p:spTree>
    <p:extLst>
      <p:ext uri="{BB962C8B-B14F-4D97-AF65-F5344CB8AC3E}">
        <p14:creationId xmlns:p14="http://schemas.microsoft.com/office/powerpoint/2010/main" val="3550626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066217" y="1149310"/>
            <a:ext cx="8497848" cy="5930979"/>
          </a:xfrm>
          <a:prstGeom prst="rect">
            <a:avLst/>
          </a:prstGeom>
        </p:spPr>
      </p:pic>
    </p:spTree>
    <p:extLst>
      <p:ext uri="{BB962C8B-B14F-4D97-AF65-F5344CB8AC3E}">
        <p14:creationId xmlns:p14="http://schemas.microsoft.com/office/powerpoint/2010/main" val="379685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074658"/>
            <a:ext cx="4846320" cy="605671"/>
          </a:xfrm>
          <a:prstGeom prst="rect">
            <a:avLst/>
          </a:prstGeom>
          <a:noFill/>
          <a:ln/>
        </p:spPr>
        <p:txBody>
          <a:bodyPr wrap="none" lIns="0" tIns="0" rIns="0" bIns="0" rtlCol="0" anchor="t"/>
          <a:lstStyle/>
          <a:p>
            <a:pPr marL="0" indent="0" algn="l">
              <a:lnSpc>
                <a:spcPts val="4750"/>
              </a:lnSpc>
              <a:buNone/>
            </a:pPr>
            <a:r>
              <a:rPr lang="en-US" sz="3800" b="1" dirty="0">
                <a:solidFill>
                  <a:srgbClr val="2E3C4E"/>
                </a:solidFill>
                <a:latin typeface="Calibri Light" panose="020F0302020204030204" pitchFamily="34" charset="0"/>
                <a:ea typeface="Barlow Bold" pitchFamily="34" charset="-122"/>
                <a:cs typeface="Barlow Bold" pitchFamily="34" charset="-120"/>
              </a:rPr>
              <a:t>Ensemble Results</a:t>
            </a:r>
            <a:endParaRPr lang="en-US" sz="3800" dirty="0"/>
          </a:p>
        </p:txBody>
      </p:sp>
      <p:sp>
        <p:nvSpPr>
          <p:cNvPr id="3" name="Text 1"/>
          <p:cNvSpPr/>
          <p:nvPr/>
        </p:nvSpPr>
        <p:spPr>
          <a:xfrm>
            <a:off x="758309" y="1742837"/>
            <a:ext cx="5316974" cy="363379"/>
          </a:xfrm>
          <a:prstGeom prst="rect">
            <a:avLst/>
          </a:prstGeom>
          <a:noFill/>
          <a:ln/>
        </p:spPr>
        <p:txBody>
          <a:bodyPr wrap="none" lIns="0" tIns="0" rIns="0" bIns="0" rtlCol="0" anchor="t"/>
          <a:lstStyle/>
          <a:p>
            <a:pPr marL="0" indent="0" algn="l">
              <a:lnSpc>
                <a:spcPts val="2850"/>
              </a:lnSpc>
              <a:buNone/>
            </a:pPr>
            <a:r>
              <a:rPr lang="en-US" sz="2250" b="1" dirty="0">
                <a:solidFill>
                  <a:srgbClr val="2E3C4E"/>
                </a:solidFill>
                <a:latin typeface="Calibri Light" panose="020F0302020204030204" pitchFamily="34" charset="0"/>
                <a:ea typeface="Barlow Bold" pitchFamily="34" charset="-122"/>
                <a:cs typeface="Barlow Bold" pitchFamily="34" charset="-120"/>
              </a:rPr>
              <a:t>Expected Prediction Output Performance</a:t>
            </a:r>
            <a:endParaRPr lang="en-US" sz="2250" dirty="0"/>
          </a:p>
        </p:txBody>
      </p:sp>
      <p:sp>
        <p:nvSpPr>
          <p:cNvPr id="4" name="Text 2"/>
          <p:cNvSpPr/>
          <p:nvPr/>
        </p:nvSpPr>
        <p:spPr>
          <a:xfrm>
            <a:off x="758309" y="2497455"/>
            <a:ext cx="2423160" cy="302776"/>
          </a:xfrm>
          <a:prstGeom prst="rect">
            <a:avLst/>
          </a:prstGeom>
          <a:noFill/>
          <a:ln/>
        </p:spPr>
        <p:txBody>
          <a:bodyPr wrap="none" lIns="0" tIns="0" rIns="0" bIns="0" rtlCol="0" anchor="t"/>
          <a:lstStyle/>
          <a:p>
            <a:pPr marL="0" indent="0" algn="l">
              <a:lnSpc>
                <a:spcPts val="2350"/>
              </a:lnSpc>
              <a:buNone/>
            </a:pPr>
            <a:r>
              <a:rPr lang="en-US" sz="1900" b="1" dirty="0">
                <a:solidFill>
                  <a:srgbClr val="2E3C4E"/>
                </a:solidFill>
                <a:latin typeface="Calibri Light" panose="020F0302020204030204" pitchFamily="34" charset="0"/>
                <a:ea typeface="Barlow Bold" pitchFamily="34" charset="-122"/>
                <a:cs typeface="Barlow Bold" pitchFamily="34" charset="-120"/>
              </a:rPr>
              <a:t>Tree Core Ensemble</a:t>
            </a:r>
            <a:endParaRPr lang="en-US" sz="1900" dirty="0"/>
          </a:p>
        </p:txBody>
      </p:sp>
      <p:sp>
        <p:nvSpPr>
          <p:cNvPr id="5" name="Text 3"/>
          <p:cNvSpPr/>
          <p:nvPr/>
        </p:nvSpPr>
        <p:spPr>
          <a:xfrm>
            <a:off x="758309" y="2956679"/>
            <a:ext cx="6332220"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XGBoost + LightGBM + CatBoost combined</a:t>
            </a:r>
            <a:endParaRPr lang="en-US" sz="1450" dirty="0"/>
          </a:p>
        </p:txBody>
      </p:sp>
      <p:sp>
        <p:nvSpPr>
          <p:cNvPr id="6" name="Text 4"/>
          <p:cNvSpPr/>
          <p:nvPr/>
        </p:nvSpPr>
        <p:spPr>
          <a:xfrm>
            <a:off x="758309" y="3370064"/>
            <a:ext cx="6332220" cy="599837"/>
          </a:xfrm>
          <a:prstGeom prst="rect">
            <a:avLst/>
          </a:prstGeom>
          <a:noFill/>
          <a:ln/>
        </p:spPr>
        <p:txBody>
          <a:bodyPr wrap="square" lIns="0" tIns="0" rIns="0" bIns="0" rtlCol="0" anchor="t"/>
          <a:lstStyle/>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Accuracy: 81%</a:t>
            </a:r>
            <a:endParaRPr lang="en-US" sz="1450" dirty="0"/>
          </a:p>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F1-Score: 0.81</a:t>
            </a:r>
            <a:endParaRPr lang="en-US" sz="1450" dirty="0"/>
          </a:p>
        </p:txBody>
      </p:sp>
      <p:sp>
        <p:nvSpPr>
          <p:cNvPr id="7" name="Text 5"/>
          <p:cNvSpPr/>
          <p:nvPr/>
        </p:nvSpPr>
        <p:spPr>
          <a:xfrm>
            <a:off x="7547491" y="2497455"/>
            <a:ext cx="2638901" cy="302776"/>
          </a:xfrm>
          <a:prstGeom prst="rect">
            <a:avLst/>
          </a:prstGeom>
          <a:noFill/>
          <a:ln/>
        </p:spPr>
        <p:txBody>
          <a:bodyPr wrap="none" lIns="0" tIns="0" rIns="0" bIns="0" rtlCol="0" anchor="t"/>
          <a:lstStyle/>
          <a:p>
            <a:pPr marL="0" indent="0" algn="l">
              <a:lnSpc>
                <a:spcPts val="2350"/>
              </a:lnSpc>
              <a:buNone/>
            </a:pPr>
            <a:r>
              <a:rPr lang="en-US" sz="1900" b="1" dirty="0">
                <a:solidFill>
                  <a:srgbClr val="2E3C4E"/>
                </a:solidFill>
                <a:latin typeface="Calibri Light" panose="020F0302020204030204" pitchFamily="34" charset="0"/>
                <a:ea typeface="Barlow Bold" pitchFamily="34" charset="-122"/>
                <a:cs typeface="Barlow Bold" pitchFamily="34" charset="-120"/>
              </a:rPr>
              <a:t>Full Ensemble (8 Models)</a:t>
            </a:r>
            <a:endParaRPr lang="en-US" sz="1900" dirty="0"/>
          </a:p>
        </p:txBody>
      </p:sp>
      <p:sp>
        <p:nvSpPr>
          <p:cNvPr id="8" name="Text 6"/>
          <p:cNvSpPr/>
          <p:nvPr/>
        </p:nvSpPr>
        <p:spPr>
          <a:xfrm>
            <a:off x="7547491" y="2956679"/>
            <a:ext cx="6332220"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Complete weighted combination</a:t>
            </a:r>
            <a:endParaRPr lang="en-US" sz="1450" dirty="0"/>
          </a:p>
        </p:txBody>
      </p:sp>
      <p:sp>
        <p:nvSpPr>
          <p:cNvPr id="9" name="Text 7"/>
          <p:cNvSpPr/>
          <p:nvPr/>
        </p:nvSpPr>
        <p:spPr>
          <a:xfrm>
            <a:off x="7547491" y="3370064"/>
            <a:ext cx="6332220" cy="1254442"/>
          </a:xfrm>
          <a:prstGeom prst="rect">
            <a:avLst/>
          </a:prstGeom>
          <a:noFill/>
          <a:ln/>
        </p:spPr>
        <p:txBody>
          <a:bodyPr wrap="square" lIns="0" tIns="0" rIns="0" bIns="0" rtlCol="0" anchor="t"/>
          <a:lstStyle/>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Accuracy: 84%</a:t>
            </a:r>
            <a:r>
              <a:rPr lang="en-US" sz="1450" dirty="0">
                <a:solidFill>
                  <a:srgbClr val="384653"/>
                </a:solidFill>
                <a:latin typeface="Montserrat" pitchFamily="34" charset="0"/>
                <a:ea typeface="Montserrat" pitchFamily="34" charset="-122"/>
                <a:cs typeface="Montserrat" pitchFamily="34" charset="-120"/>
              </a:rPr>
              <a:t> ↑</a:t>
            </a:r>
            <a:endParaRPr lang="en-US" sz="1450" dirty="0"/>
          </a:p>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Precision: 83%</a:t>
            </a:r>
            <a:endParaRPr lang="en-US" sz="1450" dirty="0"/>
          </a:p>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Recall: 86%</a:t>
            </a:r>
            <a:endParaRPr lang="en-US" sz="1450" dirty="0"/>
          </a:p>
          <a:p>
            <a:pPr marL="342900" indent="-342900" algn="l">
              <a:lnSpc>
                <a:spcPts val="2100"/>
              </a:lnSpc>
              <a:buSzPct val="100000"/>
              <a:buChar char="•"/>
            </a:pPr>
            <a:r>
              <a:rPr lang="en-US" sz="1450" b="1" dirty="0">
                <a:solidFill>
                  <a:srgbClr val="384653"/>
                </a:solidFill>
                <a:latin typeface="Montserrat" pitchFamily="34" charset="0"/>
                <a:ea typeface="Montserrat" pitchFamily="34" charset="-122"/>
                <a:cs typeface="Montserrat" pitchFamily="34" charset="-120"/>
              </a:rPr>
              <a:t>F1-Score: 0.84</a:t>
            </a:r>
            <a:endParaRPr lang="en-US" sz="1450" dirty="0"/>
          </a:p>
        </p:txBody>
      </p:sp>
      <p:sp>
        <p:nvSpPr>
          <p:cNvPr id="10" name="Text 8"/>
          <p:cNvSpPr/>
          <p:nvPr/>
        </p:nvSpPr>
        <p:spPr>
          <a:xfrm>
            <a:off x="1076325" y="4947404"/>
            <a:ext cx="3604617" cy="607695"/>
          </a:xfrm>
          <a:prstGeom prst="rect">
            <a:avLst/>
          </a:prstGeom>
          <a:noFill/>
          <a:ln/>
        </p:spPr>
        <p:txBody>
          <a:bodyPr wrap="none" lIns="0" tIns="0" rIns="0" bIns="0" rtlCol="0" anchor="t"/>
          <a:lstStyle/>
          <a:p>
            <a:pPr marL="0" indent="0" algn="ctr">
              <a:lnSpc>
                <a:spcPts val="4750"/>
              </a:lnSpc>
              <a:buNone/>
            </a:pPr>
            <a:r>
              <a:rPr lang="en-US" sz="4750" b="1" dirty="0">
                <a:solidFill>
                  <a:srgbClr val="384653"/>
                </a:solidFill>
                <a:latin typeface="Calibri Light" panose="020F0302020204030204" pitchFamily="34" charset="0"/>
                <a:ea typeface="Barlow Bold" pitchFamily="34" charset="-122"/>
                <a:cs typeface="Barlow Bold" pitchFamily="34" charset="-120"/>
              </a:rPr>
              <a:t>6%</a:t>
            </a:r>
            <a:endParaRPr lang="en-US" sz="4750" dirty="0"/>
          </a:p>
        </p:txBody>
      </p:sp>
      <p:sp>
        <p:nvSpPr>
          <p:cNvPr id="11" name="Text 9"/>
          <p:cNvSpPr/>
          <p:nvPr/>
        </p:nvSpPr>
        <p:spPr>
          <a:xfrm>
            <a:off x="1667113" y="5764530"/>
            <a:ext cx="2423160" cy="302776"/>
          </a:xfrm>
          <a:prstGeom prst="rect">
            <a:avLst/>
          </a:prstGeom>
          <a:noFill/>
          <a:ln/>
        </p:spPr>
        <p:txBody>
          <a:bodyPr wrap="none" lIns="0" tIns="0" rIns="0" bIns="0" rtlCol="0" anchor="t"/>
          <a:lstStyle/>
          <a:p>
            <a:pPr marL="0" indent="0" algn="ctr">
              <a:lnSpc>
                <a:spcPts val="2350"/>
              </a:lnSpc>
              <a:buNone/>
            </a:pPr>
            <a:r>
              <a:rPr lang="en-US" sz="1900" b="1" dirty="0">
                <a:solidFill>
                  <a:srgbClr val="384653"/>
                </a:solidFill>
                <a:latin typeface="Calibri Light" panose="020F0302020204030204" pitchFamily="34" charset="0"/>
                <a:ea typeface="Barlow Bold" pitchFamily="34" charset="-122"/>
                <a:cs typeface="Barlow Bold" pitchFamily="34" charset="-120"/>
              </a:rPr>
              <a:t>Improvement</a:t>
            </a:r>
            <a:endParaRPr lang="en-US" sz="1900" dirty="0"/>
          </a:p>
        </p:txBody>
      </p:sp>
      <p:sp>
        <p:nvSpPr>
          <p:cNvPr id="12" name="Text 10"/>
          <p:cNvSpPr/>
          <p:nvPr/>
        </p:nvSpPr>
        <p:spPr>
          <a:xfrm>
            <a:off x="758309" y="6161127"/>
            <a:ext cx="4240768" cy="272534"/>
          </a:xfrm>
          <a:prstGeom prst="rect">
            <a:avLst/>
          </a:prstGeom>
          <a:noFill/>
          <a:ln/>
        </p:spPr>
        <p:txBody>
          <a:bodyPr wrap="none" lIns="0" tIns="0" rIns="0" bIns="0" rtlCol="0" anchor="t"/>
          <a:lstStyle/>
          <a:p>
            <a:pPr marL="0" indent="0" algn="ctr">
              <a:lnSpc>
                <a:spcPts val="2100"/>
              </a:lnSpc>
              <a:buNone/>
            </a:pPr>
            <a:r>
              <a:rPr lang="en-US" sz="1450" dirty="0">
                <a:solidFill>
                  <a:srgbClr val="384653"/>
                </a:solidFill>
                <a:latin typeface="Montserrat" pitchFamily="34" charset="0"/>
                <a:ea typeface="Montserrat" pitchFamily="34" charset="-122"/>
                <a:cs typeface="Montserrat" pitchFamily="34" charset="-120"/>
              </a:rPr>
              <a:t>Over best single model (Stacking at 80%)</a:t>
            </a:r>
            <a:endParaRPr lang="en-US" sz="1450" dirty="0"/>
          </a:p>
        </p:txBody>
      </p:sp>
      <p:sp>
        <p:nvSpPr>
          <p:cNvPr id="13" name="Text 11"/>
          <p:cNvSpPr/>
          <p:nvPr/>
        </p:nvSpPr>
        <p:spPr>
          <a:xfrm>
            <a:off x="5512713" y="4947404"/>
            <a:ext cx="3604736" cy="607695"/>
          </a:xfrm>
          <a:prstGeom prst="rect">
            <a:avLst/>
          </a:prstGeom>
          <a:noFill/>
          <a:ln/>
        </p:spPr>
        <p:txBody>
          <a:bodyPr wrap="none" lIns="0" tIns="0" rIns="0" bIns="0" rtlCol="0" anchor="t"/>
          <a:lstStyle/>
          <a:p>
            <a:pPr marL="0" indent="0" algn="ctr">
              <a:lnSpc>
                <a:spcPts val="4750"/>
              </a:lnSpc>
              <a:buNone/>
            </a:pPr>
            <a:r>
              <a:rPr lang="en-US" sz="4750" b="1" dirty="0">
                <a:solidFill>
                  <a:srgbClr val="384653"/>
                </a:solidFill>
                <a:latin typeface="Calibri Light" panose="020F0302020204030204" pitchFamily="34" charset="0"/>
                <a:ea typeface="Barlow Bold" pitchFamily="34" charset="-122"/>
                <a:cs typeface="Barlow Bold" pitchFamily="34" charset="-120"/>
              </a:rPr>
              <a:t>1s</a:t>
            </a:r>
            <a:endParaRPr lang="en-US" sz="4750" dirty="0"/>
          </a:p>
        </p:txBody>
      </p:sp>
      <p:sp>
        <p:nvSpPr>
          <p:cNvPr id="14" name="Text 12"/>
          <p:cNvSpPr/>
          <p:nvPr/>
        </p:nvSpPr>
        <p:spPr>
          <a:xfrm>
            <a:off x="6103501" y="5764530"/>
            <a:ext cx="2423160" cy="302776"/>
          </a:xfrm>
          <a:prstGeom prst="rect">
            <a:avLst/>
          </a:prstGeom>
          <a:noFill/>
          <a:ln/>
        </p:spPr>
        <p:txBody>
          <a:bodyPr wrap="none" lIns="0" tIns="0" rIns="0" bIns="0" rtlCol="0" anchor="t"/>
          <a:lstStyle/>
          <a:p>
            <a:pPr marL="0" indent="0" algn="ctr">
              <a:lnSpc>
                <a:spcPts val="2350"/>
              </a:lnSpc>
              <a:buNone/>
            </a:pPr>
            <a:r>
              <a:rPr lang="en-US" sz="1900" b="1" dirty="0">
                <a:solidFill>
                  <a:srgbClr val="384653"/>
                </a:solidFill>
                <a:latin typeface="Calibri Light" panose="020F0302020204030204" pitchFamily="34" charset="0"/>
                <a:ea typeface="Barlow Bold" pitchFamily="34" charset="-122"/>
                <a:cs typeface="Barlow Bold" pitchFamily="34" charset="-120"/>
              </a:rPr>
              <a:t>Response Time</a:t>
            </a:r>
            <a:endParaRPr lang="en-US" sz="1900" dirty="0"/>
          </a:p>
        </p:txBody>
      </p:sp>
      <p:sp>
        <p:nvSpPr>
          <p:cNvPr id="15" name="Text 13"/>
          <p:cNvSpPr/>
          <p:nvPr/>
        </p:nvSpPr>
        <p:spPr>
          <a:xfrm>
            <a:off x="5194697" y="6161127"/>
            <a:ext cx="4240887" cy="545068"/>
          </a:xfrm>
          <a:prstGeom prst="rect">
            <a:avLst/>
          </a:prstGeom>
          <a:noFill/>
          <a:ln/>
        </p:spPr>
        <p:txBody>
          <a:bodyPr wrap="square" lIns="0" tIns="0" rIns="0" bIns="0" rtlCol="0" anchor="t"/>
          <a:lstStyle/>
          <a:p>
            <a:pPr marL="0" indent="0" algn="ctr">
              <a:lnSpc>
                <a:spcPts val="2100"/>
              </a:lnSpc>
              <a:buNone/>
            </a:pPr>
            <a:r>
              <a:rPr lang="en-US" sz="1450" dirty="0">
                <a:solidFill>
                  <a:srgbClr val="384653"/>
                </a:solidFill>
                <a:latin typeface="Montserrat" pitchFamily="34" charset="0"/>
                <a:ea typeface="Montserrat" pitchFamily="34" charset="-122"/>
                <a:cs typeface="Montserrat" pitchFamily="34" charset="-120"/>
              </a:rPr>
              <a:t>Real-time API predictions for immediate risk assessment</a:t>
            </a:r>
            <a:endParaRPr lang="en-US" sz="1450" dirty="0"/>
          </a:p>
        </p:txBody>
      </p:sp>
      <p:sp>
        <p:nvSpPr>
          <p:cNvPr id="16" name="Text 14"/>
          <p:cNvSpPr/>
          <p:nvPr/>
        </p:nvSpPr>
        <p:spPr>
          <a:xfrm>
            <a:off x="9949220" y="4947404"/>
            <a:ext cx="3604736" cy="607695"/>
          </a:xfrm>
          <a:prstGeom prst="rect">
            <a:avLst/>
          </a:prstGeom>
          <a:noFill/>
          <a:ln/>
        </p:spPr>
        <p:txBody>
          <a:bodyPr wrap="none" lIns="0" tIns="0" rIns="0" bIns="0" rtlCol="0" anchor="t"/>
          <a:lstStyle/>
          <a:p>
            <a:pPr marL="0" indent="0" algn="ctr">
              <a:lnSpc>
                <a:spcPts val="4750"/>
              </a:lnSpc>
              <a:buNone/>
            </a:pPr>
            <a:r>
              <a:rPr lang="en-US" sz="4750" b="1" dirty="0">
                <a:solidFill>
                  <a:srgbClr val="384653"/>
                </a:solidFill>
                <a:latin typeface="Calibri Light" panose="020F0302020204030204" pitchFamily="34" charset="0"/>
                <a:ea typeface="Barlow Bold" pitchFamily="34" charset="-122"/>
                <a:cs typeface="Barlow Bold" pitchFamily="34" charset="-120"/>
              </a:rPr>
              <a:t>84%</a:t>
            </a:r>
            <a:endParaRPr lang="en-US" sz="4750" dirty="0"/>
          </a:p>
        </p:txBody>
      </p:sp>
      <p:sp>
        <p:nvSpPr>
          <p:cNvPr id="17" name="Text 15"/>
          <p:cNvSpPr/>
          <p:nvPr/>
        </p:nvSpPr>
        <p:spPr>
          <a:xfrm>
            <a:off x="10540008" y="5764530"/>
            <a:ext cx="2423160" cy="302776"/>
          </a:xfrm>
          <a:prstGeom prst="rect">
            <a:avLst/>
          </a:prstGeom>
          <a:noFill/>
          <a:ln/>
        </p:spPr>
        <p:txBody>
          <a:bodyPr wrap="none" lIns="0" tIns="0" rIns="0" bIns="0" rtlCol="0" anchor="t"/>
          <a:lstStyle/>
          <a:p>
            <a:pPr marL="0" indent="0" algn="ctr">
              <a:lnSpc>
                <a:spcPts val="2350"/>
              </a:lnSpc>
              <a:buNone/>
            </a:pPr>
            <a:r>
              <a:rPr lang="en-US" sz="1900" b="1" dirty="0">
                <a:solidFill>
                  <a:srgbClr val="384653"/>
                </a:solidFill>
                <a:latin typeface="Calibri Light" panose="020F0302020204030204" pitchFamily="34" charset="0"/>
                <a:ea typeface="Barlow Bold" pitchFamily="34" charset="-122"/>
                <a:cs typeface="Barlow Bold" pitchFamily="34" charset="-120"/>
              </a:rPr>
              <a:t>Accuracy</a:t>
            </a:r>
            <a:endParaRPr lang="en-US" sz="1900" dirty="0"/>
          </a:p>
        </p:txBody>
      </p:sp>
      <p:sp>
        <p:nvSpPr>
          <p:cNvPr id="18" name="Text 16"/>
          <p:cNvSpPr/>
          <p:nvPr/>
        </p:nvSpPr>
        <p:spPr>
          <a:xfrm>
            <a:off x="9631204" y="6161127"/>
            <a:ext cx="4240887" cy="545068"/>
          </a:xfrm>
          <a:prstGeom prst="rect">
            <a:avLst/>
          </a:prstGeom>
          <a:noFill/>
          <a:ln/>
        </p:spPr>
        <p:txBody>
          <a:bodyPr wrap="square" lIns="0" tIns="0" rIns="0" bIns="0" rtlCol="0" anchor="t"/>
          <a:lstStyle/>
          <a:p>
            <a:pPr marL="0" indent="0" algn="ctr">
              <a:lnSpc>
                <a:spcPts val="2100"/>
              </a:lnSpc>
              <a:buNone/>
            </a:pPr>
            <a:r>
              <a:rPr lang="en-US" sz="1450" dirty="0">
                <a:solidFill>
                  <a:srgbClr val="384653"/>
                </a:solidFill>
                <a:latin typeface="Montserrat" pitchFamily="34" charset="0"/>
                <a:ea typeface="Montserrat" pitchFamily="34" charset="-122"/>
                <a:cs typeface="Montserrat" pitchFamily="34" charset="-120"/>
              </a:rPr>
              <a:t>Enterprise-ready performance with reduced variance</a:t>
            </a:r>
            <a:endParaRPr lang="en-US" sz="1450" dirty="0"/>
          </a:p>
        </p:txBody>
      </p:sp>
      <p:sp>
        <p:nvSpPr>
          <p:cNvPr id="19" name="Text 17"/>
          <p:cNvSpPr/>
          <p:nvPr/>
        </p:nvSpPr>
        <p:spPr>
          <a:xfrm>
            <a:off x="758309" y="6882289"/>
            <a:ext cx="13113782" cy="272534"/>
          </a:xfrm>
          <a:prstGeom prst="rect">
            <a:avLst/>
          </a:prstGeom>
          <a:noFill/>
          <a:ln/>
        </p:spPr>
        <p:txBody>
          <a:bodyPr wrap="none" lIns="0" tIns="0" rIns="0" bIns="0" rtlCol="0" anchor="t"/>
          <a:lstStyle/>
          <a:p>
            <a:pPr marL="0" indent="0" algn="l">
              <a:lnSpc>
                <a:spcPts val="2100"/>
              </a:lnSpc>
              <a:buNone/>
            </a:pPr>
            <a:r>
              <a:rPr lang="en-US" sz="1450" dirty="0">
                <a:solidFill>
                  <a:srgbClr val="384653"/>
                </a:solidFill>
                <a:latin typeface="Montserrat" pitchFamily="34" charset="0"/>
                <a:ea typeface="Montserrat" pitchFamily="34" charset="-122"/>
                <a:cs typeface="Montserrat" pitchFamily="34" charset="-120"/>
              </a:rPr>
              <a:t>The ensemble delivers </a:t>
            </a:r>
            <a:r>
              <a:rPr lang="en-US" sz="1450" b="1" dirty="0">
                <a:solidFill>
                  <a:srgbClr val="384653"/>
                </a:solidFill>
                <a:latin typeface="Montserrat" pitchFamily="34" charset="0"/>
                <a:ea typeface="Montserrat" pitchFamily="34" charset="-122"/>
                <a:cs typeface="Montserrat" pitchFamily="34" charset="-120"/>
              </a:rPr>
              <a:t>6% improvement</a:t>
            </a:r>
            <a:r>
              <a:rPr lang="en-US" sz="1450" dirty="0">
                <a:solidFill>
                  <a:srgbClr val="384653"/>
                </a:solidFill>
                <a:latin typeface="Montserrat" pitchFamily="34" charset="0"/>
                <a:ea typeface="Montserrat" pitchFamily="34" charset="-122"/>
                <a:cs typeface="Montserrat" pitchFamily="34" charset="-120"/>
              </a:rPr>
              <a:t> over the best single model while providing better generalization across diverse industrial scenarios.</a:t>
            </a:r>
            <a:endParaRPr lang="en-US" sz="1450" dirty="0"/>
          </a:p>
        </p:txBody>
      </p:sp>
    </p:spTree>
    <p:extLst>
      <p:ext uri="{BB962C8B-B14F-4D97-AF65-F5344CB8AC3E}">
        <p14:creationId xmlns:p14="http://schemas.microsoft.com/office/powerpoint/2010/main" val="1171110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924639"/>
            <a:ext cx="4276130" cy="534591"/>
          </a:xfrm>
          <a:prstGeom prst="rect">
            <a:avLst/>
          </a:prstGeom>
          <a:noFill/>
          <a:ln/>
        </p:spPr>
        <p:txBody>
          <a:bodyPr wrap="none" lIns="0" tIns="0" rIns="0" bIns="0" rtlCol="0" anchor="t"/>
          <a:lstStyle/>
          <a:p>
            <a:pPr marL="0" indent="0" algn="l">
              <a:lnSpc>
                <a:spcPts val="4200"/>
              </a:lnSpc>
              <a:buNone/>
            </a:pPr>
            <a:r>
              <a:rPr lang="en-US" sz="3350" b="1" dirty="0">
                <a:solidFill>
                  <a:srgbClr val="2E3C4E"/>
                </a:solidFill>
                <a:latin typeface="Calibri Light" panose="020F0302020204030204" pitchFamily="34" charset="0"/>
                <a:ea typeface="Barlow Bold" pitchFamily="34" charset="-122"/>
                <a:cs typeface="Barlow Bold" pitchFamily="34" charset="-120"/>
              </a:rPr>
              <a:t>Risk Classification</a:t>
            </a:r>
            <a:endParaRPr lang="en-US" sz="3350" dirty="0"/>
          </a:p>
        </p:txBody>
      </p:sp>
      <p:sp>
        <p:nvSpPr>
          <p:cNvPr id="3" name="Text 1"/>
          <p:cNvSpPr/>
          <p:nvPr/>
        </p:nvSpPr>
        <p:spPr>
          <a:xfrm>
            <a:off x="758309" y="1507927"/>
            <a:ext cx="4672251" cy="320635"/>
          </a:xfrm>
          <a:prstGeom prst="rect">
            <a:avLst/>
          </a:prstGeom>
          <a:noFill/>
          <a:ln/>
        </p:spPr>
        <p:txBody>
          <a:bodyPr wrap="none" lIns="0" tIns="0" rIns="0" bIns="0" rtlCol="0" anchor="t"/>
          <a:lstStyle/>
          <a:p>
            <a:pPr marL="0" indent="0" algn="l">
              <a:lnSpc>
                <a:spcPts val="2500"/>
              </a:lnSpc>
              <a:buNone/>
            </a:pPr>
            <a:r>
              <a:rPr lang="en-US" sz="2000" b="1" dirty="0">
                <a:solidFill>
                  <a:srgbClr val="2E3C4E"/>
                </a:solidFill>
                <a:latin typeface="Calibri Light" panose="020F0302020204030204" pitchFamily="34" charset="0"/>
                <a:ea typeface="Barlow Bold" pitchFamily="34" charset="-122"/>
                <a:cs typeface="Barlow Bold" pitchFamily="34" charset="-120"/>
              </a:rPr>
              <a:t>Expected Prediction Output Methodology</a:t>
            </a:r>
            <a:endParaRPr lang="en-US" sz="2000" dirty="0"/>
          </a:p>
        </p:txBody>
      </p:sp>
      <p:sp>
        <p:nvSpPr>
          <p:cNvPr id="4" name="Text 2"/>
          <p:cNvSpPr/>
          <p:nvPr/>
        </p:nvSpPr>
        <p:spPr>
          <a:xfrm>
            <a:off x="758309" y="2011323"/>
            <a:ext cx="13113782"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Risk scores are calculated by transforming ensemble probabilities into interpretable risk levels that guide safety decisions.</a:t>
            </a:r>
            <a:endParaRPr lang="en-US" sz="1250" dirty="0"/>
          </a:p>
        </p:txBody>
      </p:sp>
      <p:sp>
        <p:nvSpPr>
          <p:cNvPr id="5" name="Shape 3"/>
          <p:cNvSpPr/>
          <p:nvPr/>
        </p:nvSpPr>
        <p:spPr>
          <a:xfrm>
            <a:off x="758309" y="2375892"/>
            <a:ext cx="1639133" cy="892731"/>
          </a:xfrm>
          <a:prstGeom prst="roundRect">
            <a:avLst>
              <a:gd name="adj" fmla="val 27303"/>
            </a:avLst>
          </a:prstGeom>
          <a:solidFill>
            <a:srgbClr val="D4E9F7"/>
          </a:solidFill>
          <a:ln w="7620">
            <a:solidFill>
              <a:srgbClr val="BACFDD"/>
            </a:solidFill>
            <a:prstDash val="solid"/>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63635" y="2707958"/>
            <a:ext cx="228481" cy="228481"/>
          </a:xfrm>
          <a:prstGeom prst="rect">
            <a:avLst/>
          </a:prstGeom>
        </p:spPr>
      </p:pic>
      <p:sp>
        <p:nvSpPr>
          <p:cNvPr id="7" name="Text 4"/>
          <p:cNvSpPr/>
          <p:nvPr/>
        </p:nvSpPr>
        <p:spPr>
          <a:xfrm>
            <a:off x="2559844" y="2538293"/>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LOW Risk</a:t>
            </a:r>
            <a:endParaRPr lang="en-US" sz="1650" dirty="0"/>
          </a:p>
        </p:txBody>
      </p:sp>
      <p:sp>
        <p:nvSpPr>
          <p:cNvPr id="8" name="Text 5"/>
          <p:cNvSpPr/>
          <p:nvPr/>
        </p:nvSpPr>
        <p:spPr>
          <a:xfrm>
            <a:off x="2559844" y="2878693"/>
            <a:ext cx="2318385"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Score: &lt; 30 | 25% of scenarios</a:t>
            </a:r>
            <a:endParaRPr lang="en-US" sz="1250" dirty="0"/>
          </a:p>
        </p:txBody>
      </p:sp>
      <p:sp>
        <p:nvSpPr>
          <p:cNvPr id="9" name="Shape 6"/>
          <p:cNvSpPr/>
          <p:nvPr/>
        </p:nvSpPr>
        <p:spPr>
          <a:xfrm>
            <a:off x="2478643" y="3259098"/>
            <a:ext cx="11312247" cy="11430"/>
          </a:xfrm>
          <a:prstGeom prst="roundRect">
            <a:avLst>
              <a:gd name="adj" fmla="val 2132504"/>
            </a:avLst>
          </a:prstGeom>
          <a:solidFill>
            <a:srgbClr val="BACFDD"/>
          </a:solidFill>
          <a:ln/>
        </p:spPr>
      </p:sp>
      <p:sp>
        <p:nvSpPr>
          <p:cNvPr id="10" name="Shape 7"/>
          <p:cNvSpPr/>
          <p:nvPr/>
        </p:nvSpPr>
        <p:spPr>
          <a:xfrm>
            <a:off x="758309" y="3349823"/>
            <a:ext cx="3278386" cy="892731"/>
          </a:xfrm>
          <a:prstGeom prst="roundRect">
            <a:avLst>
              <a:gd name="adj" fmla="val 27303"/>
            </a:avLst>
          </a:prstGeom>
          <a:solidFill>
            <a:srgbClr val="D4E9F7"/>
          </a:solidFill>
          <a:ln w="7620">
            <a:solidFill>
              <a:srgbClr val="BACFDD"/>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3262" y="3681889"/>
            <a:ext cx="228481" cy="228481"/>
          </a:xfrm>
          <a:prstGeom prst="rect">
            <a:avLst/>
          </a:prstGeom>
        </p:spPr>
      </p:pic>
      <p:sp>
        <p:nvSpPr>
          <p:cNvPr id="12" name="Text 8"/>
          <p:cNvSpPr/>
          <p:nvPr/>
        </p:nvSpPr>
        <p:spPr>
          <a:xfrm>
            <a:off x="4199096" y="3512225"/>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MODERATE Risk</a:t>
            </a:r>
            <a:endParaRPr lang="en-US" sz="1650" dirty="0"/>
          </a:p>
        </p:txBody>
      </p:sp>
      <p:sp>
        <p:nvSpPr>
          <p:cNvPr id="13" name="Text 9"/>
          <p:cNvSpPr/>
          <p:nvPr/>
        </p:nvSpPr>
        <p:spPr>
          <a:xfrm>
            <a:off x="4199096" y="3852624"/>
            <a:ext cx="2451140"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Score: 30-60 | 35% of scenarios</a:t>
            </a:r>
            <a:endParaRPr lang="en-US" sz="1250" dirty="0"/>
          </a:p>
        </p:txBody>
      </p:sp>
      <p:sp>
        <p:nvSpPr>
          <p:cNvPr id="14" name="Shape 10"/>
          <p:cNvSpPr/>
          <p:nvPr/>
        </p:nvSpPr>
        <p:spPr>
          <a:xfrm>
            <a:off x="4117896" y="4233029"/>
            <a:ext cx="9672995" cy="11430"/>
          </a:xfrm>
          <a:prstGeom prst="roundRect">
            <a:avLst>
              <a:gd name="adj" fmla="val 2132504"/>
            </a:avLst>
          </a:prstGeom>
          <a:solidFill>
            <a:srgbClr val="BACFDD"/>
          </a:solidFill>
          <a:ln/>
        </p:spPr>
      </p:sp>
      <p:sp>
        <p:nvSpPr>
          <p:cNvPr id="15" name="Shape 11"/>
          <p:cNvSpPr/>
          <p:nvPr/>
        </p:nvSpPr>
        <p:spPr>
          <a:xfrm>
            <a:off x="758309" y="4323755"/>
            <a:ext cx="4917638" cy="892731"/>
          </a:xfrm>
          <a:prstGeom prst="roundRect">
            <a:avLst>
              <a:gd name="adj" fmla="val 27303"/>
            </a:avLst>
          </a:prstGeom>
          <a:solidFill>
            <a:srgbClr val="D4E9F7"/>
          </a:solidFill>
          <a:ln w="7620">
            <a:solidFill>
              <a:srgbClr val="BACFDD"/>
            </a:solidFill>
            <a:prstDash val="solid"/>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02888" y="4655820"/>
            <a:ext cx="228481" cy="228481"/>
          </a:xfrm>
          <a:prstGeom prst="rect">
            <a:avLst/>
          </a:prstGeom>
        </p:spPr>
      </p:pic>
      <p:sp>
        <p:nvSpPr>
          <p:cNvPr id="17" name="Text 12"/>
          <p:cNvSpPr/>
          <p:nvPr/>
        </p:nvSpPr>
        <p:spPr>
          <a:xfrm>
            <a:off x="5838349" y="4486156"/>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HIGH Risk</a:t>
            </a:r>
            <a:endParaRPr lang="en-US" sz="1650" dirty="0"/>
          </a:p>
        </p:txBody>
      </p:sp>
      <p:sp>
        <p:nvSpPr>
          <p:cNvPr id="18" name="Text 13"/>
          <p:cNvSpPr/>
          <p:nvPr/>
        </p:nvSpPr>
        <p:spPr>
          <a:xfrm>
            <a:off x="5838349" y="4826556"/>
            <a:ext cx="246411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Score: 60-80 | 25% of scenarios</a:t>
            </a:r>
            <a:endParaRPr lang="en-US" sz="1250" dirty="0"/>
          </a:p>
        </p:txBody>
      </p:sp>
      <p:sp>
        <p:nvSpPr>
          <p:cNvPr id="19" name="Shape 14"/>
          <p:cNvSpPr/>
          <p:nvPr/>
        </p:nvSpPr>
        <p:spPr>
          <a:xfrm>
            <a:off x="5757148" y="5206960"/>
            <a:ext cx="8033742" cy="11430"/>
          </a:xfrm>
          <a:prstGeom prst="roundRect">
            <a:avLst>
              <a:gd name="adj" fmla="val 2132504"/>
            </a:avLst>
          </a:prstGeom>
          <a:solidFill>
            <a:srgbClr val="BACFDD"/>
          </a:solidFill>
          <a:ln/>
        </p:spPr>
      </p:sp>
      <p:sp>
        <p:nvSpPr>
          <p:cNvPr id="20" name="Shape 15"/>
          <p:cNvSpPr/>
          <p:nvPr/>
        </p:nvSpPr>
        <p:spPr>
          <a:xfrm>
            <a:off x="758309" y="5297686"/>
            <a:ext cx="6556891" cy="892731"/>
          </a:xfrm>
          <a:prstGeom prst="roundRect">
            <a:avLst>
              <a:gd name="adj" fmla="val 27303"/>
            </a:avLst>
          </a:prstGeom>
          <a:solidFill>
            <a:srgbClr val="D4E9F7"/>
          </a:solidFill>
          <a:ln w="7620">
            <a:solidFill>
              <a:srgbClr val="BACFDD"/>
            </a:solidFill>
            <a:prstDash val="solid"/>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22514" y="5629751"/>
            <a:ext cx="228481" cy="228481"/>
          </a:xfrm>
          <a:prstGeom prst="rect">
            <a:avLst/>
          </a:prstGeom>
        </p:spPr>
      </p:pic>
      <p:sp>
        <p:nvSpPr>
          <p:cNvPr id="22" name="Text 16"/>
          <p:cNvSpPr/>
          <p:nvPr/>
        </p:nvSpPr>
        <p:spPr>
          <a:xfrm>
            <a:off x="7477601" y="5460087"/>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CRITICAL Risk</a:t>
            </a:r>
            <a:endParaRPr lang="en-US" sz="1650" dirty="0"/>
          </a:p>
        </p:txBody>
      </p:sp>
      <p:sp>
        <p:nvSpPr>
          <p:cNvPr id="23" name="Text 17"/>
          <p:cNvSpPr/>
          <p:nvPr/>
        </p:nvSpPr>
        <p:spPr>
          <a:xfrm>
            <a:off x="7477601" y="5800487"/>
            <a:ext cx="2296716"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Score: &gt; 80 | 15% of scenarios</a:t>
            </a:r>
            <a:endParaRPr lang="en-US" sz="1250" dirty="0"/>
          </a:p>
        </p:txBody>
      </p:sp>
      <p:sp>
        <p:nvSpPr>
          <p:cNvPr id="24" name="Shape 18"/>
          <p:cNvSpPr/>
          <p:nvPr/>
        </p:nvSpPr>
        <p:spPr>
          <a:xfrm>
            <a:off x="758309" y="6327458"/>
            <a:ext cx="13113782" cy="977503"/>
          </a:xfrm>
          <a:prstGeom prst="roundRect">
            <a:avLst>
              <a:gd name="adj" fmla="val 24935"/>
            </a:avLst>
          </a:prstGeom>
          <a:solidFill>
            <a:srgbClr val="BEDFF3"/>
          </a:solidFill>
          <a:ln/>
        </p:spPr>
      </p:sp>
      <p:pic>
        <p:nvPicPr>
          <p:cNvPr id="25" name="Image 4" descr="preencoded.png"/>
          <p:cNvPicPr>
            <a:picLocks noChangeAspect="1"/>
          </p:cNvPicPr>
          <p:nvPr/>
        </p:nvPicPr>
        <p:blipFill>
          <a:blip r:embed="rId7"/>
          <a:stretch>
            <a:fillRect/>
          </a:stretch>
        </p:blipFill>
        <p:spPr>
          <a:xfrm>
            <a:off x="920710" y="6516172"/>
            <a:ext cx="267176" cy="213717"/>
          </a:xfrm>
          <a:prstGeom prst="rect">
            <a:avLst/>
          </a:prstGeom>
        </p:spPr>
      </p:pic>
      <p:sp>
        <p:nvSpPr>
          <p:cNvPr id="26" name="Text 19"/>
          <p:cNvSpPr/>
          <p:nvPr/>
        </p:nvSpPr>
        <p:spPr>
          <a:xfrm>
            <a:off x="1350288" y="6489859"/>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000000"/>
                </a:solidFill>
                <a:latin typeface="Calibri Light" panose="020F0302020204030204" pitchFamily="34" charset="0"/>
                <a:ea typeface="Barlow Bold" pitchFamily="34" charset="-122"/>
                <a:cs typeface="Barlow Bold" pitchFamily="34" charset="-120"/>
              </a:rPr>
              <a:t>API Output Example</a:t>
            </a:r>
            <a:endParaRPr lang="en-US" sz="1650" dirty="0"/>
          </a:p>
        </p:txBody>
      </p:sp>
      <p:sp>
        <p:nvSpPr>
          <p:cNvPr id="27" name="Text 20"/>
          <p:cNvSpPr/>
          <p:nvPr/>
        </p:nvSpPr>
        <p:spPr>
          <a:xfrm>
            <a:off x="1350288" y="6878955"/>
            <a:ext cx="12359402" cy="235148"/>
          </a:xfrm>
          <a:prstGeom prst="rect">
            <a:avLst/>
          </a:prstGeom>
          <a:noFill/>
          <a:ln/>
        </p:spPr>
        <p:txBody>
          <a:bodyPr wrap="none" lIns="0" tIns="0" rIns="0" bIns="0" rtlCol="0" anchor="t"/>
          <a:lstStyle/>
          <a:p>
            <a:pPr marL="0" indent="0" algn="l">
              <a:lnSpc>
                <a:spcPts val="175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{"ensemble_probability": 0.7234, "risk_score": 72.34, "risk_level": "HIGH"}</a:t>
            </a:r>
            <a:endParaRPr lang="en-US" sz="1250" dirty="0"/>
          </a:p>
        </p:txBody>
      </p:sp>
    </p:spTree>
    <p:extLst>
      <p:ext uri="{BB962C8B-B14F-4D97-AF65-F5344CB8AC3E}">
        <p14:creationId xmlns:p14="http://schemas.microsoft.com/office/powerpoint/2010/main" val="3159047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58309" y="1195388"/>
            <a:ext cx="13113782" cy="5838825"/>
          </a:xfrm>
          <a:prstGeom prst="rect">
            <a:avLst/>
          </a:prstGeom>
        </p:spPr>
      </p:pic>
    </p:spTree>
    <p:extLst>
      <p:ext uri="{BB962C8B-B14F-4D97-AF65-F5344CB8AC3E}">
        <p14:creationId xmlns:p14="http://schemas.microsoft.com/office/powerpoint/2010/main" val="2676026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111329"/>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Calibri Light" panose="020F0302020204030204" pitchFamily="34" charset="0"/>
                <a:ea typeface="Barlow Bold" pitchFamily="34" charset="-122"/>
                <a:cs typeface="Barlow Bold" pitchFamily="34" charset="-120"/>
              </a:rPr>
              <a:t>Dashboard</a:t>
            </a:r>
            <a:endParaRPr lang="en-US" sz="4450" dirty="0"/>
          </a:p>
        </p:txBody>
      </p:sp>
      <p:sp>
        <p:nvSpPr>
          <p:cNvPr id="3" name="Text 1"/>
          <p:cNvSpPr/>
          <p:nvPr/>
        </p:nvSpPr>
        <p:spPr>
          <a:xfrm>
            <a:off x="758309" y="1910596"/>
            <a:ext cx="5678805" cy="427553"/>
          </a:xfrm>
          <a:prstGeom prst="rect">
            <a:avLst/>
          </a:prstGeom>
          <a:noFill/>
          <a:ln/>
        </p:spPr>
        <p:txBody>
          <a:bodyPr wrap="none" lIns="0" tIns="0" rIns="0" bIns="0" rtlCol="0" anchor="t"/>
          <a:lstStyle/>
          <a:p>
            <a:pPr marL="0" indent="0" algn="l">
              <a:lnSpc>
                <a:spcPts val="3350"/>
              </a:lnSpc>
              <a:buNone/>
            </a:pPr>
            <a:r>
              <a:rPr lang="en-US" sz="2650" b="1" dirty="0">
                <a:solidFill>
                  <a:srgbClr val="2E3C4E"/>
                </a:solidFill>
                <a:latin typeface="Calibri Light" panose="020F0302020204030204" pitchFamily="34" charset="0"/>
                <a:ea typeface="Barlow Bold" pitchFamily="34" charset="-122"/>
                <a:cs typeface="Barlow Bold" pitchFamily="34" charset="-120"/>
              </a:rPr>
              <a:t>Expected Prediction Output Interface</a:t>
            </a:r>
            <a:endParaRPr lang="en-US" sz="2650" dirty="0"/>
          </a:p>
        </p:txBody>
      </p:sp>
      <p:sp>
        <p:nvSpPr>
          <p:cNvPr id="4" name="Shape 2"/>
          <p:cNvSpPr/>
          <p:nvPr/>
        </p:nvSpPr>
        <p:spPr>
          <a:xfrm>
            <a:off x="758309" y="2663071"/>
            <a:ext cx="4226838" cy="4455200"/>
          </a:xfrm>
          <a:prstGeom prst="roundRect">
            <a:avLst>
              <a:gd name="adj" fmla="val 7689"/>
            </a:avLst>
          </a:prstGeom>
          <a:solidFill>
            <a:srgbClr val="D4E9F7"/>
          </a:solidFill>
          <a:ln w="7620">
            <a:solidFill>
              <a:srgbClr val="BACFDD"/>
            </a:solidFill>
            <a:prstDash val="solid"/>
          </a:ln>
        </p:spPr>
      </p:sp>
      <p:pic>
        <p:nvPicPr>
          <p:cNvPr id="5" name="Image 0" descr="preencoded.png"/>
          <p:cNvPicPr>
            <a:picLocks noChangeAspect="1"/>
          </p:cNvPicPr>
          <p:nvPr/>
        </p:nvPicPr>
        <p:blipFill>
          <a:blip r:embed="rId3"/>
          <a:stretch>
            <a:fillRect/>
          </a:stretch>
        </p:blipFill>
        <p:spPr>
          <a:xfrm>
            <a:off x="982504" y="2887266"/>
            <a:ext cx="649962" cy="64996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1217" y="3065978"/>
            <a:ext cx="292418" cy="292418"/>
          </a:xfrm>
          <a:prstGeom prst="rect">
            <a:avLst/>
          </a:prstGeom>
        </p:spPr>
      </p:pic>
      <p:sp>
        <p:nvSpPr>
          <p:cNvPr id="7" name="Text 3"/>
          <p:cNvSpPr/>
          <p:nvPr/>
        </p:nvSpPr>
        <p:spPr>
          <a:xfrm>
            <a:off x="982504" y="375380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Calibri Light" panose="020F0302020204030204" pitchFamily="34" charset="0"/>
                <a:ea typeface="Barlow Bold" pitchFamily="34" charset="-122"/>
                <a:cs typeface="Barlow Bold" pitchFamily="34" charset="-120"/>
              </a:rPr>
              <a:t>Input Methods</a:t>
            </a:r>
            <a:endParaRPr lang="en-US" sz="2200" dirty="0"/>
          </a:p>
        </p:txBody>
      </p:sp>
      <p:sp>
        <p:nvSpPr>
          <p:cNvPr id="8" name="Text 4"/>
          <p:cNvSpPr/>
          <p:nvPr/>
        </p:nvSpPr>
        <p:spPr>
          <a:xfrm>
            <a:off x="982504" y="4239935"/>
            <a:ext cx="3778448" cy="188499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Manual form for single predictions</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Excel/CSV batch upload</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Image upload with Gemini AI analysis</a:t>
            </a:r>
            <a:endParaRPr lang="en-US" sz="1700" dirty="0"/>
          </a:p>
        </p:txBody>
      </p:sp>
      <p:sp>
        <p:nvSpPr>
          <p:cNvPr id="9" name="Shape 5"/>
          <p:cNvSpPr/>
          <p:nvPr/>
        </p:nvSpPr>
        <p:spPr>
          <a:xfrm>
            <a:off x="5201722" y="2663071"/>
            <a:ext cx="4226838" cy="4455200"/>
          </a:xfrm>
          <a:prstGeom prst="roundRect">
            <a:avLst>
              <a:gd name="adj" fmla="val 7689"/>
            </a:avLst>
          </a:prstGeom>
          <a:solidFill>
            <a:srgbClr val="D4E9F7"/>
          </a:solidFill>
          <a:ln w="7620">
            <a:solidFill>
              <a:srgbClr val="BACFDD"/>
            </a:solidFill>
            <a:prstDash val="solid"/>
          </a:ln>
        </p:spPr>
      </p:sp>
      <p:pic>
        <p:nvPicPr>
          <p:cNvPr id="10" name="Image 2" descr="preencoded.png"/>
          <p:cNvPicPr>
            <a:picLocks noChangeAspect="1"/>
          </p:cNvPicPr>
          <p:nvPr/>
        </p:nvPicPr>
        <p:blipFill>
          <a:blip r:embed="rId5"/>
          <a:stretch>
            <a:fillRect/>
          </a:stretch>
        </p:blipFill>
        <p:spPr>
          <a:xfrm>
            <a:off x="5425916" y="2887266"/>
            <a:ext cx="649962" cy="649962"/>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04629" y="3065978"/>
            <a:ext cx="292418" cy="292418"/>
          </a:xfrm>
          <a:prstGeom prst="rect">
            <a:avLst/>
          </a:prstGeom>
        </p:spPr>
      </p:pic>
      <p:sp>
        <p:nvSpPr>
          <p:cNvPr id="12" name="Text 6"/>
          <p:cNvSpPr/>
          <p:nvPr/>
        </p:nvSpPr>
        <p:spPr>
          <a:xfrm>
            <a:off x="5425916" y="375380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Calibri Light" panose="020F0302020204030204" pitchFamily="34" charset="0"/>
                <a:ea typeface="Barlow Bold" pitchFamily="34" charset="-122"/>
                <a:cs typeface="Barlow Bold" pitchFamily="34" charset="-120"/>
              </a:rPr>
              <a:t>Visualizations</a:t>
            </a:r>
            <a:endParaRPr lang="en-US" sz="2200" dirty="0"/>
          </a:p>
        </p:txBody>
      </p:sp>
      <p:sp>
        <p:nvSpPr>
          <p:cNvPr id="13" name="Text 7"/>
          <p:cNvSpPr/>
          <p:nvPr/>
        </p:nvSpPr>
        <p:spPr>
          <a:xfrm>
            <a:off x="5425916" y="4239935"/>
            <a:ext cx="3778448" cy="265414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Model ensemble overview (bar chart)</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Risk distribution (batch histogram)</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Per-row comparison (radar chart)</a:t>
            </a:r>
            <a:endParaRPr lang="en-US" sz="1700" dirty="0"/>
          </a:p>
          <a:p>
            <a:pPr marL="342900" indent="-342900" algn="l">
              <a:lnSpc>
                <a:spcPts val="2700"/>
              </a:lnSpc>
              <a:buSzPct val="100000"/>
              <a:buChar char="•"/>
            </a:pPr>
            <a:r>
              <a:rPr lang="en-US" sz="1700" dirty="0">
                <a:solidFill>
                  <a:srgbClr val="384653"/>
                </a:solidFill>
                <a:latin typeface="Montserrat" pitchFamily="34" charset="0"/>
                <a:ea typeface="Montserrat" pitchFamily="34" charset="-122"/>
                <a:cs typeface="Montserrat" pitchFamily="34" charset="-120"/>
              </a:rPr>
              <a:t>Correlation matrix (heatmap)</a:t>
            </a:r>
            <a:endParaRPr lang="en-US" sz="1700" dirty="0"/>
          </a:p>
        </p:txBody>
      </p:sp>
      <p:sp>
        <p:nvSpPr>
          <p:cNvPr id="14" name="Shape 8"/>
          <p:cNvSpPr/>
          <p:nvPr/>
        </p:nvSpPr>
        <p:spPr>
          <a:xfrm>
            <a:off x="9645134" y="2663071"/>
            <a:ext cx="4226957" cy="4455200"/>
          </a:xfrm>
          <a:prstGeom prst="roundRect">
            <a:avLst>
              <a:gd name="adj" fmla="val 7689"/>
            </a:avLst>
          </a:prstGeom>
          <a:solidFill>
            <a:srgbClr val="D4E9F7"/>
          </a:solidFill>
          <a:ln w="7620">
            <a:solidFill>
              <a:srgbClr val="BACFDD"/>
            </a:solidFill>
            <a:prstDash val="solid"/>
          </a:ln>
        </p:spPr>
      </p:sp>
      <p:pic>
        <p:nvPicPr>
          <p:cNvPr id="15" name="Image 4" descr="preencoded.png"/>
          <p:cNvPicPr>
            <a:picLocks noChangeAspect="1"/>
          </p:cNvPicPr>
          <p:nvPr/>
        </p:nvPicPr>
        <p:blipFill>
          <a:blip r:embed="rId7"/>
          <a:stretch>
            <a:fillRect/>
          </a:stretch>
        </p:blipFill>
        <p:spPr>
          <a:xfrm>
            <a:off x="9869329" y="2887266"/>
            <a:ext cx="649962" cy="649962"/>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48042" y="3065978"/>
            <a:ext cx="292418" cy="292418"/>
          </a:xfrm>
          <a:prstGeom prst="rect">
            <a:avLst/>
          </a:prstGeom>
        </p:spPr>
      </p:pic>
      <p:sp>
        <p:nvSpPr>
          <p:cNvPr id="17" name="Text 9"/>
          <p:cNvSpPr/>
          <p:nvPr/>
        </p:nvSpPr>
        <p:spPr>
          <a:xfrm>
            <a:off x="9869329" y="375380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Calibri Light" panose="020F0302020204030204" pitchFamily="34" charset="0"/>
                <a:ea typeface="Barlow Bold" pitchFamily="34" charset="-122"/>
                <a:cs typeface="Barlow Bold" pitchFamily="34" charset="-120"/>
              </a:rPr>
              <a:t>Results Table</a:t>
            </a:r>
            <a:endParaRPr lang="en-US" sz="2200" dirty="0"/>
          </a:p>
        </p:txBody>
      </p:sp>
      <p:sp>
        <p:nvSpPr>
          <p:cNvPr id="18" name="Text 10"/>
          <p:cNvSpPr/>
          <p:nvPr/>
        </p:nvSpPr>
        <p:spPr>
          <a:xfrm>
            <a:off x="9869329" y="4239935"/>
            <a:ext cx="3778568"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Per-model probabilities alongside ensemble output for transparent decision-making</a:t>
            </a:r>
            <a:endParaRPr lang="en-US" sz="1700" dirty="0"/>
          </a:p>
        </p:txBody>
      </p:sp>
    </p:spTree>
    <p:extLst>
      <p:ext uri="{BB962C8B-B14F-4D97-AF65-F5344CB8AC3E}">
        <p14:creationId xmlns:p14="http://schemas.microsoft.com/office/powerpoint/2010/main" val="623007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2713" y="591383"/>
            <a:ext cx="4527590" cy="565904"/>
          </a:xfrm>
          <a:prstGeom prst="rect">
            <a:avLst/>
          </a:prstGeom>
          <a:noFill/>
          <a:ln/>
        </p:spPr>
        <p:txBody>
          <a:bodyPr wrap="none" lIns="0" tIns="0" rIns="0" bIns="0" rtlCol="0" anchor="t"/>
          <a:lstStyle/>
          <a:p>
            <a:pPr marL="0" indent="0" algn="l">
              <a:lnSpc>
                <a:spcPts val="4450"/>
              </a:lnSpc>
              <a:buNone/>
            </a:pPr>
            <a:endParaRPr lang="en-US" sz="3550" dirty="0"/>
          </a:p>
        </p:txBody>
      </p:sp>
      <p:pic>
        <p:nvPicPr>
          <p:cNvPr id="3" name="Image 0" descr="preencoded.png"/>
          <p:cNvPicPr>
            <a:picLocks noChangeAspect="1"/>
          </p:cNvPicPr>
          <p:nvPr/>
        </p:nvPicPr>
        <p:blipFill>
          <a:blip r:embed="rId3"/>
          <a:stretch>
            <a:fillRect/>
          </a:stretch>
        </p:blipFill>
        <p:spPr>
          <a:xfrm>
            <a:off x="2065258" y="1430536"/>
            <a:ext cx="10499884" cy="5271849"/>
          </a:xfrm>
          <a:prstGeom prst="rect">
            <a:avLst/>
          </a:prstGeom>
        </p:spPr>
      </p:pic>
      <p:sp>
        <p:nvSpPr>
          <p:cNvPr id="4" name="Text 1"/>
          <p:cNvSpPr/>
          <p:nvPr/>
        </p:nvSpPr>
        <p:spPr>
          <a:xfrm>
            <a:off x="752713" y="6907292"/>
            <a:ext cx="2263735" cy="282893"/>
          </a:xfrm>
          <a:prstGeom prst="rect">
            <a:avLst/>
          </a:prstGeom>
          <a:noFill/>
          <a:ln/>
        </p:spPr>
        <p:txBody>
          <a:bodyPr wrap="none" lIns="0" tIns="0" rIns="0" bIns="0" rtlCol="0" anchor="t"/>
          <a:lstStyle/>
          <a:p>
            <a:pPr marL="0" indent="0" algn="l">
              <a:lnSpc>
                <a:spcPts val="2200"/>
              </a:lnSpc>
              <a:buNone/>
            </a:pPr>
            <a:endParaRPr lang="en-US" sz="1750" dirty="0"/>
          </a:p>
        </p:txBody>
      </p:sp>
      <p:sp>
        <p:nvSpPr>
          <p:cNvPr id="5" name="Text 2"/>
          <p:cNvSpPr/>
          <p:nvPr/>
        </p:nvSpPr>
        <p:spPr>
          <a:xfrm>
            <a:off x="752713" y="7395091"/>
            <a:ext cx="13124974" cy="246817"/>
          </a:xfrm>
          <a:prstGeom prst="rect">
            <a:avLst/>
          </a:prstGeom>
          <a:noFill/>
          <a:ln/>
        </p:spPr>
        <p:txBody>
          <a:bodyPr wrap="none" lIns="0" tIns="0" rIns="0" bIns="0" rtlCol="0" anchor="t"/>
          <a:lstStyle/>
          <a:p>
            <a:pPr marL="0" indent="0" algn="l">
              <a:lnSpc>
                <a:spcPts val="1900"/>
              </a:lnSpc>
              <a:buNone/>
            </a:pPr>
            <a:endParaRPr lang="en-US" sz="1350" dirty="0"/>
          </a:p>
        </p:txBody>
      </p:sp>
    </p:spTree>
    <p:extLst>
      <p:ext uri="{BB962C8B-B14F-4D97-AF65-F5344CB8AC3E}">
        <p14:creationId xmlns:p14="http://schemas.microsoft.com/office/powerpoint/2010/main" val="3242935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78618" y="471130"/>
            <a:ext cx="10073164" cy="7745730"/>
          </a:xfrm>
          <a:prstGeom prst="rect">
            <a:avLst/>
          </a:prstGeom>
        </p:spPr>
      </p:pic>
    </p:spTree>
    <p:extLst>
      <p:ext uri="{BB962C8B-B14F-4D97-AF65-F5344CB8AC3E}">
        <p14:creationId xmlns:p14="http://schemas.microsoft.com/office/powerpoint/2010/main" val="2520166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644384" y="468749"/>
            <a:ext cx="7341632" cy="7293054"/>
          </a:xfrm>
          <a:prstGeom prst="rect">
            <a:avLst/>
          </a:prstGeom>
        </p:spPr>
      </p:pic>
    </p:spTree>
    <p:extLst>
      <p:ext uri="{BB962C8B-B14F-4D97-AF65-F5344CB8AC3E}">
        <p14:creationId xmlns:p14="http://schemas.microsoft.com/office/powerpoint/2010/main" val="1765733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053239" y="787479"/>
            <a:ext cx="8523923" cy="6654522"/>
          </a:xfrm>
          <a:prstGeom prst="rect">
            <a:avLst/>
          </a:prstGeom>
        </p:spPr>
      </p:pic>
    </p:spTree>
    <p:extLst>
      <p:ext uri="{BB962C8B-B14F-4D97-AF65-F5344CB8AC3E}">
        <p14:creationId xmlns:p14="http://schemas.microsoft.com/office/powerpoint/2010/main" val="3403781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181933"/>
            <a:ext cx="4276130" cy="534591"/>
          </a:xfrm>
          <a:prstGeom prst="rect">
            <a:avLst/>
          </a:prstGeom>
          <a:noFill/>
          <a:ln/>
        </p:spPr>
        <p:txBody>
          <a:bodyPr wrap="none" lIns="0" tIns="0" rIns="0" bIns="0" rtlCol="0" anchor="t"/>
          <a:lstStyle/>
          <a:p>
            <a:pPr marL="0" indent="0" algn="l">
              <a:lnSpc>
                <a:spcPts val="4200"/>
              </a:lnSpc>
              <a:buNone/>
            </a:pPr>
            <a:r>
              <a:rPr lang="en-US" sz="3350" b="1" dirty="0">
                <a:solidFill>
                  <a:srgbClr val="2E3C4E"/>
                </a:solidFill>
                <a:latin typeface="Calibri Light" panose="020F0302020204030204" pitchFamily="34" charset="0"/>
                <a:ea typeface="Barlow Bold" pitchFamily="34" charset="-122"/>
                <a:cs typeface="Barlow Bold" pitchFamily="34" charset="-120"/>
              </a:rPr>
              <a:t>Conclusion</a:t>
            </a:r>
            <a:endParaRPr lang="en-US" sz="3350" dirty="0"/>
          </a:p>
        </p:txBody>
      </p:sp>
      <p:sp>
        <p:nvSpPr>
          <p:cNvPr id="3" name="Text 1"/>
          <p:cNvSpPr/>
          <p:nvPr/>
        </p:nvSpPr>
        <p:spPr>
          <a:xfrm>
            <a:off x="758309" y="1765221"/>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2E3C4E"/>
                </a:solidFill>
                <a:latin typeface="Calibri Light" panose="020F0302020204030204" pitchFamily="34" charset="0"/>
                <a:ea typeface="Barlow Bold" pitchFamily="34" charset="-122"/>
                <a:cs typeface="Barlow Bold" pitchFamily="34" charset="-120"/>
              </a:rPr>
              <a:t>Key Achievements</a:t>
            </a:r>
            <a:endParaRPr lang="en-US" sz="2000" dirty="0"/>
          </a:p>
        </p:txBody>
      </p:sp>
      <p:sp>
        <p:nvSpPr>
          <p:cNvPr id="4" name="Shape 2"/>
          <p:cNvSpPr/>
          <p:nvPr/>
        </p:nvSpPr>
        <p:spPr>
          <a:xfrm>
            <a:off x="758309" y="2268617"/>
            <a:ext cx="6495931" cy="938451"/>
          </a:xfrm>
          <a:prstGeom prst="roundRect">
            <a:avLst>
              <a:gd name="adj" fmla="val 11692"/>
            </a:avLst>
          </a:prstGeom>
          <a:solidFill>
            <a:srgbClr val="FFFFFF"/>
          </a:solidFill>
          <a:ln w="22860">
            <a:solidFill>
              <a:srgbClr val="BACFDD"/>
            </a:solidFill>
            <a:prstDash val="solid"/>
          </a:ln>
        </p:spPr>
      </p:sp>
      <p:pic>
        <p:nvPicPr>
          <p:cNvPr id="5" name="Image 0" descr="preencoded.png"/>
          <p:cNvPicPr>
            <a:picLocks noChangeAspect="1"/>
          </p:cNvPicPr>
          <p:nvPr/>
        </p:nvPicPr>
        <p:blipFill>
          <a:blip r:embed="rId3"/>
          <a:stretch>
            <a:fillRect/>
          </a:stretch>
        </p:blipFill>
        <p:spPr>
          <a:xfrm>
            <a:off x="735449" y="2268617"/>
            <a:ext cx="91440" cy="938451"/>
          </a:xfrm>
          <a:prstGeom prst="rect">
            <a:avLst/>
          </a:prstGeom>
        </p:spPr>
      </p:pic>
      <p:sp>
        <p:nvSpPr>
          <p:cNvPr id="6" name="Text 3"/>
          <p:cNvSpPr/>
          <p:nvPr/>
        </p:nvSpPr>
        <p:spPr>
          <a:xfrm>
            <a:off x="1012150" y="2453878"/>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8-Model Ensemble</a:t>
            </a:r>
            <a:endParaRPr lang="en-US" sz="1650" dirty="0"/>
          </a:p>
        </p:txBody>
      </p:sp>
      <p:sp>
        <p:nvSpPr>
          <p:cNvPr id="7" name="Text 4"/>
          <p:cNvSpPr/>
          <p:nvPr/>
        </p:nvSpPr>
        <p:spPr>
          <a:xfrm>
            <a:off x="1012150" y="2794278"/>
            <a:ext cx="605682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84% accuracy through weighted combination of diverse ML approaches</a:t>
            </a:r>
            <a:endParaRPr lang="en-US" sz="1250" dirty="0"/>
          </a:p>
        </p:txBody>
      </p:sp>
      <p:sp>
        <p:nvSpPr>
          <p:cNvPr id="8" name="Shape 5"/>
          <p:cNvSpPr/>
          <p:nvPr/>
        </p:nvSpPr>
        <p:spPr>
          <a:xfrm>
            <a:off x="7376041" y="2268617"/>
            <a:ext cx="6496050" cy="938451"/>
          </a:xfrm>
          <a:prstGeom prst="roundRect">
            <a:avLst>
              <a:gd name="adj" fmla="val 11692"/>
            </a:avLst>
          </a:prstGeom>
          <a:solidFill>
            <a:srgbClr val="FFFFFF"/>
          </a:solidFill>
          <a:ln w="22860">
            <a:solidFill>
              <a:srgbClr val="BACFDD"/>
            </a:solidFill>
            <a:prstDash val="solid"/>
          </a:ln>
        </p:spPr>
      </p:sp>
      <p:pic>
        <p:nvPicPr>
          <p:cNvPr id="9" name="Image 1" descr="preencoded.png"/>
          <p:cNvPicPr>
            <a:picLocks noChangeAspect="1"/>
          </p:cNvPicPr>
          <p:nvPr/>
        </p:nvPicPr>
        <p:blipFill>
          <a:blip r:embed="rId3"/>
          <a:stretch>
            <a:fillRect/>
          </a:stretch>
        </p:blipFill>
        <p:spPr>
          <a:xfrm>
            <a:off x="7353181" y="2268617"/>
            <a:ext cx="91440" cy="938451"/>
          </a:xfrm>
          <a:prstGeom prst="rect">
            <a:avLst/>
          </a:prstGeom>
        </p:spPr>
      </p:pic>
      <p:sp>
        <p:nvSpPr>
          <p:cNvPr id="10" name="Text 6"/>
          <p:cNvSpPr/>
          <p:nvPr/>
        </p:nvSpPr>
        <p:spPr>
          <a:xfrm>
            <a:off x="7629882" y="2453878"/>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Domain Features</a:t>
            </a:r>
            <a:endParaRPr lang="en-US" sz="1650" dirty="0"/>
          </a:p>
        </p:txBody>
      </p:sp>
      <p:sp>
        <p:nvSpPr>
          <p:cNvPr id="11" name="Text 7"/>
          <p:cNvSpPr/>
          <p:nvPr/>
        </p:nvSpPr>
        <p:spPr>
          <a:xfrm>
            <a:off x="7629882" y="2794278"/>
            <a:ext cx="605694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Industry-specific feature engineering improving predictive performance</a:t>
            </a:r>
            <a:endParaRPr lang="en-US" sz="1250" dirty="0"/>
          </a:p>
        </p:txBody>
      </p:sp>
      <p:sp>
        <p:nvSpPr>
          <p:cNvPr id="12" name="Shape 8"/>
          <p:cNvSpPr/>
          <p:nvPr/>
        </p:nvSpPr>
        <p:spPr>
          <a:xfrm>
            <a:off x="758309" y="3328868"/>
            <a:ext cx="6495931" cy="938451"/>
          </a:xfrm>
          <a:prstGeom prst="roundRect">
            <a:avLst>
              <a:gd name="adj" fmla="val 11692"/>
            </a:avLst>
          </a:prstGeom>
          <a:solidFill>
            <a:srgbClr val="FFFFFF"/>
          </a:solidFill>
          <a:ln w="22860">
            <a:solidFill>
              <a:srgbClr val="BACFDD"/>
            </a:solidFill>
            <a:prstDash val="solid"/>
          </a:ln>
        </p:spPr>
      </p:sp>
      <p:pic>
        <p:nvPicPr>
          <p:cNvPr id="13" name="Image 2" descr="preencoded.png"/>
          <p:cNvPicPr>
            <a:picLocks noChangeAspect="1"/>
          </p:cNvPicPr>
          <p:nvPr/>
        </p:nvPicPr>
        <p:blipFill>
          <a:blip r:embed="rId3"/>
          <a:stretch>
            <a:fillRect/>
          </a:stretch>
        </p:blipFill>
        <p:spPr>
          <a:xfrm>
            <a:off x="735449" y="3328868"/>
            <a:ext cx="91440" cy="938451"/>
          </a:xfrm>
          <a:prstGeom prst="rect">
            <a:avLst/>
          </a:prstGeom>
        </p:spPr>
      </p:pic>
      <p:sp>
        <p:nvSpPr>
          <p:cNvPr id="14" name="Text 9"/>
          <p:cNvSpPr/>
          <p:nvPr/>
        </p:nvSpPr>
        <p:spPr>
          <a:xfrm>
            <a:off x="1012150" y="3514130"/>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Real-Time API</a:t>
            </a:r>
            <a:endParaRPr lang="en-US" sz="1650" dirty="0"/>
          </a:p>
        </p:txBody>
      </p:sp>
      <p:sp>
        <p:nvSpPr>
          <p:cNvPr id="15" name="Text 10"/>
          <p:cNvSpPr/>
          <p:nvPr/>
        </p:nvSpPr>
        <p:spPr>
          <a:xfrm>
            <a:off x="1012150" y="3854529"/>
            <a:ext cx="605682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Sub-second response times enabling immediate risk mitigation</a:t>
            </a:r>
            <a:endParaRPr lang="en-US" sz="1250" dirty="0"/>
          </a:p>
        </p:txBody>
      </p:sp>
      <p:sp>
        <p:nvSpPr>
          <p:cNvPr id="16" name="Shape 11"/>
          <p:cNvSpPr/>
          <p:nvPr/>
        </p:nvSpPr>
        <p:spPr>
          <a:xfrm>
            <a:off x="7376041" y="3328868"/>
            <a:ext cx="6496050" cy="938451"/>
          </a:xfrm>
          <a:prstGeom prst="roundRect">
            <a:avLst>
              <a:gd name="adj" fmla="val 11692"/>
            </a:avLst>
          </a:prstGeom>
          <a:solidFill>
            <a:srgbClr val="FFFFFF"/>
          </a:solidFill>
          <a:ln w="22860">
            <a:solidFill>
              <a:srgbClr val="BACFDD"/>
            </a:solidFill>
            <a:prstDash val="solid"/>
          </a:ln>
        </p:spPr>
      </p:sp>
      <p:pic>
        <p:nvPicPr>
          <p:cNvPr id="17" name="Image 3" descr="preencoded.png"/>
          <p:cNvPicPr>
            <a:picLocks noChangeAspect="1"/>
          </p:cNvPicPr>
          <p:nvPr/>
        </p:nvPicPr>
        <p:blipFill>
          <a:blip r:embed="rId3"/>
          <a:stretch>
            <a:fillRect/>
          </a:stretch>
        </p:blipFill>
        <p:spPr>
          <a:xfrm>
            <a:off x="7353181" y="3328868"/>
            <a:ext cx="91440" cy="938451"/>
          </a:xfrm>
          <a:prstGeom prst="rect">
            <a:avLst/>
          </a:prstGeom>
        </p:spPr>
      </p:pic>
      <p:sp>
        <p:nvSpPr>
          <p:cNvPr id="18" name="Text 12"/>
          <p:cNvSpPr/>
          <p:nvPr/>
        </p:nvSpPr>
        <p:spPr>
          <a:xfrm>
            <a:off x="7629882" y="3514130"/>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Interactive Dashboard</a:t>
            </a:r>
            <a:endParaRPr lang="en-US" sz="1650" dirty="0"/>
          </a:p>
        </p:txBody>
      </p:sp>
      <p:sp>
        <p:nvSpPr>
          <p:cNvPr id="19" name="Text 13"/>
          <p:cNvSpPr/>
          <p:nvPr/>
        </p:nvSpPr>
        <p:spPr>
          <a:xfrm>
            <a:off x="7629882" y="3854529"/>
            <a:ext cx="605694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Rich visualizations supporting data-driven safety decisions</a:t>
            </a:r>
            <a:endParaRPr lang="en-US" sz="1250" dirty="0"/>
          </a:p>
        </p:txBody>
      </p:sp>
      <p:sp>
        <p:nvSpPr>
          <p:cNvPr id="20" name="Text 14"/>
          <p:cNvSpPr/>
          <p:nvPr/>
        </p:nvSpPr>
        <p:spPr>
          <a:xfrm>
            <a:off x="758309" y="4450080"/>
            <a:ext cx="3050143" cy="320635"/>
          </a:xfrm>
          <a:prstGeom prst="rect">
            <a:avLst/>
          </a:prstGeom>
          <a:noFill/>
          <a:ln/>
        </p:spPr>
        <p:txBody>
          <a:bodyPr wrap="none" lIns="0" tIns="0" rIns="0" bIns="0" rtlCol="0" anchor="t"/>
          <a:lstStyle/>
          <a:p>
            <a:pPr marL="0" indent="0" algn="l">
              <a:lnSpc>
                <a:spcPts val="2500"/>
              </a:lnSpc>
              <a:buNone/>
            </a:pPr>
            <a:r>
              <a:rPr lang="en-US" sz="2000" b="1" dirty="0">
                <a:solidFill>
                  <a:srgbClr val="2E3C4E"/>
                </a:solidFill>
                <a:latin typeface="Calibri Light" panose="020F0302020204030204" pitchFamily="34" charset="0"/>
                <a:ea typeface="Barlow Bold" pitchFamily="34" charset="-122"/>
                <a:cs typeface="Barlow Bold" pitchFamily="34" charset="-120"/>
              </a:rPr>
              <a:t>Impact &amp; Future Directions</a:t>
            </a:r>
            <a:endParaRPr lang="en-US" sz="2000" dirty="0"/>
          </a:p>
        </p:txBody>
      </p:sp>
      <p:pic>
        <p:nvPicPr>
          <p:cNvPr id="21" name="Image 4" descr="preencoded.png"/>
          <p:cNvPicPr>
            <a:picLocks noChangeAspect="1"/>
          </p:cNvPicPr>
          <p:nvPr/>
        </p:nvPicPr>
        <p:blipFill>
          <a:blip r:embed="rId4"/>
          <a:stretch>
            <a:fillRect/>
          </a:stretch>
        </p:blipFill>
        <p:spPr>
          <a:xfrm>
            <a:off x="758309" y="4953476"/>
            <a:ext cx="4371261" cy="649962"/>
          </a:xfrm>
          <a:prstGeom prst="rect">
            <a:avLst/>
          </a:prstGeom>
        </p:spPr>
      </p:pic>
      <p:sp>
        <p:nvSpPr>
          <p:cNvPr id="22" name="Text 15"/>
          <p:cNvSpPr/>
          <p:nvPr/>
        </p:nvSpPr>
        <p:spPr>
          <a:xfrm>
            <a:off x="920710" y="5725239"/>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Proactive Monitoring</a:t>
            </a:r>
            <a:endParaRPr lang="en-US" sz="1650" dirty="0"/>
          </a:p>
        </p:txBody>
      </p:sp>
      <p:sp>
        <p:nvSpPr>
          <p:cNvPr id="23" name="Text 16"/>
          <p:cNvSpPr/>
          <p:nvPr/>
        </p:nvSpPr>
        <p:spPr>
          <a:xfrm>
            <a:off x="920710" y="6065639"/>
            <a:ext cx="4046458" cy="455057"/>
          </a:xfrm>
          <a:prstGeom prst="rect">
            <a:avLst/>
          </a:prstGeom>
          <a:noFill/>
          <a:ln/>
        </p:spPr>
        <p:txBody>
          <a:bodyPr wrap="squar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Shift from reactive reporting to predictive risk identification</a:t>
            </a:r>
            <a:endParaRPr lang="en-US" sz="1250" dirty="0"/>
          </a:p>
        </p:txBody>
      </p:sp>
      <p:pic>
        <p:nvPicPr>
          <p:cNvPr id="24" name="Image 5" descr="preencoded.png"/>
          <p:cNvPicPr>
            <a:picLocks noChangeAspect="1"/>
          </p:cNvPicPr>
          <p:nvPr/>
        </p:nvPicPr>
        <p:blipFill>
          <a:blip r:embed="rId5"/>
          <a:stretch>
            <a:fillRect/>
          </a:stretch>
        </p:blipFill>
        <p:spPr>
          <a:xfrm>
            <a:off x="5129570" y="4953476"/>
            <a:ext cx="4371261" cy="649962"/>
          </a:xfrm>
          <a:prstGeom prst="rect">
            <a:avLst/>
          </a:prstGeom>
        </p:spPr>
      </p:pic>
      <p:sp>
        <p:nvSpPr>
          <p:cNvPr id="25" name="Text 17"/>
          <p:cNvSpPr/>
          <p:nvPr/>
        </p:nvSpPr>
        <p:spPr>
          <a:xfrm>
            <a:off x="5291971" y="5725239"/>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Explainable AI</a:t>
            </a:r>
            <a:endParaRPr lang="en-US" sz="1650" dirty="0"/>
          </a:p>
        </p:txBody>
      </p:sp>
      <p:sp>
        <p:nvSpPr>
          <p:cNvPr id="26" name="Text 18"/>
          <p:cNvSpPr/>
          <p:nvPr/>
        </p:nvSpPr>
        <p:spPr>
          <a:xfrm>
            <a:off x="5291971" y="6065639"/>
            <a:ext cx="4046458" cy="455057"/>
          </a:xfrm>
          <a:prstGeom prst="rect">
            <a:avLst/>
          </a:prstGeom>
          <a:noFill/>
          <a:ln/>
        </p:spPr>
        <p:txBody>
          <a:bodyPr wrap="squar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Transparent predictions building stakeholder trust</a:t>
            </a:r>
            <a:endParaRPr lang="en-US" sz="1250" dirty="0"/>
          </a:p>
        </p:txBody>
      </p:sp>
      <p:pic>
        <p:nvPicPr>
          <p:cNvPr id="27" name="Image 6" descr="preencoded.png"/>
          <p:cNvPicPr>
            <a:picLocks noChangeAspect="1"/>
          </p:cNvPicPr>
          <p:nvPr/>
        </p:nvPicPr>
        <p:blipFill>
          <a:blip r:embed="rId6"/>
          <a:stretch>
            <a:fillRect/>
          </a:stretch>
        </p:blipFill>
        <p:spPr>
          <a:xfrm>
            <a:off x="9500830" y="4953476"/>
            <a:ext cx="4371261" cy="649962"/>
          </a:xfrm>
          <a:prstGeom prst="rect">
            <a:avLst/>
          </a:prstGeom>
        </p:spPr>
      </p:pic>
      <p:sp>
        <p:nvSpPr>
          <p:cNvPr id="28" name="Text 19"/>
          <p:cNvSpPr/>
          <p:nvPr/>
        </p:nvSpPr>
        <p:spPr>
          <a:xfrm>
            <a:off x="9663232" y="5725239"/>
            <a:ext cx="2138005" cy="267295"/>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Calibri Light" panose="020F0302020204030204" pitchFamily="34" charset="0"/>
                <a:ea typeface="Barlow Bold" pitchFamily="34" charset="-122"/>
                <a:cs typeface="Barlow Bold" pitchFamily="34" charset="-120"/>
              </a:rPr>
              <a:t>Enterprise Ready</a:t>
            </a:r>
            <a:endParaRPr lang="en-US" sz="1650" dirty="0"/>
          </a:p>
        </p:txBody>
      </p:sp>
      <p:sp>
        <p:nvSpPr>
          <p:cNvPr id="29" name="Text 20"/>
          <p:cNvSpPr/>
          <p:nvPr/>
        </p:nvSpPr>
        <p:spPr>
          <a:xfrm>
            <a:off x="9663232" y="6065639"/>
            <a:ext cx="4046458" cy="227528"/>
          </a:xfrm>
          <a:prstGeom prst="rect">
            <a:avLst/>
          </a:prstGeom>
          <a:noFill/>
          <a:ln/>
        </p:spPr>
        <p:txBody>
          <a:bodyPr wrap="none" lIns="0" tIns="0" rIns="0" bIns="0" rtlCol="0" anchor="t"/>
          <a:lstStyle/>
          <a:p>
            <a:pPr marL="0" indent="0" algn="l">
              <a:lnSpc>
                <a:spcPts val="1750"/>
              </a:lnSpc>
              <a:buNone/>
            </a:pPr>
            <a:r>
              <a:rPr lang="en-US" sz="1250" dirty="0">
                <a:solidFill>
                  <a:srgbClr val="384653"/>
                </a:solidFill>
                <a:latin typeface="Montserrat" pitchFamily="34" charset="0"/>
                <a:ea typeface="Montserrat" pitchFamily="34" charset="-122"/>
                <a:cs typeface="Montserrat" pitchFamily="34" charset="-120"/>
              </a:rPr>
              <a:t>Scalable architecture for facility-wide deployment</a:t>
            </a:r>
            <a:endParaRPr lang="en-US" sz="1250" dirty="0"/>
          </a:p>
        </p:txBody>
      </p:sp>
      <p:sp>
        <p:nvSpPr>
          <p:cNvPr id="30" name="Text 21"/>
          <p:cNvSpPr/>
          <p:nvPr/>
        </p:nvSpPr>
        <p:spPr>
          <a:xfrm>
            <a:off x="758309" y="6820138"/>
            <a:ext cx="13113782" cy="227528"/>
          </a:xfrm>
          <a:prstGeom prst="rect">
            <a:avLst/>
          </a:prstGeom>
          <a:noFill/>
          <a:ln/>
        </p:spPr>
        <p:txBody>
          <a:bodyPr wrap="none" lIns="0" tIns="0" rIns="0" bIns="0" rtlCol="0" anchor="t"/>
          <a:lstStyle/>
          <a:p>
            <a:pPr marL="0" indent="0" algn="l">
              <a:lnSpc>
                <a:spcPts val="1750"/>
              </a:lnSpc>
              <a:buNone/>
            </a:pPr>
            <a:r>
              <a:rPr lang="en-US" sz="1250" b="1" dirty="0">
                <a:solidFill>
                  <a:srgbClr val="384653"/>
                </a:solidFill>
                <a:latin typeface="Montserrat" pitchFamily="34" charset="0"/>
                <a:ea typeface="Montserrat" pitchFamily="34" charset="-122"/>
                <a:cs typeface="Montserrat" pitchFamily="34" charset="-120"/>
              </a:rPr>
              <a:t>Future Enhancements:</a:t>
            </a:r>
            <a:r>
              <a:rPr lang="en-US" sz="1250" dirty="0">
                <a:solidFill>
                  <a:srgbClr val="384653"/>
                </a:solidFill>
                <a:latin typeface="Montserrat" pitchFamily="34" charset="0"/>
                <a:ea typeface="Montserrat" pitchFamily="34" charset="-122"/>
                <a:cs typeface="Montserrat" pitchFamily="34" charset="-120"/>
              </a:rPr>
              <a:t> IoT sensor integration, mobile applications for field teams, federated learning for distributed facilities</a:t>
            </a:r>
            <a:endParaRPr lang="en-US" sz="1250" dirty="0"/>
          </a:p>
        </p:txBody>
      </p:sp>
    </p:spTree>
    <p:extLst>
      <p:ext uri="{BB962C8B-B14F-4D97-AF65-F5344CB8AC3E}">
        <p14:creationId xmlns:p14="http://schemas.microsoft.com/office/powerpoint/2010/main" val="4116485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3175516"/>
            <a:ext cx="7868245" cy="983575"/>
          </a:xfrm>
          <a:prstGeom prst="rect">
            <a:avLst/>
          </a:prstGeom>
          <a:noFill/>
          <a:ln/>
        </p:spPr>
        <p:txBody>
          <a:bodyPr wrap="none" lIns="0" tIns="0" rIns="0" bIns="0" rtlCol="0" anchor="t"/>
          <a:lstStyle/>
          <a:p>
            <a:pPr marL="0" indent="0" algn="l">
              <a:lnSpc>
                <a:spcPts val="7700"/>
              </a:lnSpc>
              <a:buNone/>
            </a:pPr>
            <a:r>
              <a:rPr lang="en-US" sz="6150" b="1" dirty="0">
                <a:solidFill>
                  <a:srgbClr val="2E3C4E"/>
                </a:solidFill>
                <a:latin typeface="Calibri Light" panose="020F0302020204030204" pitchFamily="34" charset="0"/>
                <a:ea typeface="Barlow Bold" pitchFamily="34" charset="-122"/>
                <a:cs typeface="Barlow Bold" pitchFamily="34" charset="-120"/>
              </a:rPr>
              <a:t>                   Thank You</a:t>
            </a:r>
            <a:endParaRPr lang="en-US" sz="6150" dirty="0"/>
          </a:p>
        </p:txBody>
      </p:sp>
      <p:sp>
        <p:nvSpPr>
          <p:cNvPr id="3" name="Text 1"/>
          <p:cNvSpPr/>
          <p:nvPr/>
        </p:nvSpPr>
        <p:spPr>
          <a:xfrm>
            <a:off x="758309" y="4484013"/>
            <a:ext cx="4561284" cy="570071"/>
          </a:xfrm>
          <a:prstGeom prst="rect">
            <a:avLst/>
          </a:prstGeom>
          <a:noFill/>
          <a:ln/>
        </p:spPr>
        <p:txBody>
          <a:bodyPr wrap="none" lIns="0" tIns="0" rIns="0" bIns="0" rtlCol="0" anchor="t"/>
          <a:lstStyle/>
          <a:p>
            <a:pPr marL="0" indent="0" algn="l">
              <a:lnSpc>
                <a:spcPts val="4450"/>
              </a:lnSpc>
              <a:buNone/>
            </a:pPr>
            <a:endParaRPr lang="en-US" sz="3550" dirty="0"/>
          </a:p>
        </p:txBody>
      </p:sp>
    </p:spTree>
    <p:extLst>
      <p:ext uri="{BB962C8B-B14F-4D97-AF65-F5344CB8AC3E}">
        <p14:creationId xmlns:p14="http://schemas.microsoft.com/office/powerpoint/2010/main" val="3278506050"/>
      </p:ext>
    </p:extLst>
  </p:cSld>
  <p:clrMapOvr>
    <a:masterClrMapping/>
  </p:clrMapOvr>
</p:sld>
</file>

<file path=ppt/theme/theme1.xml><?xml version="1.0" encoding="utf-8"?>
<a:theme xmlns:a="http://schemas.openxmlformats.org/drawingml/2006/main" name="Office Them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C6C6C6"/>
      </a:dk1>
      <a:lt1>
        <a:sysClr val="window" lastClr="000000"/>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2162</Words>
  <Application>Microsoft Office PowerPoint</Application>
  <PresentationFormat>Custom</PresentationFormat>
  <Paragraphs>329</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Consolas</vt:lpstr>
      <vt:lpstr>Arial</vt:lpstr>
      <vt:lpstr>Barlow Light</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pushk</dc:creator>
  <cp:lastModifiedBy>pushkar.regode@outlook.com</cp:lastModifiedBy>
  <cp:revision>3</cp:revision>
  <dcterms:created xsi:type="dcterms:W3CDTF">2026-04-08T16:15:51Z</dcterms:created>
  <dcterms:modified xsi:type="dcterms:W3CDTF">2026-04-08T16:36:34Z</dcterms:modified>
</cp:coreProperties>
</file>